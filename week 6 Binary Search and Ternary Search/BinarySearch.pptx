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3" r:id="rId16"/>
    <p:sldId id="282"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2" autoAdjust="0"/>
    <p:restoredTop sz="96357" autoAdjust="0"/>
  </p:normalViewPr>
  <p:slideViewPr>
    <p:cSldViewPr snapToGrid="0">
      <p:cViewPr varScale="1">
        <p:scale>
          <a:sx n="99" d="100"/>
          <a:sy n="99" d="100"/>
        </p:scale>
        <p:origin x="78" y="41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e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31DED5-4EED-4622-B5D2-50BB1B8591C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CC0B725C-1E63-40A2-8681-A95E31E2EA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6B54B33-C986-421E-82DE-ADCCDDE1B020}"/>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25D44601-EC16-49FF-B7E9-BD8ED75FE20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8C3F98B-DF93-49EA-AC8E-E8C38F2F9694}"/>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031779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3AE0BA-8D5A-4CFF-B780-433AF7104B9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B0DB154-9F37-40C8-A14D-45BD294B95C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F542E20-FC54-4919-B881-FC6E795C9B3C}"/>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3301C222-3B9F-4F81-803D-4B7F9423B4D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B9CD27C-54F6-4264-95B2-4F9124E43B47}"/>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134945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6B98E0-9BA1-4853-A7E7-BBEEAF68912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C72161C-96C9-4AEF-BBB4-2DD1034864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86577D2-F49F-449B-BA62-548D4A57E4A6}"/>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C7077228-BAEE-4556-8154-9F9DAA847E5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3E8CDE4-C468-4804-8795-84BEF5641923}"/>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3555673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B12690-FA9F-4609-BDB4-EBF900C14E0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B1A7F0B-F6C7-4AF1-A86B-D9F2C4B45CAF}"/>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1A865DD3-A24F-45B8-A6DB-71B864924B1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DDC57FA-51AC-4999-A48D-3207A96FB7F0}"/>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6" name="Нижний колонтитул 5">
            <a:extLst>
              <a:ext uri="{FF2B5EF4-FFF2-40B4-BE49-F238E27FC236}">
                <a16:creationId xmlns:a16="http://schemas.microsoft.com/office/drawing/2014/main" id="{E34EB41A-EC94-4F80-818E-092FA93B85F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7F068EB-E730-477C-8C2E-3F375ED3C240}"/>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715061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14A982-A901-4B82-AF09-6FF7467828D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5D256E8-55B5-49CE-8CCD-4526712EAE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886E1E-DFB2-4980-86F0-5569D3B895A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A5FD8C1-D5E3-4271-897F-D63E871230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77B5BB2-4309-4741-97EB-FF74C38A305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98249D8-941C-4288-A05C-4F8378BDE65E}"/>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8" name="Нижний колонтитул 7">
            <a:extLst>
              <a:ext uri="{FF2B5EF4-FFF2-40B4-BE49-F238E27FC236}">
                <a16:creationId xmlns:a16="http://schemas.microsoft.com/office/drawing/2014/main" id="{BE8C6BA9-3797-4362-B3EE-B3363851A87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1D1C1C8-67F0-44B8-9E13-CB6DF0B0A030}"/>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842653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059D8D-6B97-4E57-AD18-7030A156CB8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049DF1A-BE00-4427-9C24-05298523EC97}"/>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4" name="Нижний колонтитул 3">
            <a:extLst>
              <a:ext uri="{FF2B5EF4-FFF2-40B4-BE49-F238E27FC236}">
                <a16:creationId xmlns:a16="http://schemas.microsoft.com/office/drawing/2014/main" id="{7BE2C30B-E21C-4377-BECA-067C09B27C7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584CD34-5C99-42C0-9B18-6CA540A364B3}"/>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68339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22A0301-F28E-4212-B76B-3A3C04B73724}"/>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3" name="Нижний колонтитул 2">
            <a:extLst>
              <a:ext uri="{FF2B5EF4-FFF2-40B4-BE49-F238E27FC236}">
                <a16:creationId xmlns:a16="http://schemas.microsoft.com/office/drawing/2014/main" id="{93232B55-BAEB-430B-AD19-4B8533BECA6E}"/>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F25E67FF-2221-4FC6-8100-8F09CDD5202D}"/>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4155242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8740EC-4505-4DE6-A05D-F153D07E6C0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D975EBC-539E-43EF-A4B0-0441E1E00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B8CA841-9EE3-40A3-9687-D17ECCDD2B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D1BB9F7-BDEB-482D-A977-E26368D696E0}"/>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6" name="Нижний колонтитул 5">
            <a:extLst>
              <a:ext uri="{FF2B5EF4-FFF2-40B4-BE49-F238E27FC236}">
                <a16:creationId xmlns:a16="http://schemas.microsoft.com/office/drawing/2014/main" id="{9A9BE4D0-BA77-48D7-A311-3DBC6AE1187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A7BAF0C-1FAF-481C-9E0B-1B1C3560DE2C}"/>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915501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D636E-6D74-4DEA-AB8D-9B6EAE7D522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C2B02F4-B18C-4F12-B3C7-1BF982E372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532B20D-CBD7-46F5-9D13-EA2070E2F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D8ECBE4-BA7D-4F73-BC33-7DA8E5127382}"/>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6" name="Нижний колонтитул 5">
            <a:extLst>
              <a:ext uri="{FF2B5EF4-FFF2-40B4-BE49-F238E27FC236}">
                <a16:creationId xmlns:a16="http://schemas.microsoft.com/office/drawing/2014/main" id="{0E124270-20FB-4B0E-9B1D-B142C6AB803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4BA85F5-35FF-45A0-9A44-7B7B93E70AF1}"/>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473120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1393CB-F52F-4547-827C-47704745273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31EF9F7-B7C8-47B9-92D1-FE9F6934691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172876F-8D0E-42A5-9422-000EC207BF16}"/>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0159F252-FD75-4C8E-A333-1C087011944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BB88EE0-1157-43D5-8C15-CF09CEFFF241}"/>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03094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025146F-6B57-4569-9D63-1C02AC9C26A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35FE119-0A15-4013-8529-8EF1B22C473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98074DB-8E8F-48FB-A18D-58A88796299E}"/>
              </a:ext>
            </a:extLst>
          </p:cNvPr>
          <p:cNvSpPr>
            <a:spLocks noGrp="1"/>
          </p:cNvSpPr>
          <p:nvPr>
            <p:ph type="dt" sz="half" idx="10"/>
          </p:nvPr>
        </p:nvSpPr>
        <p:spPr/>
        <p:txBody>
          <a:body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6C197BA9-C29C-4A9A-A032-CC3763C8CD3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872A629-1C8F-4E5A-9D4F-1A2795A3EFFD}"/>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3596297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56CF0-3DC0-4731-AF6E-8DF3431CDA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78A40EEC-831D-4265-9F95-A5106D2F3F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7662F55-419B-4976-B438-044095DDB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BB27D0-5327-42F8-A98F-4D324E2C0DCB}" type="datetimeFigureOut">
              <a:rPr lang="ru-RU" smtClean="0"/>
              <a:t>26.10.2021</a:t>
            </a:fld>
            <a:endParaRPr lang="ru-RU"/>
          </a:p>
        </p:txBody>
      </p:sp>
      <p:sp>
        <p:nvSpPr>
          <p:cNvPr id="5" name="Нижний колонтитул 4">
            <a:extLst>
              <a:ext uri="{FF2B5EF4-FFF2-40B4-BE49-F238E27FC236}">
                <a16:creationId xmlns:a16="http://schemas.microsoft.com/office/drawing/2014/main" id="{F11761C6-EFAA-4F17-94ED-2EF53FFD6C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D4CE264-6131-4EE3-A6FE-E2360B5255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9506E-D0E7-4FC6-B51F-795CE2F3E674}" type="slidenum">
              <a:rPr lang="ru-RU" smtClean="0"/>
              <a:t>‹#›</a:t>
            </a:fld>
            <a:endParaRPr lang="ru-RU"/>
          </a:p>
        </p:txBody>
      </p:sp>
    </p:spTree>
    <p:extLst>
      <p:ext uri="{BB962C8B-B14F-4D97-AF65-F5344CB8AC3E}">
        <p14:creationId xmlns:p14="http://schemas.microsoft.com/office/powerpoint/2010/main" val="3756452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hyperlink" Target="https://www.e-olymp.com/en/problems/3968" TargetMode="Externa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2" Type="http://schemas.openxmlformats.org/officeDocument/2006/relationships/hyperlink" Target="https://www.e-olymp.com/en/problems/3968"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e-olymp.com/en/problems/4420"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e-olymp.com/en/problems/9016"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e-olymp.com/en/problems/9016"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e-olymp.com/en/problems/9016" TargetMode="External"/><Relationship Id="rId7"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3.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hyperlink" Target="https://www.e-olymp.com/en/problems/9016" TargetMode="Externa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5.e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hyperlink" Target="https://www.e-olymp.com/en/problems/9016" TargetMode="External"/><Relationship Id="rId7" Type="http://schemas.openxmlformats.org/officeDocument/2006/relationships/image" Target="../media/image7.emf"/><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6.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hyperlink" Target="https://www.e-olymp.com/en/problems/9016" TargetMode="External"/><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2" Type="http://schemas.openxmlformats.org/officeDocument/2006/relationships/hyperlink" Target="https://www.e-olymp.com/en/problems/9017"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e-olymp.com/en/problems/9017" TargetMode="External"/><Relationship Id="rId2" Type="http://schemas.openxmlformats.org/officeDocument/2006/relationships/slideLayout" Target="../slideLayouts/slideLayout1.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3" Type="http://schemas.openxmlformats.org/officeDocument/2006/relationships/hyperlink" Target="https://www.e-olymp.com/en/problems/9017" TargetMode="External"/><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image" Target="../media/image9.e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hyperlink" Target="https://www.e-olymp.com/en/problems/9018" TargetMode="External"/><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10.e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hyperlink" Target="https://www.e-olymp.com/en/problems/9018" TargetMode="External"/><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10.emf"/><Relationship Id="rId4"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3" Type="http://schemas.openxmlformats.org/officeDocument/2006/relationships/hyperlink" Target="https://www.e-olymp.com/en/problems/9018" TargetMode="External"/><Relationship Id="rId7" Type="http://schemas.openxmlformats.org/officeDocument/2006/relationships/image" Target="../media/image11.e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4.bin"/><Relationship Id="rId5" Type="http://schemas.openxmlformats.org/officeDocument/2006/relationships/image" Target="../media/image10.emf"/><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hyperlink" Target="https://www.e-olymp.com/en/problems/9018" TargetMode="External"/><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image" Target="../media/image10.emf"/><Relationship Id="rId4"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3" Type="http://schemas.openxmlformats.org/officeDocument/2006/relationships/hyperlink" Target="https://www.e-olymp.com/en/problems/9019" TargetMode="External"/><Relationship Id="rId2" Type="http://schemas.openxmlformats.org/officeDocument/2006/relationships/slideLayout" Target="../slideLayouts/slideLayout1.xml"/><Relationship Id="rId1" Type="http://schemas.openxmlformats.org/officeDocument/2006/relationships/vmlDrawing" Target="../drawings/vmlDrawing13.vml"/><Relationship Id="rId5" Type="http://schemas.openxmlformats.org/officeDocument/2006/relationships/image" Target="../media/image12.emf"/><Relationship Id="rId4"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2" Type="http://schemas.openxmlformats.org/officeDocument/2006/relationships/hyperlink" Target="https://www.e-olymp.com/en/problems/9021"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e-olymp.com/en/problems/9021" TargetMode="External"/><Relationship Id="rId7" Type="http://schemas.openxmlformats.org/officeDocument/2006/relationships/image" Target="../media/image14.emf"/><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18.bin"/><Relationship Id="rId5" Type="http://schemas.openxmlformats.org/officeDocument/2006/relationships/image" Target="../media/image13.emf"/><Relationship Id="rId4"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3" Type="http://schemas.openxmlformats.org/officeDocument/2006/relationships/hyperlink" Target="https://www.e-olymp.com/en/problems/9022" TargetMode="External"/><Relationship Id="rId2" Type="http://schemas.openxmlformats.org/officeDocument/2006/relationships/slideLayout" Target="../slideLayouts/slideLayout1.xml"/><Relationship Id="rId1" Type="http://schemas.openxmlformats.org/officeDocument/2006/relationships/vmlDrawing" Target="../drawings/vmlDrawing15.vml"/><Relationship Id="rId5" Type="http://schemas.openxmlformats.org/officeDocument/2006/relationships/image" Target="../media/image15.emf"/><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hyperlink" Target="https://www.e-olymp.com/en/problems/9023"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hyperlink" Target="https://www.e-olymp.com/en/problems/9023"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e-olymp.com/en/problems/9023" TargetMode="External"/><Relationship Id="rId7" Type="http://schemas.openxmlformats.org/officeDocument/2006/relationships/image" Target="../media/image19.emf"/><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18.emf"/><Relationship Id="rId4"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2" Type="http://schemas.openxmlformats.org/officeDocument/2006/relationships/hyperlink" Target="https://www.e-olymp.com/en/problems/1302"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e-olymp.com/en/problems/1302" TargetMode="External"/><Relationship Id="rId2" Type="http://schemas.openxmlformats.org/officeDocument/2006/relationships/slideLayout" Target="../slideLayouts/slideLayout1.xml"/><Relationship Id="rId1" Type="http://schemas.openxmlformats.org/officeDocument/2006/relationships/vmlDrawing" Target="../drawings/vmlDrawing17.vml"/><Relationship Id="rId5" Type="http://schemas.openxmlformats.org/officeDocument/2006/relationships/image" Target="../media/image20.emf"/><Relationship Id="rId4" Type="http://schemas.openxmlformats.org/officeDocument/2006/relationships/oleObject" Target="../embeddings/oleObject22.bin"/></Relationships>
</file>

<file path=ppt/slides/_rels/slide27.xml.rels><?xml version="1.0" encoding="UTF-8" standalone="yes"?>
<Relationships xmlns="http://schemas.openxmlformats.org/package/2006/relationships"><Relationship Id="rId3" Type="http://schemas.openxmlformats.org/officeDocument/2006/relationships/hyperlink" Target="https://www.e-olymp.com/en/problems/1302" TargetMode="External"/><Relationship Id="rId7" Type="http://schemas.openxmlformats.org/officeDocument/2006/relationships/image" Target="../media/image21.emf"/><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oleObject" Target="../embeddings/oleObject24.bin"/><Relationship Id="rId5" Type="http://schemas.openxmlformats.org/officeDocument/2006/relationships/image" Target="../media/image20.emf"/><Relationship Id="rId4"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hyperlink" Target="https://www.e-olymp.com/en/problems/7329"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hyperlink" Target="https://www.e-olymp.com/en/problems/7329" TargetMode="External"/><Relationship Id="rId7"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image" Target="../media/image23.wmf"/><Relationship Id="rId5" Type="http://schemas.openxmlformats.org/officeDocument/2006/relationships/oleObject" Target="../embeddings/oleObject25.bin"/><Relationship Id="rId4" Type="http://schemas.openxmlformats.org/officeDocument/2006/relationships/image" Target="../media/image25.emf"/></Relationships>
</file>

<file path=ppt/slides/_rels/slide30.xml.rels><?xml version="1.0" encoding="UTF-8" standalone="yes"?>
<Relationships xmlns="http://schemas.openxmlformats.org/package/2006/relationships"><Relationship Id="rId3" Type="http://schemas.openxmlformats.org/officeDocument/2006/relationships/hyperlink" Target="https://www.e-olymp.com/en/problems/3532" TargetMode="External"/><Relationship Id="rId2" Type="http://schemas.openxmlformats.org/officeDocument/2006/relationships/slideLayout" Target="../slideLayouts/slideLayout1.xml"/><Relationship Id="rId1" Type="http://schemas.openxmlformats.org/officeDocument/2006/relationships/vmlDrawing" Target="../drawings/vmlDrawing20.vml"/><Relationship Id="rId5" Type="http://schemas.openxmlformats.org/officeDocument/2006/relationships/image" Target="../media/image26.emf"/><Relationship Id="rId4" Type="http://schemas.openxmlformats.org/officeDocument/2006/relationships/oleObject" Target="../embeddings/oleObject27.bin"/></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e-olymp.com/en/problems/1506"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2.wmf"/><Relationship Id="rId3" Type="http://schemas.openxmlformats.org/officeDocument/2006/relationships/hyperlink" Target="https://www.e-olymp.com/en/problems/1506" TargetMode="External"/><Relationship Id="rId7" Type="http://schemas.openxmlformats.org/officeDocument/2006/relationships/image" Target="../media/image29.wmf"/><Relationship Id="rId12" Type="http://schemas.openxmlformats.org/officeDocument/2006/relationships/oleObject" Target="../embeddings/oleObject32.bin"/><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oleObject" Target="../embeddings/oleObject29.bin"/><Relationship Id="rId11" Type="http://schemas.openxmlformats.org/officeDocument/2006/relationships/image" Target="../media/image31.wmf"/><Relationship Id="rId5" Type="http://schemas.openxmlformats.org/officeDocument/2006/relationships/image" Target="../media/image28.emf"/><Relationship Id="rId15" Type="http://schemas.openxmlformats.org/officeDocument/2006/relationships/image" Target="../media/image33.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0.wmf"/><Relationship Id="rId14" Type="http://schemas.openxmlformats.org/officeDocument/2006/relationships/oleObject" Target="../embeddings/oleObject33.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Dichotomy</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48787" y="1193930"/>
            <a:ext cx="11229359" cy="1305989"/>
          </a:xfrm>
        </p:spPr>
        <p:txBody>
          <a:bodyPr>
            <a:noAutofit/>
          </a:bodyPr>
          <a:lstStyle/>
          <a:p>
            <a:pPr algn="just">
              <a:lnSpc>
                <a:spcPct val="100000"/>
              </a:lnSpc>
              <a:spcBef>
                <a:spcPts val="0"/>
              </a:spcBef>
            </a:pPr>
            <a:r>
              <a:rPr lang="en-US" sz="2000" b="1" i="1" dirty="0">
                <a:effectLst/>
                <a:latin typeface="Times New Roman" panose="02020603050405020304" pitchFamily="18" charset="0"/>
                <a:ea typeface="Times New Roman" panose="02020603050405020304" pitchFamily="18" charset="0"/>
              </a:rPr>
              <a:t>Dichotomy</a:t>
            </a:r>
            <a:r>
              <a:rPr lang="en-US" sz="2000" dirty="0">
                <a:effectLst/>
                <a:latin typeface="Times New Roman" panose="02020603050405020304" pitchFamily="18" charset="0"/>
                <a:ea typeface="Times New Roman" panose="02020603050405020304" pitchFamily="18" charset="0"/>
              </a:rPr>
              <a:t> is a method for numerically solving equations in a single unknown. </a:t>
            </a: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Consider the equation f(</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0 with a continuous function </a:t>
            </a:r>
            <a:r>
              <a:rPr lang="en-US" sz="2000" b="1" i="1" dirty="0">
                <a:effectLst/>
                <a:latin typeface="Times New Roman" panose="02020603050405020304" pitchFamily="18" charset="0"/>
                <a:ea typeface="Times New Roman" panose="02020603050405020304" pitchFamily="18" charset="0"/>
              </a:rPr>
              <a:t>f</a:t>
            </a:r>
            <a:r>
              <a:rPr lang="en-US" sz="2000" dirty="0">
                <a:effectLst/>
                <a:latin typeface="Times New Roman" panose="02020603050405020304" pitchFamily="18" charset="0"/>
                <a:ea typeface="Times New Roman" panose="02020603050405020304" pitchFamily="18" charset="0"/>
              </a:rPr>
              <a:t> on the interval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which takes values of </a:t>
            </a:r>
            <a:r>
              <a:rPr lang="en-US" sz="2000" b="1" dirty="0">
                <a:effectLst/>
                <a:latin typeface="Times New Roman" panose="02020603050405020304" pitchFamily="18" charset="0"/>
                <a:ea typeface="Times New Roman" panose="02020603050405020304" pitchFamily="18" charset="0"/>
              </a:rPr>
              <a:t>different signs </a:t>
            </a:r>
            <a:r>
              <a:rPr lang="en-US" sz="2000" dirty="0">
                <a:effectLst/>
                <a:latin typeface="Times New Roman" panose="02020603050405020304" pitchFamily="18" charset="0"/>
                <a:ea typeface="Times New Roman" panose="02020603050405020304" pitchFamily="18" charset="0"/>
              </a:rPr>
              <a:t>at the end points of the interval, and which has a single root </a:t>
            </a:r>
            <a:r>
              <a:rPr lang="en-US" sz="2000" i="1" dirty="0">
                <a:effectLst/>
                <a:latin typeface="Times New Roman" panose="02020603050405020304" pitchFamily="18" charset="0"/>
                <a:ea typeface="Times New Roman" panose="02020603050405020304" pitchFamily="18" charset="0"/>
              </a:rPr>
              <a:t>x</a:t>
            </a:r>
            <a:r>
              <a:rPr lang="en-US" sz="2000" baseline="300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2000" dirty="0">
                <a:effectLst/>
                <a:latin typeface="Times New Roman" panose="02020603050405020304" pitchFamily="18" charset="0"/>
                <a:ea typeface="Times New Roman" panose="02020603050405020304" pitchFamily="18" charset="0"/>
              </a:rPr>
              <a:t> within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p:txBody>
      </p:sp>
      <p:graphicFrame>
        <p:nvGraphicFramePr>
          <p:cNvPr id="5" name="Объект 4">
            <a:extLst>
              <a:ext uri="{FF2B5EF4-FFF2-40B4-BE49-F238E27FC236}">
                <a16:creationId xmlns:a16="http://schemas.microsoft.com/office/drawing/2014/main" id="{A5612022-D19E-4F1E-862C-A77D8ADE40C9}"/>
              </a:ext>
            </a:extLst>
          </p:cNvPr>
          <p:cNvGraphicFramePr>
            <a:graphicFrameLocks noChangeAspect="1"/>
          </p:cNvGraphicFramePr>
          <p:nvPr>
            <p:extLst>
              <p:ext uri="{D42A27DB-BD31-4B8C-83A1-F6EECF244321}">
                <p14:modId xmlns:p14="http://schemas.microsoft.com/office/powerpoint/2010/main" val="974597124"/>
              </p:ext>
            </p:extLst>
          </p:nvPr>
        </p:nvGraphicFramePr>
        <p:xfrm>
          <a:off x="6979641" y="2592199"/>
          <a:ext cx="4233696" cy="2174060"/>
        </p:xfrm>
        <a:graphic>
          <a:graphicData uri="http://schemas.openxmlformats.org/presentationml/2006/ole">
            <mc:AlternateContent xmlns:mc="http://schemas.openxmlformats.org/markup-compatibility/2006">
              <mc:Choice xmlns:v="urn:schemas-microsoft-com:vml" Requires="v">
                <p:oleObj spid="_x0000_s2116" name="Visio" r:id="rId3" imgW="3168820" imgH="1630837" progId="Visio.Drawing.11">
                  <p:embed/>
                </p:oleObj>
              </mc:Choice>
              <mc:Fallback>
                <p:oleObj name="Visio" r:id="rId3" imgW="3168820" imgH="1630837" progId="Visio.Drawing.11">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9641" y="2592199"/>
                        <a:ext cx="4233696" cy="2174060"/>
                      </a:xfrm>
                      <a:prstGeom prst="rect">
                        <a:avLst/>
                      </a:prstGeom>
                      <a:noFill/>
                    </p:spPr>
                  </p:pic>
                </p:oleObj>
              </mc:Fallback>
            </mc:AlternateContent>
          </a:graphicData>
        </a:graphic>
      </p:graphicFrame>
      <p:sp>
        <p:nvSpPr>
          <p:cNvPr id="7" name="Подзаголовок 2">
            <a:extLst>
              <a:ext uri="{FF2B5EF4-FFF2-40B4-BE49-F238E27FC236}">
                <a16:creationId xmlns:a16="http://schemas.microsoft.com/office/drawing/2014/main" id="{0A876B9F-D4F1-49FB-84F7-2E507BC98184}"/>
              </a:ext>
            </a:extLst>
          </p:cNvPr>
          <p:cNvSpPr txBox="1">
            <a:spLocks/>
          </p:cNvSpPr>
          <p:nvPr/>
        </p:nvSpPr>
        <p:spPr>
          <a:xfrm>
            <a:off x="648787" y="2776006"/>
            <a:ext cx="6330854" cy="17708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To find </a:t>
            </a:r>
            <a:r>
              <a:rPr lang="en-US" sz="2000" i="1" dirty="0">
                <a:effectLst/>
                <a:latin typeface="Times New Roman" panose="02020603050405020304" pitchFamily="18" charset="0"/>
                <a:ea typeface="Times New Roman" panose="02020603050405020304" pitchFamily="18" charset="0"/>
              </a:rPr>
              <a:t>x</a:t>
            </a:r>
            <a:r>
              <a:rPr lang="en-US" sz="2000" baseline="300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2000" dirty="0">
                <a:effectLst/>
                <a:latin typeface="Times New Roman" panose="02020603050405020304" pitchFamily="18" charset="0"/>
                <a:ea typeface="Times New Roman" panose="02020603050405020304" pitchFamily="18" charset="0"/>
              </a:rPr>
              <a:t> approximately, one divides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into halves and calculates the value of f(</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the midpoint </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2.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If f(</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 0, one takes the two intervals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from them selects for the next dichotomy the one at the end points of which the values of the function </a:t>
            </a:r>
            <a:r>
              <a:rPr lang="en-US" sz="2000" b="1" dirty="0">
                <a:effectLst/>
                <a:latin typeface="Times New Roman" panose="02020603050405020304" pitchFamily="18" charset="0"/>
                <a:ea typeface="Times New Roman" panose="02020603050405020304" pitchFamily="18" charset="0"/>
              </a:rPr>
              <a:t>differ in sign</a:t>
            </a:r>
            <a:r>
              <a:rPr lang="en-US" sz="2000" dirty="0">
                <a:effectLst/>
                <a:latin typeface="Times New Roman" panose="02020603050405020304" pitchFamily="18" charset="0"/>
                <a:ea typeface="Times New Roman" panose="02020603050405020304" pitchFamily="18" charset="0"/>
              </a:rPr>
              <a:t>. </a:t>
            </a:r>
          </a:p>
        </p:txBody>
      </p:sp>
      <p:sp>
        <p:nvSpPr>
          <p:cNvPr id="10" name="TextBox 9">
            <a:extLst>
              <a:ext uri="{FF2B5EF4-FFF2-40B4-BE49-F238E27FC236}">
                <a16:creationId xmlns:a16="http://schemas.microsoft.com/office/drawing/2014/main" id="{F67FBC9F-0079-40AC-8D3F-C2D56B89D9D9}"/>
              </a:ext>
            </a:extLst>
          </p:cNvPr>
          <p:cNvSpPr txBox="1"/>
          <p:nvPr/>
        </p:nvSpPr>
        <p:spPr>
          <a:xfrm>
            <a:off x="766913" y="4950066"/>
            <a:ext cx="10331722" cy="1015663"/>
          </a:xfrm>
          <a:prstGeom prst="rect">
            <a:avLst/>
          </a:prstGeom>
          <a:noFill/>
        </p:spPr>
        <p:txBody>
          <a:bodyPr wrap="square">
            <a:sp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This continued division into halves gives a sequence </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x</a:t>
            </a:r>
            <a:r>
              <a:rPr lang="en-US" sz="2000" baseline="-25000" dirty="0">
                <a:effectLst/>
                <a:latin typeface="Times New Roman" panose="02020603050405020304" pitchFamily="18" charset="0"/>
                <a:ea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 … which converges to the root </a:t>
            </a:r>
            <a:r>
              <a:rPr lang="en-US" sz="2000" i="1" dirty="0">
                <a:effectLst/>
                <a:latin typeface="Times New Roman" panose="02020603050405020304" pitchFamily="18" charset="0"/>
                <a:ea typeface="Times New Roman" panose="02020603050405020304" pitchFamily="18" charset="0"/>
              </a:rPr>
              <a:t>x</a:t>
            </a:r>
            <a:r>
              <a:rPr lang="en-US" sz="2000" baseline="300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2000" dirty="0">
                <a:effectLst/>
                <a:latin typeface="Times New Roman" panose="02020603050405020304" pitchFamily="18" charset="0"/>
                <a:ea typeface="Times New Roman" panose="02020603050405020304" pitchFamily="18" charset="0"/>
              </a:rPr>
              <a:t> with the rate of a geometrical progression:</a:t>
            </a:r>
            <a:endParaRPr lang="ru-RU" sz="2000" dirty="0">
              <a:effectLst/>
              <a:latin typeface="Times New Roman" panose="02020603050405020304" pitchFamily="18" charset="0"/>
              <a:ea typeface="Times New Roman" panose="02020603050405020304" pitchFamily="18" charset="0"/>
            </a:endParaRPr>
          </a:p>
          <a:p>
            <a:pPr algn="ctr">
              <a:lnSpc>
                <a:spcPct val="100000"/>
              </a:lnSpc>
              <a:spcBef>
                <a:spcPts val="0"/>
              </a:spcBef>
            </a:pPr>
            <a:r>
              <a:rPr lang="en-US" sz="2000" dirty="0">
                <a:effectLst/>
                <a:latin typeface="Times New Roman" panose="02020603050405020304" pitchFamily="18" charset="0"/>
                <a:ea typeface="Times New Roman" panose="02020603050405020304" pitchFamily="18" charset="0"/>
              </a:rPr>
              <a:t>|</a:t>
            </a:r>
            <a:r>
              <a:rPr lang="en-US" sz="2000" i="1" dirty="0">
                <a:effectLst/>
                <a:latin typeface="Times New Roman" panose="02020603050405020304" pitchFamily="18" charset="0"/>
                <a:ea typeface="Times New Roman" panose="02020603050405020304" pitchFamily="18" charset="0"/>
              </a:rPr>
              <a:t> x</a:t>
            </a:r>
            <a:r>
              <a:rPr lang="en-US" sz="2000" i="1" baseline="-25000"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x</a:t>
            </a:r>
            <a:r>
              <a:rPr lang="en-US" sz="2000" baseline="300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2000" dirty="0">
                <a:effectLst/>
                <a:latin typeface="Times New Roman" panose="02020603050405020304" pitchFamily="18" charset="0"/>
                <a:ea typeface="Times New Roman" panose="02020603050405020304" pitchFamily="18" charset="0"/>
              </a:rPr>
              <a:t> |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2</a:t>
            </a:r>
            <a:r>
              <a:rPr lang="en-US" sz="2000" i="1" baseline="30000"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 2, …</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635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3"/>
              </a:rPr>
              <a:t>3968. Square root</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3"/>
            <a:ext cx="10852715" cy="174306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Find such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that </a:t>
            </a:r>
            <a:r>
              <a:rPr lang="ru-RU" sz="2000" i="1" dirty="0">
                <a:effectLst/>
                <a:latin typeface="Times New Roman" panose="02020603050405020304" pitchFamily="18" charset="0"/>
                <a:ea typeface="Times New Roman" panose="02020603050405020304" pitchFamily="18" charset="0"/>
              </a:rPr>
              <a:t>x</a:t>
            </a:r>
            <a:r>
              <a:rPr lang="ru-RU" sz="2000" baseline="30000" dirty="0">
                <a:effectLst/>
                <a:latin typeface="Times New Roman" panose="02020603050405020304" pitchFamily="18" charset="0"/>
                <a:ea typeface="Times New Roman" panose="02020603050405020304" pitchFamily="18" charset="0"/>
              </a:rPr>
              <a:t>2</a:t>
            </a:r>
            <a:r>
              <a:rPr lang="ru-RU" sz="2000" dirty="0">
                <a:effectLst/>
                <a:latin typeface="Times New Roman" panose="02020603050405020304" pitchFamily="18" charset="0"/>
                <a:ea typeface="Times New Roman" panose="02020603050405020304" pitchFamily="18" charset="0"/>
              </a:rPr>
              <a:t> + SQRT(</a:t>
            </a:r>
            <a:r>
              <a:rPr lang="ru-RU" sz="2000" i="1" dirty="0">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 </a:t>
            </a:r>
            <a:r>
              <a:rPr lang="ru-RU" sz="2000" i="1" dirty="0">
                <a:effectLst/>
                <a:latin typeface="Times New Roman" panose="02020603050405020304" pitchFamily="18" charset="0"/>
                <a:ea typeface="Times New Roman" panose="02020603050405020304" pitchFamily="18" charset="0"/>
              </a:rPr>
              <a:t>C</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with no less than 6 digits after the decimal point. SQRT(</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a square root of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One real number </a:t>
            </a:r>
            <a:r>
              <a:rPr lang="ru-RU" sz="2000" i="1" dirty="0">
                <a:effectLst/>
                <a:latin typeface="Times New Roman" panose="02020603050405020304" pitchFamily="18" charset="0"/>
                <a:ea typeface="Times New Roman" panose="02020603050405020304" pitchFamily="18" charset="0"/>
              </a:rPr>
              <a:t>C</a:t>
            </a:r>
            <a:r>
              <a:rPr lang="ru-RU" sz="2000" dirty="0">
                <a:effectLst/>
                <a:latin typeface="Times New Roman" panose="02020603050405020304" pitchFamily="18" charset="0"/>
                <a:ea typeface="Times New Roman" panose="02020603050405020304" pitchFamily="18" charset="0"/>
              </a:rPr>
              <a:t> (1.0 ≤ </a:t>
            </a:r>
            <a:r>
              <a:rPr lang="ru-RU" sz="2000" i="1" dirty="0">
                <a:effectLst/>
                <a:latin typeface="Times New Roman" panose="02020603050405020304" pitchFamily="18" charset="0"/>
                <a:ea typeface="Times New Roman" panose="02020603050405020304" pitchFamily="18" charset="0"/>
              </a:rPr>
              <a:t>C</a:t>
            </a:r>
            <a:r>
              <a:rPr lang="ru-RU" sz="2000" dirty="0">
                <a:effectLst/>
                <a:latin typeface="Times New Roman" panose="02020603050405020304" pitchFamily="18" charset="0"/>
                <a:ea typeface="Times New Roman" panose="02020603050405020304" pitchFamily="18" charset="0"/>
              </a:rPr>
              <a:t> ≤ 10</a:t>
            </a:r>
            <a:r>
              <a:rPr lang="ru-RU" sz="2000" baseline="30000" dirty="0">
                <a:effectLst/>
                <a:latin typeface="Times New Roman" panose="02020603050405020304" pitchFamily="18" charset="0"/>
                <a:ea typeface="Times New Roman" panose="02020603050405020304" pitchFamily="18" charset="0"/>
              </a:rPr>
              <a:t>10</a:t>
            </a:r>
            <a:r>
              <a:rPr lang="ru-RU" sz="2000" dirty="0">
                <a:effectLst/>
                <a:latin typeface="Times New Roman" panose="02020603050405020304" pitchFamily="18" charset="0"/>
                <a:ea typeface="Times New Roman" panose="02020603050405020304" pitchFamily="18" charset="0"/>
              </a:rPr>
              <a:t>).</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Print the root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with no less than 6 digits after the decimal point.</a:t>
            </a:r>
            <a:endParaRPr lang="ru-RU" sz="2000" dirty="0">
              <a:effectLst/>
              <a:latin typeface="Times New Roman" panose="02020603050405020304" pitchFamily="18" charset="0"/>
              <a:ea typeface="Times New Roman" panose="02020603050405020304" pitchFamily="18" charset="0"/>
            </a:endParaRPr>
          </a:p>
        </p:txBody>
      </p:sp>
      <p:sp>
        <p:nvSpPr>
          <p:cNvPr id="15" name="Подзаголовок 2">
            <a:extLst>
              <a:ext uri="{FF2B5EF4-FFF2-40B4-BE49-F238E27FC236}">
                <a16:creationId xmlns:a16="http://schemas.microsoft.com/office/drawing/2014/main" id="{E05EB950-487E-4ACE-B60A-082647A658A4}"/>
              </a:ext>
            </a:extLst>
          </p:cNvPr>
          <p:cNvSpPr txBox="1">
            <a:spLocks/>
          </p:cNvSpPr>
          <p:nvPr/>
        </p:nvSpPr>
        <p:spPr>
          <a:xfrm>
            <a:off x="1053735" y="2805409"/>
            <a:ext cx="2842660" cy="10866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18.0</a:t>
            </a:r>
            <a:endParaRPr lang="ru-RU" dirty="0">
              <a:effectLst/>
              <a:latin typeface="Times New Roman" panose="02020603050405020304" pitchFamily="18" charset="0"/>
              <a:ea typeface="Times New Roman" panose="02020603050405020304" pitchFamily="18" charset="0"/>
            </a:endParaRPr>
          </a:p>
        </p:txBody>
      </p:sp>
      <p:sp>
        <p:nvSpPr>
          <p:cNvPr id="16" name="Подзаголовок 2">
            <a:extLst>
              <a:ext uri="{FF2B5EF4-FFF2-40B4-BE49-F238E27FC236}">
                <a16:creationId xmlns:a16="http://schemas.microsoft.com/office/drawing/2014/main" id="{917A8B3A-827D-491B-9C25-B2B57BABE9B1}"/>
              </a:ext>
            </a:extLst>
          </p:cNvPr>
          <p:cNvSpPr txBox="1">
            <a:spLocks/>
          </p:cNvSpPr>
          <p:nvPr/>
        </p:nvSpPr>
        <p:spPr>
          <a:xfrm>
            <a:off x="4127401" y="2805409"/>
            <a:ext cx="2199604" cy="8826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pPr>
            <a:r>
              <a:rPr lang="en-US" sz="2000" dirty="0">
                <a:solidFill>
                  <a:srgbClr val="606060"/>
                </a:solidFill>
                <a:latin typeface="Courier New" panose="02070309020205020404" pitchFamily="49" charset="0"/>
                <a:ea typeface="Times New Roman" panose="02020603050405020304" pitchFamily="18" charset="0"/>
              </a:rPr>
              <a:t>4.000000</a:t>
            </a:r>
            <a:endParaRPr lang="ru-RU"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4206F30-5FFD-4E8D-81F1-6BDFCC0673CF}"/>
              </a:ext>
            </a:extLst>
          </p:cNvPr>
          <p:cNvSpPr txBox="1"/>
          <p:nvPr/>
        </p:nvSpPr>
        <p:spPr>
          <a:xfrm>
            <a:off x="847593" y="3892071"/>
            <a:ext cx="6097604" cy="2554545"/>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Consider a function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SQRT(</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p>
          <a:p>
            <a:pPr algn="just"/>
            <a:r>
              <a:rPr lang="en-US" sz="2000" b="1" dirty="0">
                <a:solidFill>
                  <a:srgbClr val="7030A0"/>
                </a:solidFill>
                <a:effectLst/>
                <a:latin typeface="Times New Roman" panose="02020603050405020304" pitchFamily="18" charset="0"/>
                <a:ea typeface="Times New Roman" panose="02020603050405020304" pitchFamily="18" charset="0"/>
              </a:rPr>
              <a:t>Its obvious that </a:t>
            </a: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f(0) = 0;</a:t>
            </a: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SQRT(</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&gt;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a:t>
            </a:r>
          </a:p>
          <a:p>
            <a:pPr algn="just"/>
            <a:r>
              <a:rPr lang="en-US" sz="2000" b="1" dirty="0">
                <a:solidFill>
                  <a:srgbClr val="7030A0"/>
                </a:solidFill>
                <a:effectLst/>
                <a:latin typeface="Times New Roman" panose="02020603050405020304" pitchFamily="18" charset="0"/>
                <a:ea typeface="Times New Roman" panose="02020603050405020304" pitchFamily="18" charset="0"/>
              </a:rPr>
              <a:t>That is, the root of the equation</a:t>
            </a:r>
          </a:p>
          <a:p>
            <a:pPr algn="ctr"/>
            <a:r>
              <a:rPr lang="en-US" sz="2000" b="1" dirty="0">
                <a:solidFill>
                  <a:srgbClr val="7030A0"/>
                </a:solidFill>
                <a:effectLst/>
                <a:latin typeface="Times New Roman" panose="02020603050405020304" pitchFamily="18" charset="0"/>
                <a:ea typeface="Times New Roman" panose="02020603050405020304" pitchFamily="18" charset="0"/>
              </a:rPr>
              <a:t>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С</a:t>
            </a:r>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lies on the interval [0;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Function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is strictly increasing. Search for the root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with </a:t>
            </a:r>
            <a:r>
              <a:rPr lang="en-US" sz="2000" b="1" i="1" dirty="0">
                <a:solidFill>
                  <a:srgbClr val="7030A0"/>
                </a:solidFill>
                <a:effectLst/>
                <a:latin typeface="Times New Roman" panose="02020603050405020304" pitchFamily="18" charset="0"/>
                <a:ea typeface="Times New Roman" panose="02020603050405020304" pitchFamily="18" charset="0"/>
              </a:rPr>
              <a:t>binary search</a:t>
            </a:r>
            <a:r>
              <a:rPr lang="en-US" sz="2000" b="1" dirty="0">
                <a:solidFill>
                  <a:srgbClr val="7030A0"/>
                </a:solidFill>
                <a:effectLst/>
                <a:latin typeface="Times New Roman" panose="02020603050405020304" pitchFamily="18" charset="0"/>
                <a:ea typeface="Times New Roman" panose="02020603050405020304" pitchFamily="18" charset="0"/>
              </a:rPr>
              <a:t>.</a:t>
            </a:r>
          </a:p>
        </p:txBody>
      </p:sp>
      <p:sp>
        <p:nvSpPr>
          <p:cNvPr id="12" name="TextBox 11">
            <a:extLst>
              <a:ext uri="{FF2B5EF4-FFF2-40B4-BE49-F238E27FC236}">
                <a16:creationId xmlns:a16="http://schemas.microsoft.com/office/drawing/2014/main" id="{BB2C7F06-E1D9-4ADD-AE6F-3FFBA293F9F4}"/>
              </a:ext>
            </a:extLst>
          </p:cNvPr>
          <p:cNvSpPr txBox="1"/>
          <p:nvPr/>
        </p:nvSpPr>
        <p:spPr>
          <a:xfrm>
            <a:off x="6945196" y="3765884"/>
            <a:ext cx="5246804" cy="2862322"/>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Moreover, </a:t>
            </a:r>
            <a:endParaRPr lang="ru-RU" sz="2000" b="1" dirty="0">
              <a:solidFill>
                <a:srgbClr val="7030A0"/>
              </a:solidFill>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f(0)  = 0 &lt; C;</a:t>
            </a:r>
          </a:p>
          <a:p>
            <a:pPr marL="342900" lvl="0" indent="-342900" algn="just">
              <a:buFont typeface="Symbol" panose="05050102010706020507" pitchFamily="18" charset="2"/>
              <a:buChar char=""/>
            </a:pPr>
            <a:r>
              <a:rPr lang="en-US" sz="2000" b="1" dirty="0">
                <a:solidFill>
                  <a:srgbClr val="7030A0"/>
                </a:solidFill>
                <a:latin typeface="Times New Roman" panose="02020603050405020304" pitchFamily="18" charset="0"/>
                <a:ea typeface="Times New Roman" panose="02020603050405020304" pitchFamily="18" charset="0"/>
              </a:rPr>
              <a:t>f(SQRT (C)) = C + SQRT (SQRT (C)) &gt; C</a:t>
            </a:r>
          </a:p>
          <a:p>
            <a:pPr marL="342900" lvl="0" indent="-342900" algn="just">
              <a:buFont typeface="Symbol" panose="05050102010706020507" pitchFamily="18" charset="2"/>
              <a:buChar char=""/>
            </a:pPr>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Therefore, the root of equation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С</a:t>
            </a:r>
            <a:r>
              <a:rPr lang="en-US" sz="2000" b="1" dirty="0">
                <a:solidFill>
                  <a:srgbClr val="7030A0"/>
                </a:solidFill>
                <a:effectLst/>
                <a:latin typeface="Times New Roman" panose="02020603050405020304" pitchFamily="18" charset="0"/>
                <a:ea typeface="Times New Roman" panose="02020603050405020304" pitchFamily="18" charset="0"/>
              </a:rPr>
              <a:t> lies on the interval [0;</a:t>
            </a:r>
            <a:r>
              <a:rPr lang="en-US" sz="2000" b="1" dirty="0">
                <a:solidFill>
                  <a:srgbClr val="7030A0"/>
                </a:solidFill>
                <a:latin typeface="Times New Roman" panose="02020603050405020304" pitchFamily="18" charset="0"/>
                <a:ea typeface="Times New Roman" panose="02020603050405020304" pitchFamily="18" charset="0"/>
              </a:rPr>
              <a:t> SQRT(C)] </a:t>
            </a:r>
            <a:r>
              <a:rPr lang="en-US" sz="2000" b="1" dirty="0">
                <a:solidFill>
                  <a:srgbClr val="7030A0"/>
                </a:solidFill>
                <a:effectLst/>
                <a:latin typeface="Times New Roman" panose="02020603050405020304" pitchFamily="18" charset="0"/>
                <a:ea typeface="Times New Roman" panose="02020603050405020304" pitchFamily="18" charset="0"/>
              </a:rPr>
              <a:t>and can be found with </a:t>
            </a:r>
            <a:r>
              <a:rPr lang="en-US" sz="2000" b="1" i="1" dirty="0">
                <a:solidFill>
                  <a:srgbClr val="7030A0"/>
                </a:solidFill>
                <a:effectLst/>
                <a:latin typeface="Times New Roman" panose="02020603050405020304" pitchFamily="18" charset="0"/>
                <a:ea typeface="Times New Roman" panose="02020603050405020304" pitchFamily="18" charset="0"/>
              </a:rPr>
              <a:t>binary search</a:t>
            </a:r>
            <a:r>
              <a:rPr lang="en-US" sz="2000" b="1" dirty="0">
                <a:solidFill>
                  <a:srgbClr val="7030A0"/>
                </a:solidFill>
                <a:effectLst/>
                <a:latin typeface="Times New Roman" panose="02020603050405020304" pitchFamily="18" charset="0"/>
                <a:ea typeface="Times New Roman" panose="02020603050405020304" pitchFamily="18" charset="0"/>
              </a:rPr>
              <a:t>.</a:t>
            </a:r>
          </a:p>
          <a:p>
            <a:pPr lvl="0" algn="just"/>
            <a:endParaRPr lang="ru-RU" sz="2000" b="1" dirty="0">
              <a:solidFill>
                <a:srgbClr val="7030A0"/>
              </a:solidFill>
              <a:effectLst/>
              <a:latin typeface="Times New Roman" panose="02020603050405020304" pitchFamily="18" charset="0"/>
              <a:ea typeface="Times New Roman" panose="02020603050405020304" pitchFamily="18" charset="0"/>
            </a:endParaRPr>
          </a:p>
          <a:p>
            <a:pPr algn="just"/>
            <a:endParaRPr lang="en-US" sz="2000" b="1" dirty="0">
              <a:solidFill>
                <a:srgbClr val="7030A0"/>
              </a:solidFill>
              <a:effectLst/>
              <a:latin typeface="Times New Roman" panose="02020603050405020304" pitchFamily="18" charset="0"/>
              <a:ea typeface="Times New Roman" panose="02020603050405020304" pitchFamily="18" charset="0"/>
            </a:endParaRPr>
          </a:p>
        </p:txBody>
      </p:sp>
      <p:graphicFrame>
        <p:nvGraphicFramePr>
          <p:cNvPr id="6" name="Объект 5">
            <a:extLst>
              <a:ext uri="{FF2B5EF4-FFF2-40B4-BE49-F238E27FC236}">
                <a16:creationId xmlns:a16="http://schemas.microsoft.com/office/drawing/2014/main" id="{9075A037-BA78-4E31-972E-D8AE9AA1A5BB}"/>
              </a:ext>
            </a:extLst>
          </p:cNvPr>
          <p:cNvGraphicFramePr>
            <a:graphicFrameLocks noChangeAspect="1"/>
          </p:cNvGraphicFramePr>
          <p:nvPr>
            <p:extLst>
              <p:ext uri="{D42A27DB-BD31-4B8C-83A1-F6EECF244321}">
                <p14:modId xmlns:p14="http://schemas.microsoft.com/office/powerpoint/2010/main" val="1062639288"/>
              </p:ext>
            </p:extLst>
          </p:nvPr>
        </p:nvGraphicFramePr>
        <p:xfrm>
          <a:off x="9288379" y="1451184"/>
          <a:ext cx="2138644" cy="2867367"/>
        </p:xfrm>
        <a:graphic>
          <a:graphicData uri="http://schemas.openxmlformats.org/presentationml/2006/ole">
            <mc:AlternateContent xmlns:mc="http://schemas.openxmlformats.org/markup-compatibility/2006">
              <mc:Choice xmlns:v="urn:schemas-microsoft-com:vml" Requires="v">
                <p:oleObj spid="_x0000_s97292" name="Visio" r:id="rId4" imgW="1018955" imgH="1361985" progId="Visio.Drawing.11">
                  <p:embed/>
                </p:oleObj>
              </mc:Choice>
              <mc:Fallback>
                <p:oleObj name="Visio" r:id="rId4" imgW="1018955" imgH="136198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8379" y="1451184"/>
                        <a:ext cx="2138644" cy="2867367"/>
                      </a:xfrm>
                      <a:prstGeom prst="rect">
                        <a:avLst/>
                      </a:prstGeom>
                      <a:noFill/>
                    </p:spPr>
                  </p:pic>
                </p:oleObj>
              </mc:Fallback>
            </mc:AlternateContent>
          </a:graphicData>
        </a:graphic>
      </p:graphicFrame>
    </p:spTree>
    <p:extLst>
      <p:ext uri="{BB962C8B-B14F-4D97-AF65-F5344CB8AC3E}">
        <p14:creationId xmlns:p14="http://schemas.microsoft.com/office/powerpoint/2010/main" val="2754472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2"/>
              </a:rPr>
              <a:t>3968. Square root</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577516" y="1062342"/>
            <a:ext cx="4764505" cy="5795657"/>
          </a:xfrm>
        </p:spPr>
        <p:txBody>
          <a:bodyPr>
            <a:noAutofit/>
          </a:bodyPr>
          <a:lstStyle/>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#define</a:t>
            </a:r>
            <a:r>
              <a:rPr lang="en-US" sz="2000" dirty="0">
                <a:effectLst/>
                <a:latin typeface="Courier New" panose="02070309020205020404" pitchFamily="49" charset="0"/>
                <a:ea typeface="Times New Roman" panose="02020603050405020304" pitchFamily="18" charset="0"/>
              </a:rPr>
              <a:t> EPS 1e-10</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effectLst/>
                <a:latin typeface="Courier New" panose="02070309020205020404" pitchFamily="49" charset="0"/>
                <a:ea typeface="Times New Roman" panose="02020603050405020304" pitchFamily="18" charset="0"/>
              </a:rPr>
              <a:t> f(</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effectLst/>
                <a:latin typeface="Courier New" panose="02070309020205020404" pitchFamily="49" charset="0"/>
                <a:ea typeface="Times New Roman" panose="02020603050405020304" pitchFamily="18" charset="0"/>
              </a:rPr>
              <a:t> x)</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return</a:t>
            </a:r>
            <a:r>
              <a:rPr lang="en-US" sz="2000" dirty="0">
                <a:effectLst/>
                <a:latin typeface="Courier New" panose="02070309020205020404" pitchFamily="49" charset="0"/>
                <a:ea typeface="Times New Roman" panose="02020603050405020304" pitchFamily="18" charset="0"/>
              </a:rPr>
              <a:t> x * x + sqrt(x);</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nSpc>
                <a:spcPct val="100000"/>
              </a:lnSpc>
              <a:spcBef>
                <a:spcPts val="0"/>
              </a:spcBef>
            </a:pPr>
            <a:r>
              <a:rPr lang="en-US" sz="2000" dirty="0">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scanf(</a:t>
            </a:r>
            <a:r>
              <a:rPr lang="en-US" sz="2000" dirty="0">
                <a:solidFill>
                  <a:srgbClr val="800000"/>
                </a:solidFill>
                <a:effectLst/>
                <a:latin typeface="Courier New" panose="02070309020205020404" pitchFamily="49" charset="0"/>
                <a:ea typeface="Times New Roman" panose="02020603050405020304" pitchFamily="18" charset="0"/>
              </a:rPr>
              <a:t>"%lf"</a:t>
            </a:r>
            <a:r>
              <a:rPr lang="en-US" sz="2000" dirty="0">
                <a:effectLst/>
                <a:latin typeface="Courier New" panose="02070309020205020404" pitchFamily="49" charset="0"/>
                <a:ea typeface="Times New Roman" panose="02020603050405020304" pitchFamily="18" charset="0"/>
              </a:rPr>
              <a:t>, &amp;c);</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left = 0; right = c;</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while</a:t>
            </a:r>
            <a:r>
              <a:rPr lang="en-US" sz="2000" dirty="0">
                <a:effectLst/>
                <a:latin typeface="Courier New" panose="02070309020205020404" pitchFamily="49" charset="0"/>
                <a:ea typeface="Times New Roman" panose="02020603050405020304" pitchFamily="18" charset="0"/>
              </a:rPr>
              <a:t>(right - left &gt; EPS)</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middle = (left + right)/ 2;</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y = f(middle);</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if</a:t>
            </a:r>
            <a:r>
              <a:rPr lang="en-US" sz="2000" dirty="0">
                <a:effectLst/>
                <a:latin typeface="Courier New" panose="02070309020205020404" pitchFamily="49" charset="0"/>
                <a:ea typeface="Times New Roman" panose="02020603050405020304" pitchFamily="18" charset="0"/>
              </a:rPr>
              <a:t> (y &gt; c) right = middle; </a:t>
            </a:r>
          </a:p>
          <a:p>
            <a:pPr algn="just">
              <a:lnSpc>
                <a:spcPct val="100000"/>
              </a:lnSpc>
              <a:spcBef>
                <a:spcPts val="0"/>
              </a:spcBef>
            </a:pPr>
            <a:r>
              <a:rPr lang="en-US" sz="2000" dirty="0">
                <a:solidFill>
                  <a:srgbClr val="0000FF"/>
                </a:solidFill>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else</a:t>
            </a:r>
            <a:r>
              <a:rPr lang="en-US" sz="2000" dirty="0">
                <a:effectLst/>
                <a:latin typeface="Courier New" panose="02070309020205020404" pitchFamily="49" charset="0"/>
                <a:ea typeface="Times New Roman" panose="02020603050405020304" pitchFamily="18" charset="0"/>
              </a:rPr>
              <a:t> left = middle;</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Courier New" panose="02070309020205020404" pitchFamily="49" charset="0"/>
                <a:ea typeface="Times New Roman" panose="02020603050405020304" pitchFamily="18" charset="0"/>
              </a:rPr>
              <a:t>printf(</a:t>
            </a:r>
            <a:r>
              <a:rPr lang="en-US" sz="2000" dirty="0">
                <a:solidFill>
                  <a:srgbClr val="800000"/>
                </a:solidFill>
                <a:effectLst/>
                <a:latin typeface="Courier New" panose="02070309020205020404" pitchFamily="49" charset="0"/>
                <a:ea typeface="Times New Roman" panose="02020603050405020304" pitchFamily="18" charset="0"/>
              </a:rPr>
              <a:t>"%lf\n"</a:t>
            </a:r>
            <a:r>
              <a:rPr lang="en-US" sz="2000" dirty="0">
                <a:effectLst/>
                <a:latin typeface="Courier New" panose="02070309020205020404" pitchFamily="49" charset="0"/>
                <a:ea typeface="Times New Roman" panose="02020603050405020304" pitchFamily="18" charset="0"/>
              </a:rPr>
              <a:t>, left);</a:t>
            </a:r>
            <a:endParaRPr lang="en-US"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98DC6DE4-7DA9-412C-89BF-A580651C56B5}"/>
              </a:ext>
            </a:extLst>
          </p:cNvPr>
          <p:cNvSpPr txBox="1">
            <a:spLocks/>
          </p:cNvSpPr>
          <p:nvPr/>
        </p:nvSpPr>
        <p:spPr>
          <a:xfrm>
            <a:off x="6164750" y="1062341"/>
            <a:ext cx="5934205" cy="579565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Declare a constant EPS and function f(</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x</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main part of the program. Read the value of </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С</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Set the boundaries of binary search [</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left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right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 [0; </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Run the binary search.</a:t>
            </a: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00000"/>
              </a:lnSpc>
              <a:spcBef>
                <a:spcPts val="0"/>
              </a:spcBef>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Print the answer.</a:t>
            </a:r>
          </a:p>
        </p:txBody>
      </p:sp>
    </p:spTree>
    <p:extLst>
      <p:ext uri="{BB962C8B-B14F-4D97-AF65-F5344CB8AC3E}">
        <p14:creationId xmlns:p14="http://schemas.microsoft.com/office/powerpoint/2010/main" val="4190035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2"/>
              </a:rPr>
              <a:t>4420. The root of a cubic equation</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26476" y="1062342"/>
            <a:ext cx="10939343" cy="180598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a cubic equation </a:t>
            </a:r>
            <a:r>
              <a:rPr lang="ru-RU" sz="2000" i="1" dirty="0">
                <a:effectLst/>
                <a:latin typeface="Times New Roman" panose="02020603050405020304" pitchFamily="18" charset="0"/>
                <a:ea typeface="Times New Roman" panose="02020603050405020304" pitchFamily="18" charset="0"/>
              </a:rPr>
              <a:t>ax</a:t>
            </a:r>
            <a:r>
              <a:rPr lang="ru-RU" sz="2000" baseline="30000" dirty="0">
                <a:effectLst/>
                <a:latin typeface="Times New Roman" panose="02020603050405020304" pitchFamily="18" charset="0"/>
                <a:ea typeface="Times New Roman" panose="02020603050405020304" pitchFamily="18" charset="0"/>
              </a:rPr>
              <a:t>3</a:t>
            </a:r>
            <a:r>
              <a:rPr lang="ru-RU" sz="2000" dirty="0">
                <a:effectLst/>
                <a:latin typeface="Times New Roman" panose="02020603050405020304" pitchFamily="18" charset="0"/>
                <a:ea typeface="Times New Roman" panose="02020603050405020304" pitchFamily="18" charset="0"/>
              </a:rPr>
              <a:t> + </a:t>
            </a:r>
            <a:r>
              <a:rPr lang="ru-RU" sz="2000" i="1" dirty="0">
                <a:effectLst/>
                <a:latin typeface="Times New Roman" panose="02020603050405020304" pitchFamily="18" charset="0"/>
                <a:ea typeface="Times New Roman" panose="02020603050405020304" pitchFamily="18" charset="0"/>
              </a:rPr>
              <a:t>bx</a:t>
            </a:r>
            <a:r>
              <a:rPr lang="ru-RU" sz="2000" baseline="30000" dirty="0">
                <a:effectLst/>
                <a:latin typeface="Times New Roman" panose="02020603050405020304" pitchFamily="18" charset="0"/>
                <a:ea typeface="Times New Roman" panose="02020603050405020304" pitchFamily="18" charset="0"/>
              </a:rPr>
              <a:t>2</a:t>
            </a:r>
            <a:r>
              <a:rPr lang="ru-RU" sz="2000" dirty="0">
                <a:effectLst/>
                <a:latin typeface="Times New Roman" panose="02020603050405020304" pitchFamily="18" charset="0"/>
                <a:ea typeface="Times New Roman" panose="02020603050405020304" pitchFamily="18" charset="0"/>
              </a:rPr>
              <a:t> + </a:t>
            </a:r>
            <a:r>
              <a:rPr lang="ru-RU" sz="2000" i="1" dirty="0">
                <a:effectLst/>
                <a:latin typeface="Times New Roman" panose="02020603050405020304" pitchFamily="18" charset="0"/>
                <a:ea typeface="Times New Roman" panose="02020603050405020304" pitchFamily="18" charset="0"/>
              </a:rPr>
              <a:t>cx</a:t>
            </a:r>
            <a:r>
              <a:rPr lang="ru-RU" sz="2000" dirty="0">
                <a:effectLst/>
                <a:latin typeface="Times New Roman" panose="02020603050405020304" pitchFamily="18" charset="0"/>
                <a:ea typeface="Times New Roman" panose="02020603050405020304" pitchFamily="18" charset="0"/>
              </a:rPr>
              <a:t> + </a:t>
            </a:r>
            <a:r>
              <a:rPr lang="ru-RU" sz="2000" i="1" dirty="0">
                <a:effectLst/>
                <a:latin typeface="Times New Roman" panose="02020603050405020304" pitchFamily="18" charset="0"/>
                <a:ea typeface="Times New Roman" panose="02020603050405020304" pitchFamily="18" charset="0"/>
              </a:rPr>
              <a:t>d</a:t>
            </a:r>
            <a:r>
              <a:rPr lang="ru-RU" sz="2000" dirty="0">
                <a:effectLst/>
                <a:latin typeface="Times New Roman" panose="02020603050405020304" pitchFamily="18" charset="0"/>
                <a:ea typeface="Times New Roman" panose="02020603050405020304" pitchFamily="18" charset="0"/>
              </a:rPr>
              <a:t> = 0 (</a:t>
            </a:r>
            <a:r>
              <a:rPr lang="ru-RU" sz="2000" i="1" dirty="0">
                <a:effectLst/>
                <a:latin typeface="Times New Roman" panose="02020603050405020304" pitchFamily="18" charset="0"/>
                <a:ea typeface="Times New Roman" panose="02020603050405020304" pitchFamily="18" charset="0"/>
              </a:rPr>
              <a:t>a</a:t>
            </a:r>
            <a:r>
              <a:rPr lang="ru-RU" sz="2000" dirty="0">
                <a:effectLst/>
                <a:latin typeface="Times New Roman" panose="02020603050405020304" pitchFamily="18" charset="0"/>
                <a:ea typeface="Times New Roman" panose="02020603050405020304" pitchFamily="18" charset="0"/>
              </a:rPr>
              <a:t> ≠ 0</a:t>
            </a:r>
            <a:r>
              <a:rPr lang="en-US" sz="2000" dirty="0">
                <a:effectLst/>
                <a:latin typeface="Times New Roman" panose="02020603050405020304" pitchFamily="18" charset="0"/>
                <a:ea typeface="Times New Roman" panose="02020603050405020304" pitchFamily="18" charset="0"/>
              </a:rPr>
              <a:t>). It is known that this equation has exactly one root. Find it.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Four integers</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a</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b</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c</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d</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1000 ≤ </a:t>
            </a:r>
            <a:r>
              <a:rPr lang="ru-RU" sz="2000" i="1" dirty="0">
                <a:effectLst/>
                <a:latin typeface="Times New Roman" panose="02020603050405020304" pitchFamily="18" charset="0"/>
                <a:ea typeface="Times New Roman" panose="02020603050405020304" pitchFamily="18" charset="0"/>
              </a:rPr>
              <a:t>a</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b</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c</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d</a:t>
            </a:r>
            <a:r>
              <a:rPr lang="ru-RU" sz="2000" dirty="0">
                <a:effectLst/>
                <a:latin typeface="Times New Roman" panose="02020603050405020304" pitchFamily="18" charset="0"/>
                <a:ea typeface="Times New Roman" panose="02020603050405020304" pitchFamily="18" charset="0"/>
              </a:rPr>
              <a:t> ≤ 1000</a:t>
            </a:r>
            <a:r>
              <a:rPr lang="en-US" sz="2000"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Print the root of equation with no less than 6 decimal digits.</a:t>
            </a:r>
            <a:endParaRPr lang="ru-RU" sz="2000" dirty="0">
              <a:effectLst/>
              <a:latin typeface="Times New Roman" panose="02020603050405020304" pitchFamily="18" charset="0"/>
              <a:ea typeface="Times New Roman" panose="02020603050405020304" pitchFamily="18" charset="0"/>
            </a:endParaRPr>
          </a:p>
        </p:txBody>
      </p:sp>
      <p:sp>
        <p:nvSpPr>
          <p:cNvPr id="5" name="Подзаголовок 2">
            <a:extLst>
              <a:ext uri="{FF2B5EF4-FFF2-40B4-BE49-F238E27FC236}">
                <a16:creationId xmlns:a16="http://schemas.microsoft.com/office/drawing/2014/main" id="{037EE9CB-0C71-4FAB-987E-35AA67AC5BCA}"/>
              </a:ext>
            </a:extLst>
          </p:cNvPr>
          <p:cNvSpPr txBox="1">
            <a:spLocks/>
          </p:cNvSpPr>
          <p:nvPr/>
        </p:nvSpPr>
        <p:spPr>
          <a:xfrm>
            <a:off x="726476" y="2868328"/>
            <a:ext cx="2842660" cy="10866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effectLst/>
                <a:latin typeface="Courier New" panose="02070309020205020404" pitchFamily="49" charset="0"/>
                <a:ea typeface="Times New Roman" panose="02020603050405020304" pitchFamily="18" charset="0"/>
              </a:rPr>
              <a:t>-1 -6 -12 -7</a:t>
            </a:r>
            <a:endParaRPr lang="ru-RU" sz="2800" dirty="0">
              <a:effectLst/>
              <a:latin typeface="Times New Roman" panose="02020603050405020304" pitchFamily="18" charset="0"/>
              <a:ea typeface="Times New Roman" panose="02020603050405020304" pitchFamily="18" charset="0"/>
            </a:endParaRPr>
          </a:p>
        </p:txBody>
      </p:sp>
      <p:sp>
        <p:nvSpPr>
          <p:cNvPr id="6" name="Подзаголовок 2">
            <a:extLst>
              <a:ext uri="{FF2B5EF4-FFF2-40B4-BE49-F238E27FC236}">
                <a16:creationId xmlns:a16="http://schemas.microsoft.com/office/drawing/2014/main" id="{2C7A9786-0256-4A0F-8F72-AEA1C31E2989}"/>
              </a:ext>
            </a:extLst>
          </p:cNvPr>
          <p:cNvSpPr txBox="1">
            <a:spLocks/>
          </p:cNvSpPr>
          <p:nvPr/>
        </p:nvSpPr>
        <p:spPr>
          <a:xfrm>
            <a:off x="3800142" y="2868328"/>
            <a:ext cx="2199604" cy="8826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pPr>
            <a:r>
              <a:rPr lang="ru-RU" sz="2000" dirty="0">
                <a:effectLst/>
                <a:latin typeface="Courier New" panose="02070309020205020404" pitchFamily="49" charset="0"/>
                <a:ea typeface="Times New Roman" panose="02020603050405020304" pitchFamily="18" charset="0"/>
              </a:rPr>
              <a:t>-1.0000000111</a:t>
            </a:r>
            <a:endParaRPr lang="ru-RU"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8C6A3A1-B320-487B-857C-4EA72484D68E}"/>
              </a:ext>
            </a:extLst>
          </p:cNvPr>
          <p:cNvSpPr txBox="1"/>
          <p:nvPr/>
        </p:nvSpPr>
        <p:spPr>
          <a:xfrm>
            <a:off x="1338480" y="3989673"/>
            <a:ext cx="10009705" cy="2246769"/>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Localize the root of equalization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0. To do this, find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such that f(-</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 f(</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&lt; 0. </a:t>
            </a:r>
          </a:p>
          <a:p>
            <a:pPr algn="just"/>
            <a:r>
              <a:rPr lang="en-US" sz="2000" b="1" dirty="0">
                <a:solidFill>
                  <a:srgbClr val="7030A0"/>
                </a:solidFill>
                <a:effectLst/>
                <a:latin typeface="Times New Roman" panose="02020603050405020304" pitchFamily="18" charset="0"/>
                <a:ea typeface="Times New Roman" panose="02020603050405020304" pitchFamily="18" charset="0"/>
              </a:rPr>
              <a:t>For example, having initialized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 1, we will double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at each step until holds an inequality f(-</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 f(</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&lt; 0. Thus, we will iterate over intervals [-1; 1], [-2; 2], [-4; 4], [-8; 8], …. until we find the interval where the root of the equation is located. </a:t>
            </a:r>
          </a:p>
          <a:p>
            <a:pPr algn="just"/>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Set </a:t>
            </a:r>
            <a:r>
              <a:rPr lang="en-US" sz="2000" b="1" i="1" dirty="0">
                <a:solidFill>
                  <a:srgbClr val="7030A0"/>
                </a:solidFill>
                <a:effectLst/>
                <a:latin typeface="Times New Roman" panose="02020603050405020304" pitchFamily="18" charset="0"/>
                <a:ea typeface="Times New Roman" panose="02020603050405020304" pitchFamily="18" charset="0"/>
              </a:rPr>
              <a:t>l</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Then on the interval [</a:t>
            </a:r>
            <a:r>
              <a:rPr lang="en-US" sz="2000" b="1" i="1" dirty="0">
                <a:solidFill>
                  <a:srgbClr val="7030A0"/>
                </a:solidFill>
                <a:effectLst/>
                <a:latin typeface="Times New Roman" panose="02020603050405020304" pitchFamily="18" charset="0"/>
                <a:ea typeface="Times New Roman" panose="02020603050405020304" pitchFamily="18" charset="0"/>
              </a:rPr>
              <a:t>l</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using a binary search (dividing a segment in half), we look for a root.</a:t>
            </a:r>
          </a:p>
        </p:txBody>
      </p:sp>
    </p:spTree>
    <p:extLst>
      <p:ext uri="{BB962C8B-B14F-4D97-AF65-F5344CB8AC3E}">
        <p14:creationId xmlns:p14="http://schemas.microsoft.com/office/powerpoint/2010/main" val="388733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2026628"/>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Sorted array of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is given. You must answer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queries: whether the given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in the array.</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First line contains two numbers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Second line contains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sorted in increasing order. Each of the next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lines contains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The numbers in array do not exceed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 by absolute value.</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 each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print on a separate line “YES” if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present in array and “NO” otherwise.</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9016. Binary search</a:t>
            </a:r>
            <a:endParaRPr lang="ru-RU" sz="7200" b="1" dirty="0">
              <a:latin typeface="Times New Roman" panose="02020603050405020304" pitchFamily="18" charset="0"/>
              <a:cs typeface="Times New Roman" panose="02020603050405020304" pitchFamily="18" charset="0"/>
            </a:endParaRPr>
          </a:p>
        </p:txBody>
      </p:sp>
      <p:sp>
        <p:nvSpPr>
          <p:cNvPr id="9" name="Подзаголовок 2">
            <a:extLst>
              <a:ext uri="{FF2B5EF4-FFF2-40B4-BE49-F238E27FC236}">
                <a16:creationId xmlns:a16="http://schemas.microsoft.com/office/drawing/2014/main" id="{97739A4C-53F6-4906-900E-4CFCC3BB4490}"/>
              </a:ext>
            </a:extLst>
          </p:cNvPr>
          <p:cNvSpPr txBox="1">
            <a:spLocks/>
          </p:cNvSpPr>
          <p:nvPr/>
        </p:nvSpPr>
        <p:spPr>
          <a:xfrm>
            <a:off x="755352" y="3429000"/>
            <a:ext cx="2842660" cy="20266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6 3</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2 4 4 8 11 14</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10</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4</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2</a:t>
            </a:r>
            <a:endParaRPr lang="ru-RU" sz="2000" dirty="0">
              <a:effectLst/>
              <a:latin typeface="Times New Roman" panose="02020603050405020304" pitchFamily="18" charset="0"/>
              <a:ea typeface="Times New Roman" panose="02020603050405020304" pitchFamily="18" charset="0"/>
            </a:endParaRPr>
          </a:p>
        </p:txBody>
      </p:sp>
      <p:sp>
        <p:nvSpPr>
          <p:cNvPr id="11" name="Подзаголовок 2">
            <a:extLst>
              <a:ext uri="{FF2B5EF4-FFF2-40B4-BE49-F238E27FC236}">
                <a16:creationId xmlns:a16="http://schemas.microsoft.com/office/drawing/2014/main" id="{DE54268D-F03D-447D-BEAC-B9C86795489D}"/>
              </a:ext>
            </a:extLst>
          </p:cNvPr>
          <p:cNvSpPr txBox="1">
            <a:spLocks/>
          </p:cNvSpPr>
          <p:nvPr/>
        </p:nvSpPr>
        <p:spPr>
          <a:xfrm>
            <a:off x="3829018" y="3429000"/>
            <a:ext cx="2199604" cy="12488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NO</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YES</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YES</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2" name="Подзаголовок 2">
            <a:extLst>
              <a:ext uri="{FF2B5EF4-FFF2-40B4-BE49-F238E27FC236}">
                <a16:creationId xmlns:a16="http://schemas.microsoft.com/office/drawing/2014/main" id="{8C01E5B0-32D5-4AAA-9CA8-89FB5D0A4F99}"/>
              </a:ext>
            </a:extLst>
          </p:cNvPr>
          <p:cNvSpPr txBox="1">
            <a:spLocks/>
          </p:cNvSpPr>
          <p:nvPr/>
        </p:nvSpPr>
        <p:spPr>
          <a:xfrm>
            <a:off x="5674323" y="4771213"/>
            <a:ext cx="5762325" cy="14539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The problem can be solved with:</a:t>
            </a:r>
          </a:p>
          <a:p>
            <a:pPr marL="342900" indent="-342900" algn="just">
              <a:lnSpc>
                <a:spcPct val="100000"/>
              </a:lnSpc>
              <a:spcBef>
                <a:spcPts val="0"/>
              </a:spcBef>
              <a:buFont typeface="Arial" panose="020B0604020202020204" pitchFamily="34" charset="0"/>
              <a:buChar char="•"/>
            </a:pPr>
            <a:r>
              <a:rPr lang="en-US" sz="2000" b="1" i="1" dirty="0">
                <a:solidFill>
                  <a:srgbClr val="7030A0"/>
                </a:solidFill>
                <a:effectLst/>
                <a:latin typeface="Times New Roman CYR" panose="02020603050405020304" pitchFamily="18" charset="0"/>
                <a:ea typeface="Times New Roman" panose="02020603050405020304" pitchFamily="18" charset="0"/>
                <a:cs typeface="Times New Roman" panose="02020603050405020304" pitchFamily="18" charset="0"/>
              </a:rPr>
              <a:t>binary_search</a:t>
            </a:r>
            <a:r>
              <a:rPr lang="en-US" sz="2000" b="1" dirty="0">
                <a:solidFill>
                  <a:srgbClr val="7030A0"/>
                </a:solidFill>
                <a:latin typeface="Times New Roman" panose="02020603050405020304" pitchFamily="18" charset="0"/>
                <a:ea typeface="Times New Roman" panose="02020603050405020304" pitchFamily="18" charset="0"/>
              </a:rPr>
              <a:t> function (STL)</a:t>
            </a:r>
            <a:endParaRPr lang="en-US" sz="2000" b="1" i="1" dirty="0">
              <a:solidFill>
                <a:srgbClr val="7030A0"/>
              </a:solidFill>
              <a:effectLst/>
              <a:latin typeface="Times New Roman CYR"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00000"/>
              </a:lnSpc>
              <a:spcBef>
                <a:spcPts val="0"/>
              </a:spcBef>
              <a:buFont typeface="Arial" panose="020B0604020202020204" pitchFamily="34" charset="0"/>
              <a:buChar char="•"/>
            </a:pPr>
            <a:r>
              <a:rPr lang="ru-RU" sz="2000" b="1" i="1" dirty="0">
                <a:solidFill>
                  <a:srgbClr val="7030A0"/>
                </a:solidFill>
                <a:effectLst/>
                <a:latin typeface="Times New Roman" panose="02020603050405020304" pitchFamily="18" charset="0"/>
                <a:ea typeface="Times New Roman" panose="02020603050405020304" pitchFamily="18" charset="0"/>
              </a:rPr>
              <a:t>lower_bound</a:t>
            </a:r>
            <a:r>
              <a:rPr lang="en-US" sz="2000" b="1" i="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 </a:t>
            </a:r>
            <a:r>
              <a:rPr lang="en-US" sz="2000" b="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and</a:t>
            </a:r>
            <a:r>
              <a:rPr lang="en-US" sz="2000" b="1" i="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upper</a:t>
            </a:r>
            <a:r>
              <a:rPr lang="ru-RU" sz="2000" b="1" i="1" dirty="0">
                <a:solidFill>
                  <a:srgbClr val="7030A0"/>
                </a:solidFill>
                <a:effectLst/>
                <a:latin typeface="Times New Roman" panose="02020603050405020304" pitchFamily="18" charset="0"/>
                <a:ea typeface="Times New Roman" panose="02020603050405020304" pitchFamily="18" charset="0"/>
              </a:rPr>
              <a:t>_bound</a:t>
            </a:r>
            <a:r>
              <a:rPr lang="en-US" sz="2000" b="1" dirty="0">
                <a:solidFill>
                  <a:srgbClr val="7030A0"/>
                </a:solidFill>
                <a:latin typeface="Times New Roman" panose="02020603050405020304" pitchFamily="18" charset="0"/>
                <a:ea typeface="Times New Roman" panose="02020603050405020304" pitchFamily="18" charset="0"/>
              </a:rPr>
              <a:t> functions (STL)</a:t>
            </a:r>
            <a:endParaRPr lang="en-US" sz="2000" b="1" i="1" dirty="0">
              <a:solidFill>
                <a:srgbClr val="7030A0"/>
              </a:solidFill>
              <a:effectLst/>
              <a:latin typeface="Times New Roman" panose="02020603050405020304" pitchFamily="18" charset="0"/>
              <a:ea typeface="Times New Roman" panose="02020603050405020304" pitchFamily="18" charset="0"/>
            </a:endParaRPr>
          </a:p>
          <a:p>
            <a:pPr marL="342900" indent="-342900" algn="just">
              <a:lnSpc>
                <a:spcPct val="100000"/>
              </a:lnSpc>
              <a:spcBef>
                <a:spcPts val="0"/>
              </a:spcBef>
              <a:buFont typeface="Arial" panose="020B0604020202020204" pitchFamily="34" charset="0"/>
              <a:buChar char="•"/>
            </a:pPr>
            <a:r>
              <a:rPr lang="en-US" sz="2000" b="1" dirty="0">
                <a:solidFill>
                  <a:srgbClr val="7030A0"/>
                </a:solidFill>
                <a:latin typeface="Times New Roman" panose="02020603050405020304" pitchFamily="18" charset="0"/>
                <a:ea typeface="Times New Roman" panose="02020603050405020304" pitchFamily="18" charset="0"/>
              </a:rPr>
              <a:t>You own binary search function</a:t>
            </a:r>
            <a:endParaRPr lang="ru-RU" sz="2000"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63389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1042445"/>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Let m be a sorted array of length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consisting of integers.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Function </a:t>
            </a:r>
            <a:r>
              <a:rPr lang="en-US" sz="2000" b="1" i="1" dirty="0">
                <a:solidFill>
                  <a:srgbClr val="000000"/>
                </a:solidFill>
                <a:effectLst/>
                <a:latin typeface="Times New Roman" panose="02020603050405020304" pitchFamily="18" charset="0"/>
                <a:ea typeface="Times New Roman" panose="02020603050405020304" pitchFamily="18" charset="0"/>
              </a:rPr>
              <a:t>binary_search</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 </a:t>
            </a:r>
            <a:r>
              <a:rPr lang="en-US" sz="2000" i="1" dirty="0">
                <a:solidFill>
                  <a:srgbClr val="000000"/>
                </a:solidFill>
                <a:effectLst/>
                <a:latin typeface="Times New Roman" panose="02020603050405020304" pitchFamily="18" charset="0"/>
                <a:ea typeface="Times New Roman" panose="02020603050405020304" pitchFamily="18" charset="0"/>
              </a:rPr>
              <a:t>n</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x</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dirty="0">
                <a:effectLst/>
                <a:latin typeface="Times New Roman" panose="02020603050405020304" pitchFamily="18" charset="0"/>
                <a:ea typeface="Times New Roman" panose="02020603050405020304" pitchFamily="18" charset="0"/>
              </a:rPr>
              <a:t> returns </a:t>
            </a:r>
            <a:r>
              <a:rPr lang="en-US" sz="2000" b="1" i="1" dirty="0">
                <a:effectLst/>
                <a:latin typeface="Times New Roman" panose="02020603050405020304" pitchFamily="18" charset="0"/>
                <a:ea typeface="Times New Roman" panose="02020603050405020304" pitchFamily="18" charset="0"/>
              </a:rPr>
              <a:t>true</a:t>
            </a:r>
            <a:r>
              <a:rPr lang="en-US" sz="2000" dirty="0">
                <a:effectLst/>
                <a:latin typeface="Times New Roman" panose="02020603050405020304" pitchFamily="18" charset="0"/>
                <a:ea typeface="Times New Roman" panose="02020603050405020304" pitchFamily="18" charset="0"/>
              </a:rPr>
              <a:t> if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present in the array.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 input array is read in O(</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queries are executed in O(</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log</a:t>
            </a:r>
            <a:r>
              <a:rPr lang="en-US" sz="2000" baseline="-25000" dirty="0">
                <a:effectLst/>
                <a:latin typeface="Times New Roman" panose="02020603050405020304" pitchFamily="18" charset="0"/>
                <a:ea typeface="Times New Roman" panose="02020603050405020304" pitchFamily="18" charset="0"/>
              </a:rPr>
              <a:t>2</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9016. Binary search</a:t>
            </a:r>
            <a:endParaRPr lang="ru-RU" sz="72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4F9EFB4-D910-4E69-B91A-60119AFEEAA9}"/>
              </a:ext>
            </a:extLst>
          </p:cNvPr>
          <p:cNvSpPr txBox="1"/>
          <p:nvPr/>
        </p:nvSpPr>
        <p:spPr>
          <a:xfrm>
            <a:off x="639163" y="2905079"/>
            <a:ext cx="6088896" cy="2862322"/>
          </a:xfrm>
          <a:prstGeom prst="rect">
            <a:avLst/>
          </a:prstGeom>
          <a:noFill/>
        </p:spPr>
        <p:txBody>
          <a:bodyPr wrap="square">
            <a:spAutoFit/>
          </a:bodyPr>
          <a:lstStyle/>
          <a:p>
            <a:pPr algn="just"/>
            <a:r>
              <a:rPr lang="en-US" sz="2000" dirty="0">
                <a:solidFill>
                  <a:srgbClr val="0000FF"/>
                </a:solidFill>
                <a:effectLst/>
                <a:latin typeface="Courier New" panose="02070309020205020404" pitchFamily="49" charset="0"/>
                <a:ea typeface="Times New Roman" panose="02020603050405020304" pitchFamily="18" charset="0"/>
              </a:rPr>
              <a:t>for</a:t>
            </a:r>
            <a:r>
              <a:rPr lang="en-US" sz="2000" dirty="0">
                <a:solidFill>
                  <a:srgbClr val="000000"/>
                </a:solidFill>
                <a:effectLst/>
                <a:latin typeface="Courier New" panose="02070309020205020404" pitchFamily="49" charset="0"/>
                <a:ea typeface="Times New Roman" panose="02020603050405020304" pitchFamily="18" charset="0"/>
              </a:rPr>
              <a:t> (i = 0; i &lt; q; i++)</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scanf(</a:t>
            </a:r>
            <a:r>
              <a:rPr lang="en-US" sz="2000" dirty="0">
                <a:solidFill>
                  <a:srgbClr val="A31515"/>
                </a:solidFill>
                <a:effectLst/>
                <a:latin typeface="Courier New" panose="02070309020205020404" pitchFamily="49" charset="0"/>
                <a:ea typeface="Times New Roman" panose="02020603050405020304" pitchFamily="18" charset="0"/>
              </a:rPr>
              <a:t>"%d"</a:t>
            </a:r>
            <a:r>
              <a:rPr lang="en-US" sz="2000" dirty="0">
                <a:solidFill>
                  <a:srgbClr val="000000"/>
                </a:solidFill>
                <a:effectLst/>
                <a:latin typeface="Courier New" panose="02070309020205020404" pitchFamily="49" charset="0"/>
                <a:ea typeface="Times New Roman" panose="02020603050405020304" pitchFamily="18" charset="0"/>
              </a:rPr>
              <a:t>, &amp;x);</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if</a:t>
            </a:r>
            <a:r>
              <a:rPr lang="en-US" sz="2000" dirty="0">
                <a:solidFill>
                  <a:srgbClr val="000000"/>
                </a:solidFill>
                <a:effectLst/>
                <a:latin typeface="Courier New" panose="02070309020205020404" pitchFamily="49" charset="0"/>
                <a:ea typeface="Times New Roman" panose="02020603050405020304" pitchFamily="18" charset="0"/>
              </a:rPr>
              <a:t> (binary_search(m, m + n, x) == 1)</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puts(</a:t>
            </a:r>
            <a:r>
              <a:rPr lang="en-US" sz="2000" dirty="0">
                <a:solidFill>
                  <a:srgbClr val="A31515"/>
                </a:solidFill>
                <a:effectLst/>
                <a:latin typeface="Courier New" panose="02070309020205020404" pitchFamily="49" charset="0"/>
                <a:ea typeface="Times New Roman" panose="02020603050405020304" pitchFamily="18" charset="0"/>
              </a:rPr>
              <a:t>"YES"</a:t>
            </a: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FF"/>
                </a:solidFill>
                <a:effectLst/>
                <a:latin typeface="Courier New" panose="02070309020205020404" pitchFamily="49" charset="0"/>
                <a:ea typeface="Times New Roman" panose="02020603050405020304" pitchFamily="18" charset="0"/>
              </a:rPr>
              <a:t>  else</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puts(</a:t>
            </a:r>
            <a:r>
              <a:rPr lang="en-US" sz="2000" dirty="0">
                <a:solidFill>
                  <a:srgbClr val="A31515"/>
                </a:solidFill>
                <a:effectLst/>
                <a:latin typeface="Courier New" panose="02070309020205020404" pitchFamily="49" charset="0"/>
                <a:ea typeface="Times New Roman" panose="02020603050405020304" pitchFamily="18" charset="0"/>
              </a:rPr>
              <a:t>"NO"</a:t>
            </a: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9D8334F3-94B3-4C8F-873F-4BEE0637BF0D}"/>
              </a:ext>
            </a:extLst>
          </p:cNvPr>
          <p:cNvSpPr txBox="1"/>
          <p:nvPr/>
        </p:nvSpPr>
        <p:spPr>
          <a:xfrm>
            <a:off x="7036869" y="3529555"/>
            <a:ext cx="4430027" cy="1323439"/>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Process </a:t>
            </a:r>
            <a:r>
              <a:rPr lang="en-US" sz="2000" b="1" i="1" dirty="0">
                <a:solidFill>
                  <a:srgbClr val="7030A0"/>
                </a:solidFill>
                <a:effectLst/>
                <a:latin typeface="Times New Roman" panose="02020603050405020304" pitchFamily="18" charset="0"/>
                <a:ea typeface="Times New Roman" panose="02020603050405020304" pitchFamily="18" charset="0"/>
              </a:rPr>
              <a:t>q</a:t>
            </a:r>
            <a:r>
              <a:rPr lang="en-US" sz="2000" b="1" dirty="0">
                <a:solidFill>
                  <a:srgbClr val="7030A0"/>
                </a:solidFill>
                <a:effectLst/>
                <a:latin typeface="Times New Roman" panose="02020603050405020304" pitchFamily="18" charset="0"/>
                <a:ea typeface="Times New Roman" panose="02020603050405020304" pitchFamily="18" charset="0"/>
              </a:rPr>
              <a:t> queries sequentially.</a:t>
            </a:r>
          </a:p>
          <a:p>
            <a:pPr algn="just"/>
            <a:r>
              <a:rPr lang="en-US" sz="2000" b="1" dirty="0">
                <a:solidFill>
                  <a:srgbClr val="7030A0"/>
                </a:solidFill>
                <a:effectLst/>
                <a:latin typeface="Courier New" panose="02070309020205020404" pitchFamily="49" charset="0"/>
                <a:ea typeface="Times New Roman" panose="02020603050405020304" pitchFamily="18" charset="0"/>
              </a:rPr>
              <a:t> </a:t>
            </a:r>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Number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is present in array m </a:t>
            </a:r>
          </a:p>
          <a:p>
            <a:pPr algn="just"/>
            <a:r>
              <a:rPr lang="en-US" sz="2000" b="1" dirty="0">
                <a:solidFill>
                  <a:srgbClr val="7030A0"/>
                </a:solidFill>
                <a:effectLst/>
                <a:latin typeface="Times New Roman" panose="02020603050405020304" pitchFamily="18" charset="0"/>
                <a:ea typeface="Times New Roman" panose="02020603050405020304" pitchFamily="18" charset="0"/>
              </a:rPr>
              <a:t>if </a:t>
            </a:r>
            <a:r>
              <a:rPr lang="en-US" sz="2000" b="1" i="1" dirty="0">
                <a:solidFill>
                  <a:srgbClr val="7030A0"/>
                </a:solidFill>
                <a:effectLst/>
                <a:latin typeface="Times New Roman" panose="02020603050405020304" pitchFamily="18" charset="0"/>
                <a:ea typeface="Times New Roman" panose="02020603050405020304" pitchFamily="18" charset="0"/>
              </a:rPr>
              <a:t>binary_search</a:t>
            </a:r>
            <a:r>
              <a:rPr lang="en-US" sz="2000" b="1" dirty="0">
                <a:solidFill>
                  <a:srgbClr val="7030A0"/>
                </a:solidFill>
                <a:effectLst/>
                <a:latin typeface="Times New Roman" panose="02020603050405020304" pitchFamily="18" charset="0"/>
                <a:ea typeface="Times New Roman" panose="02020603050405020304" pitchFamily="18" charset="0"/>
              </a:rPr>
              <a:t> returns </a:t>
            </a:r>
            <a:r>
              <a:rPr lang="en-US" sz="2000" b="1" i="1" dirty="0">
                <a:solidFill>
                  <a:srgbClr val="7030A0"/>
                </a:solidFill>
                <a:effectLst/>
                <a:latin typeface="Times New Roman" panose="02020603050405020304" pitchFamily="18" charset="0"/>
                <a:ea typeface="Times New Roman" panose="02020603050405020304" pitchFamily="18" charset="0"/>
              </a:rPr>
              <a:t>true</a:t>
            </a:r>
            <a:r>
              <a:rPr lang="en-US" sz="2000" b="1" dirty="0">
                <a:solidFill>
                  <a:srgbClr val="7030A0"/>
                </a:solidFill>
                <a:effectLst/>
                <a:latin typeface="Times New Roman" panose="02020603050405020304" pitchFamily="18" charset="0"/>
                <a:ea typeface="Times New Roman" panose="02020603050405020304" pitchFamily="18" charset="0"/>
              </a:rPr>
              <a:t>.</a:t>
            </a:r>
            <a:r>
              <a:rPr lang="en-US" sz="2000" b="1" dirty="0">
                <a:solidFill>
                  <a:srgbClr val="7030A0"/>
                </a:solidFill>
                <a:effectLst/>
                <a:latin typeface="Courier New" panose="02070309020205020404" pitchFamily="49" charset="0"/>
                <a:ea typeface="Times New Roman" panose="02020603050405020304" pitchFamily="18" charset="0"/>
              </a:rPr>
              <a:t> </a:t>
            </a:r>
            <a:endParaRPr lang="en-US" sz="2000"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3667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860441"/>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Function </a:t>
            </a:r>
            <a:r>
              <a:rPr lang="en-US" sz="2000" b="1" i="1" dirty="0">
                <a:effectLst/>
                <a:latin typeface="Times New Roman" panose="02020603050405020304" pitchFamily="18" charset="0"/>
                <a:ea typeface="Times New Roman" panose="02020603050405020304" pitchFamily="18" charset="0"/>
              </a:rPr>
              <a:t>lower_bound</a:t>
            </a:r>
            <a:r>
              <a:rPr lang="en-US" sz="2000" dirty="0">
                <a:effectLst/>
                <a:latin typeface="Times New Roman" panose="02020603050405020304" pitchFamily="18" charset="0"/>
                <a:ea typeface="Times New Roman" panose="02020603050405020304" pitchFamily="18" charset="0"/>
              </a:rPr>
              <a:t> returns a pointer to the first position where element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can be inserted without violating the sorted property of the array.</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9016. Binary search</a:t>
            </a:r>
            <a:endParaRPr lang="ru-RU" sz="7200"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CEB9E39-59AF-4F18-A186-097C4BB0A1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 name="Объект 4">
            <a:extLst>
              <a:ext uri="{FF2B5EF4-FFF2-40B4-BE49-F238E27FC236}">
                <a16:creationId xmlns:a16="http://schemas.microsoft.com/office/drawing/2014/main" id="{159D4268-5ADF-4FEA-ACC9-1C4A79891093}"/>
              </a:ext>
            </a:extLst>
          </p:cNvPr>
          <p:cNvGraphicFramePr>
            <a:graphicFrameLocks noChangeAspect="1"/>
          </p:cNvGraphicFramePr>
          <p:nvPr>
            <p:extLst>
              <p:ext uri="{D42A27DB-BD31-4B8C-83A1-F6EECF244321}">
                <p14:modId xmlns:p14="http://schemas.microsoft.com/office/powerpoint/2010/main" val="209266946"/>
              </p:ext>
            </p:extLst>
          </p:nvPr>
        </p:nvGraphicFramePr>
        <p:xfrm>
          <a:off x="2538862" y="2252672"/>
          <a:ext cx="6478897" cy="1570213"/>
        </p:xfrm>
        <a:graphic>
          <a:graphicData uri="http://schemas.openxmlformats.org/presentationml/2006/ole">
            <mc:AlternateContent xmlns:mc="http://schemas.openxmlformats.org/markup-compatibility/2006">
              <mc:Choice xmlns:v="urn:schemas-microsoft-com:vml" Requires="v">
                <p:oleObj spid="_x0000_s98321" name="Visio" r:id="rId4" imgW="4366678" imgH="1055048" progId="Visio.Drawing.11">
                  <p:embed/>
                </p:oleObj>
              </mc:Choice>
              <mc:Fallback>
                <p:oleObj name="Visio" r:id="rId4" imgW="4366678" imgH="105504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8862" y="2252672"/>
                        <a:ext cx="6478897" cy="1570213"/>
                      </a:xfrm>
                      <a:prstGeom prst="rect">
                        <a:avLst/>
                      </a:prstGeom>
                      <a:noFill/>
                    </p:spPr>
                  </p:pic>
                </p:oleObj>
              </mc:Fallback>
            </mc:AlternateContent>
          </a:graphicData>
        </a:graphic>
      </p:graphicFrame>
      <p:sp>
        <p:nvSpPr>
          <p:cNvPr id="11" name="TextBox 10">
            <a:extLst>
              <a:ext uri="{FF2B5EF4-FFF2-40B4-BE49-F238E27FC236}">
                <a16:creationId xmlns:a16="http://schemas.microsoft.com/office/drawing/2014/main" id="{53ED4DB1-A533-4B1E-9C9D-DFD5307829D4}"/>
              </a:ext>
            </a:extLst>
          </p:cNvPr>
          <p:cNvSpPr txBox="1"/>
          <p:nvPr/>
        </p:nvSpPr>
        <p:spPr>
          <a:xfrm>
            <a:off x="767614" y="4009270"/>
            <a:ext cx="11229359" cy="707886"/>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Function </a:t>
            </a:r>
            <a:r>
              <a:rPr lang="en-US" sz="2000" b="1" i="1" dirty="0">
                <a:effectLst/>
                <a:latin typeface="Times New Roman" panose="02020603050405020304" pitchFamily="18" charset="0"/>
                <a:ea typeface="Times New Roman" panose="02020603050405020304" pitchFamily="18" charset="0"/>
              </a:rPr>
              <a:t>upper_bound</a:t>
            </a:r>
            <a:r>
              <a:rPr lang="en-US" sz="2000" dirty="0">
                <a:effectLst/>
                <a:latin typeface="Times New Roman" panose="02020603050405020304" pitchFamily="18" charset="0"/>
                <a:ea typeface="Times New Roman" panose="02020603050405020304" pitchFamily="18" charset="0"/>
              </a:rPr>
              <a:t> returns a pointer to the last position where element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can be inserted without violating the array’s sorted property.</a:t>
            </a:r>
            <a:endParaRPr lang="en-US" dirty="0">
              <a:effectLst/>
              <a:latin typeface="Times New Roman" panose="02020603050405020304" pitchFamily="18" charset="0"/>
              <a:ea typeface="Times New Roman" panose="02020603050405020304" pitchFamily="18" charset="0"/>
            </a:endParaRPr>
          </a:p>
        </p:txBody>
      </p:sp>
      <p:graphicFrame>
        <p:nvGraphicFramePr>
          <p:cNvPr id="9" name="Объект 8">
            <a:extLst>
              <a:ext uri="{FF2B5EF4-FFF2-40B4-BE49-F238E27FC236}">
                <a16:creationId xmlns:a16="http://schemas.microsoft.com/office/drawing/2014/main" id="{9E009EFE-60A5-473B-8411-FB8FFE255AC8}"/>
              </a:ext>
            </a:extLst>
          </p:cNvPr>
          <p:cNvGraphicFramePr>
            <a:graphicFrameLocks noChangeAspect="1"/>
          </p:cNvGraphicFramePr>
          <p:nvPr>
            <p:extLst>
              <p:ext uri="{D42A27DB-BD31-4B8C-83A1-F6EECF244321}">
                <p14:modId xmlns:p14="http://schemas.microsoft.com/office/powerpoint/2010/main" val="164556741"/>
              </p:ext>
            </p:extLst>
          </p:nvPr>
        </p:nvGraphicFramePr>
        <p:xfrm>
          <a:off x="2538862" y="4824189"/>
          <a:ext cx="6720064" cy="1480014"/>
        </p:xfrm>
        <a:graphic>
          <a:graphicData uri="http://schemas.openxmlformats.org/presentationml/2006/ole">
            <mc:AlternateContent xmlns:mc="http://schemas.openxmlformats.org/markup-compatibility/2006">
              <mc:Choice xmlns:v="urn:schemas-microsoft-com:vml" Requires="v">
                <p:oleObj spid="_x0000_s98322" name="Visio" r:id="rId6" imgW="4798996" imgH="1055048" progId="Visio.Drawing.11">
                  <p:embed/>
                </p:oleObj>
              </mc:Choice>
              <mc:Fallback>
                <p:oleObj name="Visio" r:id="rId6" imgW="4798996" imgH="1055048"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8862" y="4824189"/>
                        <a:ext cx="6720064" cy="1480014"/>
                      </a:xfrm>
                      <a:prstGeom prst="rect">
                        <a:avLst/>
                      </a:prstGeom>
                      <a:noFill/>
                    </p:spPr>
                  </p:pic>
                </p:oleObj>
              </mc:Fallback>
            </mc:AlternateContent>
          </a:graphicData>
        </a:graphic>
      </p:graphicFrame>
    </p:spTree>
    <p:extLst>
      <p:ext uri="{BB962C8B-B14F-4D97-AF65-F5344CB8AC3E}">
        <p14:creationId xmlns:p14="http://schemas.microsoft.com/office/powerpoint/2010/main" val="3552687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860441"/>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If </a:t>
            </a:r>
            <a:r>
              <a:rPr lang="en-US" sz="2000" b="1" i="1" dirty="0">
                <a:solidFill>
                  <a:srgbClr val="000000"/>
                </a:solidFill>
                <a:effectLst/>
                <a:latin typeface="Times New Roman" panose="02020603050405020304" pitchFamily="18" charset="0"/>
                <a:ea typeface="Times New Roman" panose="02020603050405020304" pitchFamily="18" charset="0"/>
              </a:rPr>
              <a:t>lower_bound</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 </a:t>
            </a:r>
            <a:r>
              <a:rPr lang="en-US" sz="2000" i="1" dirty="0">
                <a:solidFill>
                  <a:srgbClr val="000000"/>
                </a:solidFill>
                <a:effectLst/>
                <a:latin typeface="Times New Roman" panose="02020603050405020304" pitchFamily="18" charset="0"/>
                <a:ea typeface="Times New Roman" panose="02020603050405020304" pitchFamily="18" charset="0"/>
              </a:rPr>
              <a:t>n</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x</a:t>
            </a:r>
            <a:r>
              <a:rPr lang="en-US" sz="2000" dirty="0">
                <a:solidFill>
                  <a:srgbClr val="000000"/>
                </a:solidFill>
                <a:effectLst/>
                <a:latin typeface="Times New Roman" panose="02020603050405020304" pitchFamily="18" charset="0"/>
                <a:ea typeface="Times New Roman" panose="02020603050405020304" pitchFamily="18" charset="0"/>
              </a:rPr>
              <a:t>) ≠ </a:t>
            </a:r>
            <a:r>
              <a:rPr lang="en-US" sz="2000" b="1" i="1" dirty="0">
                <a:solidFill>
                  <a:srgbClr val="000000"/>
                </a:solidFill>
                <a:effectLst/>
                <a:latin typeface="Times New Roman" panose="02020603050405020304" pitchFamily="18" charset="0"/>
                <a:ea typeface="Times New Roman" panose="02020603050405020304" pitchFamily="18" charset="0"/>
              </a:rPr>
              <a:t>upper_bound</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m</a:t>
            </a:r>
            <a:r>
              <a:rPr lang="en-US" sz="2000" dirty="0">
                <a:solidFill>
                  <a:srgbClr val="000000"/>
                </a:solidFill>
                <a:effectLst/>
                <a:latin typeface="Times New Roman" panose="02020603050405020304" pitchFamily="18" charset="0"/>
                <a:ea typeface="Times New Roman" panose="02020603050405020304" pitchFamily="18" charset="0"/>
              </a:rPr>
              <a:t> + </a:t>
            </a:r>
            <a:r>
              <a:rPr lang="en-US" sz="2000" i="1" dirty="0">
                <a:solidFill>
                  <a:srgbClr val="000000"/>
                </a:solidFill>
                <a:effectLst/>
                <a:latin typeface="Times New Roman" panose="02020603050405020304" pitchFamily="18" charset="0"/>
                <a:ea typeface="Times New Roman" panose="02020603050405020304" pitchFamily="18" charset="0"/>
              </a:rPr>
              <a:t>n</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x</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dirty="0">
                <a:effectLst/>
                <a:latin typeface="Times New Roman" panose="02020603050405020304" pitchFamily="18" charset="0"/>
                <a:ea typeface="Times New Roman" panose="02020603050405020304" pitchFamily="18" charset="0"/>
              </a:rPr>
              <a:t>, then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present in array.</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Otherwise, there is no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in the array.</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9016. Binary search</a:t>
            </a:r>
            <a:endParaRPr lang="ru-RU" sz="7200"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CEB9E39-59AF-4F18-A186-097C4BB0A1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 name="Объект 6">
            <a:extLst>
              <a:ext uri="{FF2B5EF4-FFF2-40B4-BE49-F238E27FC236}">
                <a16:creationId xmlns:a16="http://schemas.microsoft.com/office/drawing/2014/main" id="{7419CAFB-7C20-4BFA-9460-CD8ABB11B089}"/>
              </a:ext>
            </a:extLst>
          </p:cNvPr>
          <p:cNvGraphicFramePr>
            <a:graphicFrameLocks noChangeAspect="1"/>
          </p:cNvGraphicFramePr>
          <p:nvPr>
            <p:extLst>
              <p:ext uri="{D42A27DB-BD31-4B8C-83A1-F6EECF244321}">
                <p14:modId xmlns:p14="http://schemas.microsoft.com/office/powerpoint/2010/main" val="639734868"/>
              </p:ext>
            </p:extLst>
          </p:nvPr>
        </p:nvGraphicFramePr>
        <p:xfrm>
          <a:off x="3656605" y="1945369"/>
          <a:ext cx="7896233" cy="2559254"/>
        </p:xfrm>
        <a:graphic>
          <a:graphicData uri="http://schemas.openxmlformats.org/presentationml/2006/ole">
            <mc:AlternateContent xmlns:mc="http://schemas.openxmlformats.org/markup-compatibility/2006">
              <mc:Choice xmlns:v="urn:schemas-microsoft-com:vml" Requires="v">
                <p:oleObj spid="_x0000_s103433" name="Visio" r:id="rId4" imgW="4816773" imgH="1558816" progId="Visio.Drawing.11">
                  <p:embed/>
                </p:oleObj>
              </mc:Choice>
              <mc:Fallback>
                <p:oleObj name="Visio" r:id="rId4" imgW="4816773" imgH="1558816"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6605" y="1945369"/>
                        <a:ext cx="7896233" cy="2559254"/>
                      </a:xfrm>
                      <a:prstGeom prst="rect">
                        <a:avLst/>
                      </a:prstGeom>
                      <a:noFill/>
                    </p:spPr>
                  </p:pic>
                </p:oleObj>
              </mc:Fallback>
            </mc:AlternateContent>
          </a:graphicData>
        </a:graphic>
      </p:graphicFrame>
      <p:sp>
        <p:nvSpPr>
          <p:cNvPr id="12" name="TextBox 11">
            <a:extLst>
              <a:ext uri="{FF2B5EF4-FFF2-40B4-BE49-F238E27FC236}">
                <a16:creationId xmlns:a16="http://schemas.microsoft.com/office/drawing/2014/main" id="{9136D50F-2143-4F7C-8232-0A9C9EBBB64B}"/>
              </a:ext>
            </a:extLst>
          </p:cNvPr>
          <p:cNvSpPr txBox="1"/>
          <p:nvPr/>
        </p:nvSpPr>
        <p:spPr>
          <a:xfrm>
            <a:off x="440354" y="4025297"/>
            <a:ext cx="9723923" cy="2554545"/>
          </a:xfrm>
          <a:prstGeom prst="rect">
            <a:avLst/>
          </a:prstGeom>
          <a:noFill/>
        </p:spPr>
        <p:txBody>
          <a:bodyPr wrap="square">
            <a:spAutoFit/>
          </a:bodyPr>
          <a:lstStyle/>
          <a:p>
            <a:pPr algn="just"/>
            <a:r>
              <a:rPr lang="en-US" sz="2000" dirty="0">
                <a:solidFill>
                  <a:srgbClr val="0000FF"/>
                </a:solidFill>
                <a:effectLst/>
                <a:latin typeface="Courier New" panose="02070309020205020404" pitchFamily="49" charset="0"/>
                <a:ea typeface="Times New Roman" panose="02020603050405020304" pitchFamily="18" charset="0"/>
              </a:rPr>
              <a:t>for</a:t>
            </a:r>
            <a:r>
              <a:rPr lang="en-US" sz="2000" dirty="0">
                <a:solidFill>
                  <a:srgbClr val="000000"/>
                </a:solidFill>
                <a:effectLst/>
                <a:latin typeface="Courier New" panose="02070309020205020404" pitchFamily="49" charset="0"/>
                <a:ea typeface="Times New Roman" panose="02020603050405020304" pitchFamily="18" charset="0"/>
              </a:rPr>
              <a:t> (i = 0; i &lt; q; i++)</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scanf(</a:t>
            </a:r>
            <a:r>
              <a:rPr lang="en-US" sz="2000" dirty="0">
                <a:solidFill>
                  <a:srgbClr val="A31515"/>
                </a:solidFill>
                <a:effectLst/>
                <a:latin typeface="Courier New" panose="02070309020205020404" pitchFamily="49" charset="0"/>
                <a:ea typeface="Times New Roman" panose="02020603050405020304" pitchFamily="18" charset="0"/>
              </a:rPr>
              <a:t>"%d"</a:t>
            </a:r>
            <a:r>
              <a:rPr lang="en-US" sz="2000" dirty="0">
                <a:solidFill>
                  <a:srgbClr val="000000"/>
                </a:solidFill>
                <a:effectLst/>
                <a:latin typeface="Courier New" panose="02070309020205020404" pitchFamily="49" charset="0"/>
                <a:ea typeface="Times New Roman" panose="02020603050405020304" pitchFamily="18" charset="0"/>
              </a:rPr>
              <a:t>, &amp;x);</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FF"/>
                </a:solidFill>
                <a:effectLst/>
                <a:latin typeface="Courier New" panose="02070309020205020404" pitchFamily="49" charset="0"/>
                <a:ea typeface="Times New Roman" panose="02020603050405020304" pitchFamily="18" charset="0"/>
              </a:rPr>
              <a:t>  if</a:t>
            </a:r>
            <a:r>
              <a:rPr lang="en-US" sz="2000" dirty="0">
                <a:solidFill>
                  <a:srgbClr val="000000"/>
                </a:solidFill>
                <a:effectLst/>
                <a:latin typeface="Courier New" panose="02070309020205020404" pitchFamily="49" charset="0"/>
                <a:ea typeface="Times New Roman" panose="02020603050405020304" pitchFamily="18" charset="0"/>
              </a:rPr>
              <a:t> (lower_bound(m, m + n, x) != upper_bound(m, m + n, x))</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puts(</a:t>
            </a:r>
            <a:r>
              <a:rPr lang="en-US" sz="2000" dirty="0">
                <a:solidFill>
                  <a:srgbClr val="A31515"/>
                </a:solidFill>
                <a:effectLst/>
                <a:latin typeface="Courier New" panose="02070309020205020404" pitchFamily="49" charset="0"/>
                <a:ea typeface="Times New Roman" panose="02020603050405020304" pitchFamily="18" charset="0"/>
              </a:rPr>
              <a:t>"YES"</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FF"/>
                </a:solidFill>
                <a:effectLst/>
                <a:latin typeface="Courier New" panose="02070309020205020404" pitchFamily="49" charset="0"/>
                <a:ea typeface="Times New Roman" panose="02020603050405020304" pitchFamily="18" charset="0"/>
              </a:rPr>
              <a:t>  else</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    puts(</a:t>
            </a:r>
            <a:r>
              <a:rPr lang="en-US" sz="2000" dirty="0">
                <a:solidFill>
                  <a:srgbClr val="A31515"/>
                </a:solidFill>
                <a:effectLst/>
                <a:latin typeface="Courier New" panose="02070309020205020404" pitchFamily="49" charset="0"/>
                <a:ea typeface="Times New Roman" panose="02020603050405020304" pitchFamily="18" charset="0"/>
              </a:rPr>
              <a:t>"NO"</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p>
        </p:txBody>
      </p:sp>
    </p:spTree>
    <p:extLst>
      <p:ext uri="{BB962C8B-B14F-4D97-AF65-F5344CB8AC3E}">
        <p14:creationId xmlns:p14="http://schemas.microsoft.com/office/powerpoint/2010/main" val="148813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860441"/>
          </a:xfrm>
        </p:spPr>
        <p:txBody>
          <a:bodyPr>
            <a:noAutofit/>
          </a:bodyPr>
          <a:lstStyle/>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Java</a:t>
            </a:r>
            <a:r>
              <a:rPr lang="en-US" sz="2000" dirty="0">
                <a:effectLst/>
                <a:latin typeface="Times New Roman" panose="02020603050405020304" pitchFamily="18" charset="0"/>
                <a:ea typeface="Times New Roman" panose="02020603050405020304" pitchFamily="18" charset="0"/>
              </a:rPr>
              <a:t> function </a:t>
            </a:r>
            <a:r>
              <a:rPr lang="en-US" sz="2000" b="1" i="1" dirty="0">
                <a:effectLst/>
                <a:latin typeface="Times New Roman" panose="02020603050405020304" pitchFamily="18" charset="0"/>
                <a:ea typeface="Times New Roman" panose="02020603050405020304" pitchFamily="18" charset="0"/>
              </a:rPr>
              <a:t>Arrays.binarySearch</a:t>
            </a:r>
            <a:r>
              <a:rPr lang="en-US" sz="2000" dirty="0">
                <a:effectLst/>
                <a:latin typeface="Times New Roman" panose="02020603050405020304" pitchFamily="18" charset="0"/>
                <a:ea typeface="Times New Roman" panose="02020603050405020304" pitchFamily="18" charset="0"/>
              </a:rPr>
              <a:t>() returns the index of the element found in the array.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If array contains multiple keys, then any of its indices are returned.</a:t>
            </a:r>
            <a:endParaRPr lang="en-US"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9016. Binary search</a:t>
            </a:r>
            <a:endParaRPr lang="ru-RU" sz="7200"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CEB9E39-59AF-4F18-A186-097C4BB0A1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6" name="Объект 5">
            <a:extLst>
              <a:ext uri="{FF2B5EF4-FFF2-40B4-BE49-F238E27FC236}">
                <a16:creationId xmlns:a16="http://schemas.microsoft.com/office/drawing/2014/main" id="{9E8D64BA-E7E6-445A-AECF-1EF89A0E8F5E}"/>
              </a:ext>
            </a:extLst>
          </p:cNvPr>
          <p:cNvGraphicFramePr>
            <a:graphicFrameLocks noChangeAspect="1"/>
          </p:cNvGraphicFramePr>
          <p:nvPr>
            <p:extLst>
              <p:ext uri="{D42A27DB-BD31-4B8C-83A1-F6EECF244321}">
                <p14:modId xmlns:p14="http://schemas.microsoft.com/office/powerpoint/2010/main" val="400834102"/>
              </p:ext>
            </p:extLst>
          </p:nvPr>
        </p:nvGraphicFramePr>
        <p:xfrm>
          <a:off x="1742173" y="2164519"/>
          <a:ext cx="7881871" cy="1500665"/>
        </p:xfrm>
        <a:graphic>
          <a:graphicData uri="http://schemas.openxmlformats.org/presentationml/2006/ole">
            <mc:AlternateContent xmlns:mc="http://schemas.openxmlformats.org/markup-compatibility/2006">
              <mc:Choice xmlns:v="urn:schemas-microsoft-com:vml" Requires="v">
                <p:oleObj spid="_x0000_s104465" name="Visio" r:id="rId4" imgW="5554702" imgH="1055048" progId="Visio.Drawing.11">
                  <p:embed/>
                </p:oleObj>
              </mc:Choice>
              <mc:Fallback>
                <p:oleObj name="Visio" r:id="rId4" imgW="5554702" imgH="105504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2173" y="2164519"/>
                        <a:ext cx="7881871" cy="1500665"/>
                      </a:xfrm>
                      <a:prstGeom prst="rect">
                        <a:avLst/>
                      </a:prstGeom>
                      <a:noFill/>
                    </p:spPr>
                  </p:pic>
                </p:oleObj>
              </mc:Fallback>
            </mc:AlternateContent>
          </a:graphicData>
        </a:graphic>
      </p:graphicFrame>
      <p:sp>
        <p:nvSpPr>
          <p:cNvPr id="10" name="TextBox 9">
            <a:extLst>
              <a:ext uri="{FF2B5EF4-FFF2-40B4-BE49-F238E27FC236}">
                <a16:creationId xmlns:a16="http://schemas.microsoft.com/office/drawing/2014/main" id="{F6CE0CF6-E9C4-42AD-ACA3-62EBCA8FD2EC}"/>
              </a:ext>
            </a:extLst>
          </p:cNvPr>
          <p:cNvSpPr txBox="1"/>
          <p:nvPr/>
        </p:nvSpPr>
        <p:spPr>
          <a:xfrm>
            <a:off x="892743" y="3918898"/>
            <a:ext cx="10590196" cy="1015663"/>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If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not present in array m, then function </a:t>
            </a:r>
            <a:r>
              <a:rPr lang="en-US" sz="2000" b="1" i="1" dirty="0">
                <a:effectLst/>
                <a:latin typeface="Times New Roman" panose="02020603050405020304" pitchFamily="18" charset="0"/>
                <a:ea typeface="Times New Roman" panose="02020603050405020304" pitchFamily="18" charset="0"/>
              </a:rPr>
              <a:t>Arrays.binarySearch</a:t>
            </a:r>
            <a:r>
              <a:rPr lang="en-US" sz="2000" dirty="0">
                <a:effectLst/>
                <a:latin typeface="Times New Roman" panose="02020603050405020304" pitchFamily="18" charset="0"/>
                <a:ea typeface="Times New Roman" panose="02020603050405020304" pitchFamily="18" charset="0"/>
              </a:rPr>
              <a:t>(m,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returns value –</a:t>
            </a:r>
            <a:r>
              <a:rPr lang="en-US" sz="2000" i="1" dirty="0">
                <a:effectLst/>
                <a:latin typeface="Times New Roman" panose="02020603050405020304" pitchFamily="18" charset="0"/>
                <a:ea typeface="Times New Roman" panose="02020603050405020304" pitchFamily="18" charset="0"/>
              </a:rPr>
              <a:t>pos</a:t>
            </a:r>
            <a:r>
              <a:rPr lang="en-US" sz="2000" dirty="0">
                <a:effectLst/>
                <a:latin typeface="Times New Roman" panose="02020603050405020304" pitchFamily="18" charset="0"/>
                <a:ea typeface="Times New Roman" panose="02020603050405020304" pitchFamily="18" charset="0"/>
              </a:rPr>
              <a:t> – 1, where </a:t>
            </a:r>
            <a:r>
              <a:rPr lang="en-US" sz="2000" i="1" dirty="0">
                <a:effectLst/>
                <a:latin typeface="Times New Roman" panose="02020603050405020304" pitchFamily="18" charset="0"/>
                <a:ea typeface="Times New Roman" panose="02020603050405020304" pitchFamily="18" charset="0"/>
              </a:rPr>
              <a:t>pos</a:t>
            </a:r>
            <a:r>
              <a:rPr lang="en-US" sz="2000" dirty="0">
                <a:effectLst/>
                <a:latin typeface="Times New Roman" panose="02020603050405020304" pitchFamily="18" charset="0"/>
                <a:ea typeface="Times New Roman" panose="02020603050405020304" pitchFamily="18" charset="0"/>
              </a:rPr>
              <a:t> is the index of the first element greater than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a:t>
            </a:r>
          </a:p>
          <a:p>
            <a:pPr algn="just"/>
            <a:r>
              <a:rPr lang="en-US" sz="2000" dirty="0">
                <a:effectLst/>
                <a:latin typeface="Times New Roman" panose="02020603050405020304" pitchFamily="18" charset="0"/>
                <a:ea typeface="Times New Roman" panose="02020603050405020304" pitchFamily="18" charset="0"/>
              </a:rPr>
              <a:t>If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greater than all the elements in array m, then </a:t>
            </a:r>
            <a:r>
              <a:rPr lang="en-US" sz="2000" i="1" dirty="0">
                <a:effectLst/>
                <a:latin typeface="Times New Roman" panose="02020603050405020304" pitchFamily="18" charset="0"/>
                <a:ea typeface="Times New Roman" panose="02020603050405020304" pitchFamily="18" charset="0"/>
              </a:rPr>
              <a:t>pos</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a:t>
            </a:r>
            <a:r>
              <a:rPr lang="en-US" sz="2000" i="1" dirty="0">
                <a:effectLst/>
                <a:latin typeface="Times New Roman" panose="02020603050405020304" pitchFamily="18" charset="0"/>
                <a:ea typeface="Times New Roman" panose="02020603050405020304" pitchFamily="18" charset="0"/>
              </a:rPr>
              <a:t>length</a:t>
            </a:r>
            <a:r>
              <a:rPr lang="en-US" sz="2000" dirty="0">
                <a:effectLst/>
                <a:latin typeface="Times New Roman" panose="02020603050405020304" pitchFamily="18" charset="0"/>
                <a:ea typeface="Times New Roman" panose="02020603050405020304" pitchFamily="18" charset="0"/>
              </a:rPr>
              <a:t>.</a:t>
            </a:r>
            <a:endParaRPr lang="en-US" dirty="0">
              <a:effectLst/>
              <a:latin typeface="Times New Roman" panose="02020603050405020304" pitchFamily="18" charset="0"/>
              <a:ea typeface="Times New Roman" panose="02020603050405020304" pitchFamily="18" charset="0"/>
            </a:endParaRPr>
          </a:p>
        </p:txBody>
      </p:sp>
      <p:graphicFrame>
        <p:nvGraphicFramePr>
          <p:cNvPr id="12" name="Объект 11">
            <a:extLst>
              <a:ext uri="{FF2B5EF4-FFF2-40B4-BE49-F238E27FC236}">
                <a16:creationId xmlns:a16="http://schemas.microsoft.com/office/drawing/2014/main" id="{2E8C97F8-8D25-4BB5-A990-EB6A355DF827}"/>
              </a:ext>
            </a:extLst>
          </p:cNvPr>
          <p:cNvGraphicFramePr>
            <a:graphicFrameLocks noChangeAspect="1"/>
          </p:cNvGraphicFramePr>
          <p:nvPr>
            <p:extLst>
              <p:ext uri="{D42A27DB-BD31-4B8C-83A1-F6EECF244321}">
                <p14:modId xmlns:p14="http://schemas.microsoft.com/office/powerpoint/2010/main" val="3278319889"/>
              </p:ext>
            </p:extLst>
          </p:nvPr>
        </p:nvGraphicFramePr>
        <p:xfrm>
          <a:off x="2290812" y="5078875"/>
          <a:ext cx="8158541" cy="1467744"/>
        </p:xfrm>
        <a:graphic>
          <a:graphicData uri="http://schemas.openxmlformats.org/presentationml/2006/ole">
            <mc:AlternateContent xmlns:mc="http://schemas.openxmlformats.org/markup-compatibility/2006">
              <mc:Choice xmlns:v="urn:schemas-microsoft-com:vml" Requires="v">
                <p:oleObj spid="_x0000_s104466" name="Visio" r:id="rId6" imgW="5878846" imgH="1055048" progId="Visio.Drawing.11">
                  <p:embed/>
                </p:oleObj>
              </mc:Choice>
              <mc:Fallback>
                <p:oleObj name="Visio" r:id="rId6" imgW="5878846" imgH="1055048"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0812" y="5078875"/>
                        <a:ext cx="8158541" cy="1467744"/>
                      </a:xfrm>
                      <a:prstGeom prst="rect">
                        <a:avLst/>
                      </a:prstGeom>
                      <a:noFill/>
                    </p:spPr>
                  </p:pic>
                </p:oleObj>
              </mc:Fallback>
            </mc:AlternateContent>
          </a:graphicData>
        </a:graphic>
      </p:graphicFrame>
    </p:spTree>
    <p:extLst>
      <p:ext uri="{BB962C8B-B14F-4D97-AF65-F5344CB8AC3E}">
        <p14:creationId xmlns:p14="http://schemas.microsoft.com/office/powerpoint/2010/main" val="3928098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29537" y="1493306"/>
            <a:ext cx="11229359" cy="1685437"/>
          </a:xfrm>
        </p:spPr>
        <p:txBody>
          <a:bodyPr>
            <a:noAutofit/>
          </a:bodyPr>
          <a:lstStyle/>
          <a:p>
            <a:pPr algn="just">
              <a:lnSpc>
                <a:spcPct val="100000"/>
              </a:lnSpc>
              <a:spcBef>
                <a:spcPts val="0"/>
              </a:spcBef>
            </a:pPr>
            <a:r>
              <a:rPr lang="en-US" sz="2000" b="1" i="1" dirty="0">
                <a:effectLst/>
                <a:latin typeface="Times New Roman" panose="02020603050405020304" pitchFamily="18" charset="0"/>
                <a:ea typeface="Times New Roman" panose="02020603050405020304" pitchFamily="18" charset="0"/>
              </a:rPr>
              <a:t>Implementation of own binary search.</a:t>
            </a:r>
            <a:r>
              <a:rPr lang="en-US" sz="2000" dirty="0">
                <a:effectLst/>
                <a:latin typeface="Times New Roman" panose="02020603050405020304" pitchFamily="18" charset="0"/>
                <a:ea typeface="Times New Roman" panose="02020603050405020304" pitchFamily="18" charset="0"/>
              </a:rPr>
              <a:t> Let the element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in the array m be searched for in the interval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Divide the segment in half, put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 2. </a:t>
            </a:r>
          </a:p>
          <a:p>
            <a:pPr algn="just">
              <a:lnSpc>
                <a:spcPct val="100000"/>
              </a:lnSpc>
              <a:spcBef>
                <a:spcPts val="0"/>
              </a:spcBef>
            </a:pPr>
            <a:endParaRPr lang="en-US" sz="2000" dirty="0">
              <a:effectLst/>
              <a:latin typeface="Times New Roman" panose="02020603050405020304" pitchFamily="18" charset="0"/>
              <a:ea typeface="Times New Roman" panose="02020603050405020304" pitchFamily="18" charset="0"/>
            </a:endParaRPr>
          </a:p>
          <a:p>
            <a:pPr marL="342900" indent="-342900" algn="just">
              <a:lnSpc>
                <a:spcPct val="100000"/>
              </a:lnSpc>
              <a:spcBef>
                <a:spcPts val="0"/>
              </a:spcBef>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If </a:t>
            </a:r>
            <a:r>
              <a:rPr lang="en-US" sz="2000" i="1" dirty="0">
                <a:solidFill>
                  <a:srgbClr val="000000"/>
                </a:solidFill>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&gt; m[</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then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lies on the segment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+ 1;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a:t>
            </a:r>
          </a:p>
          <a:p>
            <a:pPr marL="342900" indent="-342900" algn="just">
              <a:lnSpc>
                <a:spcPct val="100000"/>
              </a:lnSpc>
              <a:spcBef>
                <a:spcPts val="0"/>
              </a:spcBef>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Otherwise, the search should be continued on the segment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9016. Binary search</a:t>
            </a:r>
            <a:endParaRPr lang="ru-RU" sz="7200"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CEB9E39-59AF-4F18-A186-097C4BB0A1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 name="Объект 6">
            <a:extLst>
              <a:ext uri="{FF2B5EF4-FFF2-40B4-BE49-F238E27FC236}">
                <a16:creationId xmlns:a16="http://schemas.microsoft.com/office/drawing/2014/main" id="{B1F780E6-4D2B-4F9E-8C0D-D7092AA7056C}"/>
              </a:ext>
            </a:extLst>
          </p:cNvPr>
          <p:cNvGraphicFramePr>
            <a:graphicFrameLocks noChangeAspect="1"/>
          </p:cNvGraphicFramePr>
          <p:nvPr>
            <p:extLst>
              <p:ext uri="{D42A27DB-BD31-4B8C-83A1-F6EECF244321}">
                <p14:modId xmlns:p14="http://schemas.microsoft.com/office/powerpoint/2010/main" val="1977160222"/>
              </p:ext>
            </p:extLst>
          </p:nvPr>
        </p:nvGraphicFramePr>
        <p:xfrm>
          <a:off x="5612833" y="4150895"/>
          <a:ext cx="6063183" cy="1815877"/>
        </p:xfrm>
        <a:graphic>
          <a:graphicData uri="http://schemas.openxmlformats.org/presentationml/2006/ole">
            <mc:AlternateContent xmlns:mc="http://schemas.openxmlformats.org/markup-compatibility/2006">
              <mc:Choice xmlns:v="urn:schemas-microsoft-com:vml" Requires="v">
                <p:oleObj spid="_x0000_s105481" name="Visio" r:id="rId4" imgW="3754700" imgH="1126692" progId="Visio.Drawing.11">
                  <p:embed/>
                </p:oleObj>
              </mc:Choice>
              <mc:Fallback>
                <p:oleObj name="Visio" r:id="rId4" imgW="3754700" imgH="1126692"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2833" y="4150895"/>
                        <a:ext cx="6063183" cy="1815877"/>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C926E9E2-9278-478E-A6BA-6DC0C02AC7A2}"/>
              </a:ext>
            </a:extLst>
          </p:cNvPr>
          <p:cNvSpPr txBox="1"/>
          <p:nvPr/>
        </p:nvSpPr>
        <p:spPr>
          <a:xfrm>
            <a:off x="629537" y="3064131"/>
            <a:ext cx="8803221" cy="3785652"/>
          </a:xfrm>
          <a:prstGeom prst="rect">
            <a:avLst/>
          </a:prstGeom>
          <a:noFill/>
        </p:spPr>
        <p:txBody>
          <a:bodyPr wrap="square">
            <a:spAutoFit/>
          </a:bodyPr>
          <a:lstStyle/>
          <a:p>
            <a:pPr algn="just"/>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my_bin_search(</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*m,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start,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end,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x)</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FF"/>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while</a:t>
            </a:r>
            <a:r>
              <a:rPr lang="en-US" sz="2000" dirty="0">
                <a:solidFill>
                  <a:srgbClr val="000000"/>
                </a:solidFill>
                <a:effectLst/>
                <a:latin typeface="Courier New" panose="02070309020205020404" pitchFamily="49" charset="0"/>
                <a:ea typeface="Times New Roman" panose="02020603050405020304" pitchFamily="18" charset="0"/>
              </a:rPr>
              <a:t> (start &lt; end)</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FF"/>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mid = (start + end) / 2;</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FF"/>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if</a:t>
            </a:r>
            <a:r>
              <a:rPr lang="en-US" sz="2000" dirty="0">
                <a:solidFill>
                  <a:srgbClr val="000000"/>
                </a:solidFill>
                <a:effectLst/>
                <a:latin typeface="Courier New" panose="02070309020205020404" pitchFamily="49" charset="0"/>
                <a:ea typeface="Times New Roman" panose="02020603050405020304" pitchFamily="18" charset="0"/>
              </a:rPr>
              <a:t> (x &gt; m[mid])</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00"/>
                </a:solidFill>
                <a:effectLst/>
                <a:latin typeface="Courier New" panose="02070309020205020404" pitchFamily="49" charset="0"/>
                <a:ea typeface="Times New Roman" panose="02020603050405020304" pitchFamily="18" charset="0"/>
              </a:rPr>
              <a:t>start = mid + 1;</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FF"/>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else</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00"/>
                </a:solidFill>
                <a:effectLst/>
                <a:latin typeface="Courier New" panose="02070309020205020404" pitchFamily="49" charset="0"/>
                <a:ea typeface="Times New Roman" panose="02020603050405020304" pitchFamily="18" charset="0"/>
              </a:rPr>
              <a:t>end = mid;</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r>
              <a:rPr lang="ru-RU" sz="2000" dirty="0">
                <a:solidFill>
                  <a:srgbClr val="0000FF"/>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return</a:t>
            </a:r>
            <a:r>
              <a:rPr lang="en-US" sz="2000" dirty="0">
                <a:solidFill>
                  <a:srgbClr val="000000"/>
                </a:solidFill>
                <a:effectLst/>
                <a:latin typeface="Courier New" panose="02070309020205020404" pitchFamily="49" charset="0"/>
                <a:ea typeface="Times New Roman" panose="02020603050405020304" pitchFamily="18" charset="0"/>
              </a:rPr>
              <a:t> m[start] == x;</a:t>
            </a:r>
            <a:endParaRPr lang="ru-RU" sz="2000" dirty="0">
              <a:effectLst/>
              <a:latin typeface="Times New Roman" panose="02020603050405020304" pitchFamily="18" charset="0"/>
              <a:ea typeface="Times New Roman" panose="02020603050405020304" pitchFamily="18" charset="0"/>
            </a:endParaRPr>
          </a:p>
          <a:p>
            <a:pPr algn="just"/>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18608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2582487"/>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Sorted array of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is given. You must answer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queries: how many times the given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appears in the array.</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First line contains two integers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Second line contains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sorted in increasing order. Each of the next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lines contains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The numbers in array do not exceed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 by absolute value.</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 each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print on a separate line the number of times it appears in array.</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9017. Binary search - 1</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639162" y="3717758"/>
            <a:ext cx="2842660" cy="20266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6 3</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2 4 4 8 11 14</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10</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4</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2</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12828" y="3717758"/>
            <a:ext cx="2199604" cy="12488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0</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1</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296B15D-A87D-445B-9D91-E7A5578EA26D}"/>
              </a:ext>
            </a:extLst>
          </p:cNvPr>
          <p:cNvSpPr txBox="1"/>
          <p:nvPr/>
        </p:nvSpPr>
        <p:spPr>
          <a:xfrm>
            <a:off x="4656221" y="4415079"/>
            <a:ext cx="7212300" cy="1631216"/>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The number of times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occurs in the sorted array is </a:t>
            </a:r>
          </a:p>
          <a:p>
            <a:pPr algn="ctr"/>
            <a:r>
              <a:rPr lang="en-US" sz="2000" b="1" i="1" dirty="0">
                <a:solidFill>
                  <a:srgbClr val="7030A0"/>
                </a:solidFill>
                <a:effectLst/>
                <a:latin typeface="Times New Roman" panose="02020603050405020304" pitchFamily="18" charset="0"/>
                <a:ea typeface="Times New Roman" panose="02020603050405020304" pitchFamily="18" charset="0"/>
              </a:rPr>
              <a:t>upper_bound</a:t>
            </a:r>
            <a:r>
              <a:rPr lang="en-US" sz="2000" b="1" dirty="0">
                <a:solidFill>
                  <a:srgbClr val="7030A0"/>
                </a:solidFill>
                <a:effectLst/>
                <a:latin typeface="Times New Roman" panose="02020603050405020304" pitchFamily="18" charset="0"/>
                <a:ea typeface="Times New Roman" panose="02020603050405020304" pitchFamily="18" charset="0"/>
              </a:rPr>
              <a:t>(</a:t>
            </a:r>
            <a:r>
              <a:rPr lang="en-US" sz="2000" b="1" i="1" dirty="0">
                <a:solidFill>
                  <a:srgbClr val="7030A0"/>
                </a:solidFill>
                <a:effectLst/>
                <a:latin typeface="Times New Roman" panose="02020603050405020304" pitchFamily="18" charset="0"/>
                <a:ea typeface="Times New Roman" panose="02020603050405020304" pitchFamily="18" charset="0"/>
              </a:rPr>
              <a:t>m</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m</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lower_bound</a:t>
            </a:r>
            <a:r>
              <a:rPr lang="en-US" sz="2000" b="1" dirty="0">
                <a:solidFill>
                  <a:srgbClr val="7030A0"/>
                </a:solidFill>
                <a:effectLst/>
                <a:latin typeface="Times New Roman" panose="02020603050405020304" pitchFamily="18" charset="0"/>
                <a:ea typeface="Times New Roman" panose="02020603050405020304" pitchFamily="18" charset="0"/>
              </a:rPr>
              <a:t>(</a:t>
            </a:r>
            <a:r>
              <a:rPr lang="en-US" sz="2000" b="1" i="1" dirty="0">
                <a:solidFill>
                  <a:srgbClr val="7030A0"/>
                </a:solidFill>
                <a:effectLst/>
                <a:latin typeface="Times New Roman" panose="02020603050405020304" pitchFamily="18" charset="0"/>
                <a:ea typeface="Times New Roman" panose="02020603050405020304" pitchFamily="18" charset="0"/>
              </a:rPr>
              <a:t>m</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m</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a:t>
            </a:r>
          </a:p>
          <a:p>
            <a:pPr algn="just"/>
            <a:endParaRPr lang="en-US" sz="2000" b="1" dirty="0">
              <a:solidFill>
                <a:srgbClr val="7030A0"/>
              </a:solidFill>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These functions can be taken from the STL template library or implemented independently.</a:t>
            </a:r>
            <a:endParaRPr lang="en-US"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16182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994319"/>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Let all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elements of array m be in cells from 0 to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Then the </a:t>
            </a:r>
            <a:r>
              <a:rPr lang="en-US" sz="2000" b="1" i="1" dirty="0">
                <a:solidFill>
                  <a:srgbClr val="000000"/>
                </a:solidFill>
                <a:effectLst/>
                <a:latin typeface="Times New Roman" panose="02020603050405020304" pitchFamily="18" charset="0"/>
                <a:ea typeface="Times New Roman" panose="02020603050405020304" pitchFamily="18" charset="0"/>
              </a:rPr>
              <a:t>lower_bound</a:t>
            </a:r>
            <a:r>
              <a:rPr lang="en-US" sz="2000" dirty="0">
                <a:solidFill>
                  <a:srgbClr val="000000"/>
                </a:solidFill>
                <a:effectLst/>
                <a:latin typeface="Times New Roman" panose="02020603050405020304" pitchFamily="18" charset="0"/>
                <a:ea typeface="Times New Roman" panose="02020603050405020304" pitchFamily="18" charset="0"/>
              </a:rPr>
              <a:t> and </a:t>
            </a:r>
            <a:r>
              <a:rPr lang="en-US" sz="2000" b="1" i="1" dirty="0">
                <a:solidFill>
                  <a:srgbClr val="000000"/>
                </a:solidFill>
                <a:effectLst/>
                <a:latin typeface="Times New Roman" panose="02020603050405020304" pitchFamily="18" charset="0"/>
                <a:ea typeface="Times New Roman" panose="02020603050405020304" pitchFamily="18" charset="0"/>
              </a:rPr>
              <a:t>upper_bound</a:t>
            </a:r>
            <a:r>
              <a:rPr lang="en-US" sz="2000" dirty="0">
                <a:effectLst/>
                <a:latin typeface="Times New Roman" panose="02020603050405020304" pitchFamily="18" charset="0"/>
                <a:ea typeface="Times New Roman" panose="02020603050405020304" pitchFamily="18" charset="0"/>
              </a:rPr>
              <a:t> can return values from 0 to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Therefore, binary search should be performed within these limits.</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9017. Binary search - 1</a:t>
            </a:r>
            <a:endParaRPr lang="ru-RU" sz="7200" b="1" dirty="0">
              <a:latin typeface="Times New Roman" panose="02020603050405020304" pitchFamily="18" charset="0"/>
              <a:cs typeface="Times New Roman" panose="02020603050405020304" pitchFamily="18" charset="0"/>
            </a:endParaRPr>
          </a:p>
        </p:txBody>
      </p:sp>
      <p:graphicFrame>
        <p:nvGraphicFramePr>
          <p:cNvPr id="5" name="Объект 4">
            <a:extLst>
              <a:ext uri="{FF2B5EF4-FFF2-40B4-BE49-F238E27FC236}">
                <a16:creationId xmlns:a16="http://schemas.microsoft.com/office/drawing/2014/main" id="{E113CA8E-35D8-401B-8019-00FD69615205}"/>
              </a:ext>
            </a:extLst>
          </p:cNvPr>
          <p:cNvGraphicFramePr>
            <a:graphicFrameLocks noChangeAspect="1"/>
          </p:cNvGraphicFramePr>
          <p:nvPr>
            <p:extLst>
              <p:ext uri="{D42A27DB-BD31-4B8C-83A1-F6EECF244321}">
                <p14:modId xmlns:p14="http://schemas.microsoft.com/office/powerpoint/2010/main" val="529662242"/>
              </p:ext>
            </p:extLst>
          </p:nvPr>
        </p:nvGraphicFramePr>
        <p:xfrm>
          <a:off x="4498460" y="3799567"/>
          <a:ext cx="7189131" cy="2175309"/>
        </p:xfrm>
        <a:graphic>
          <a:graphicData uri="http://schemas.openxmlformats.org/presentationml/2006/ole">
            <mc:AlternateContent xmlns:mc="http://schemas.openxmlformats.org/markup-compatibility/2006">
              <mc:Choice xmlns:v="urn:schemas-microsoft-com:vml" Requires="v">
                <p:oleObj spid="_x0000_s106504" name="Visio" r:id="rId4" imgW="5158694" imgH="1558816" progId="Visio.Drawing.11">
                  <p:embed/>
                </p:oleObj>
              </mc:Choice>
              <mc:Fallback>
                <p:oleObj name="Visio" r:id="rId4" imgW="5158694" imgH="1558816"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8460" y="3799567"/>
                        <a:ext cx="7189131" cy="2175309"/>
                      </a:xfrm>
                      <a:prstGeom prst="rect">
                        <a:avLst/>
                      </a:prstGeom>
                      <a:noFill/>
                    </p:spPr>
                  </p:pic>
                </p:oleObj>
              </mc:Fallback>
            </mc:AlternateContent>
          </a:graphicData>
        </a:graphic>
      </p:graphicFrame>
      <p:sp>
        <p:nvSpPr>
          <p:cNvPr id="12" name="TextBox 11">
            <a:extLst>
              <a:ext uri="{FF2B5EF4-FFF2-40B4-BE49-F238E27FC236}">
                <a16:creationId xmlns:a16="http://schemas.microsoft.com/office/drawing/2014/main" id="{C428940C-5887-4923-A6DF-2EBAF61E2F4B}"/>
              </a:ext>
            </a:extLst>
          </p:cNvPr>
          <p:cNvSpPr txBox="1"/>
          <p:nvPr/>
        </p:nvSpPr>
        <p:spPr>
          <a:xfrm>
            <a:off x="639162" y="2733575"/>
            <a:ext cx="8822472" cy="3785652"/>
          </a:xfrm>
          <a:prstGeom prst="rect">
            <a:avLst/>
          </a:prstGeom>
          <a:noFill/>
        </p:spPr>
        <p:txBody>
          <a:bodyPr wrap="square">
            <a:spAutoFit/>
          </a:bodyPr>
          <a:lstStyle/>
          <a:p>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my_lower_bound(</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m</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while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&lt;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int</a:t>
            </a:r>
            <a:r>
              <a:rPr lang="en-US" sz="2000" dirty="0">
                <a:solidFill>
                  <a:srgbClr val="000000"/>
                </a:solidFill>
                <a:effectLst/>
                <a:latin typeface="Courier New" panose="02070309020205020404" pitchFamily="49" charset="0"/>
                <a:ea typeface="Times New Roman" panose="02020603050405020304" pitchFamily="18" charset="0"/>
              </a:rPr>
              <a:t> mid =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 / 2;</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if</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 &lt;= </a:t>
            </a:r>
            <a:r>
              <a:rPr lang="en-US" sz="2000" dirty="0">
                <a:solidFill>
                  <a:srgbClr val="808080"/>
                </a:solidFill>
                <a:effectLst/>
                <a:latin typeface="Courier New" panose="02070309020205020404" pitchFamily="49" charset="0"/>
                <a:ea typeface="Times New Roman" panose="02020603050405020304" pitchFamily="18" charset="0"/>
              </a:rPr>
              <a:t>m</a:t>
            </a:r>
            <a:r>
              <a:rPr lang="en-US" sz="2000" dirty="0">
                <a:solidFill>
                  <a:srgbClr val="000000"/>
                </a:solidFill>
                <a:effectLst/>
                <a:latin typeface="Courier New" panose="02070309020205020404" pitchFamily="49" charset="0"/>
                <a:ea typeface="Times New Roman" panose="02020603050405020304" pitchFamily="18" charset="0"/>
              </a:rPr>
              <a:t>[mid])</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808080"/>
                </a:solidFill>
                <a:effectLst/>
                <a:latin typeface="Courier New" panose="02070309020205020404" pitchFamily="49" charset="0"/>
                <a:ea typeface="Times New Roman" panose="02020603050405020304" pitchFamily="18" charset="0"/>
              </a:rPr>
              <a:t>      end</a:t>
            </a:r>
            <a:r>
              <a:rPr lang="en-US" sz="2000" dirty="0">
                <a:solidFill>
                  <a:srgbClr val="000000"/>
                </a:solidFill>
                <a:effectLst/>
                <a:latin typeface="Courier New" panose="02070309020205020404" pitchFamily="49" charset="0"/>
                <a:ea typeface="Times New Roman" panose="02020603050405020304" pitchFamily="18" charset="0"/>
              </a:rPr>
              <a:t> = mid;</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else</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808080"/>
                </a:solidFill>
                <a:effectLst/>
                <a:latin typeface="Courier New" panose="02070309020205020404" pitchFamily="49" charset="0"/>
                <a:ea typeface="Times New Roman" panose="02020603050405020304" pitchFamily="18" charset="0"/>
              </a:rPr>
              <a:t>      start</a:t>
            </a:r>
            <a:r>
              <a:rPr lang="en-US" sz="2000" dirty="0">
                <a:solidFill>
                  <a:srgbClr val="000000"/>
                </a:solidFill>
                <a:effectLst/>
                <a:latin typeface="Courier New" panose="02070309020205020404" pitchFamily="49" charset="0"/>
                <a:ea typeface="Times New Roman" panose="02020603050405020304" pitchFamily="18" charset="0"/>
              </a:rPr>
              <a:t> = mid + 1;</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return</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25101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Discrete binary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994319"/>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Let all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elements of array m be in cells from 0 to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Then the </a:t>
            </a:r>
            <a:r>
              <a:rPr lang="en-US" sz="2000" b="1" i="1" dirty="0">
                <a:solidFill>
                  <a:srgbClr val="000000"/>
                </a:solidFill>
                <a:effectLst/>
                <a:latin typeface="Times New Roman" panose="02020603050405020304" pitchFamily="18" charset="0"/>
                <a:ea typeface="Times New Roman" panose="02020603050405020304" pitchFamily="18" charset="0"/>
              </a:rPr>
              <a:t>lower_bound</a:t>
            </a:r>
            <a:r>
              <a:rPr lang="en-US" sz="2000" dirty="0">
                <a:solidFill>
                  <a:srgbClr val="000000"/>
                </a:solidFill>
                <a:effectLst/>
                <a:latin typeface="Times New Roman" panose="02020603050405020304" pitchFamily="18" charset="0"/>
                <a:ea typeface="Times New Roman" panose="02020603050405020304" pitchFamily="18" charset="0"/>
              </a:rPr>
              <a:t> and </a:t>
            </a:r>
            <a:r>
              <a:rPr lang="en-US" sz="2000" b="1" i="1" dirty="0">
                <a:solidFill>
                  <a:srgbClr val="000000"/>
                </a:solidFill>
                <a:effectLst/>
                <a:latin typeface="Times New Roman" panose="02020603050405020304" pitchFamily="18" charset="0"/>
                <a:ea typeface="Times New Roman" panose="02020603050405020304" pitchFamily="18" charset="0"/>
              </a:rPr>
              <a:t>upper_bound</a:t>
            </a:r>
            <a:r>
              <a:rPr lang="en-US" sz="2000" dirty="0">
                <a:effectLst/>
                <a:latin typeface="Times New Roman" panose="02020603050405020304" pitchFamily="18" charset="0"/>
                <a:ea typeface="Times New Roman" panose="02020603050405020304" pitchFamily="18" charset="0"/>
              </a:rPr>
              <a:t> can return values from 0 to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Therefore, binary search should be performed within these limits.</a:t>
            </a: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9017. Binary search - 1</a:t>
            </a:r>
            <a:endParaRPr lang="ru-RU" sz="7200" b="1" dirty="0">
              <a:latin typeface="Times New Roman" panose="02020603050405020304" pitchFamily="18" charset="0"/>
              <a:cs typeface="Times New Roman" panose="02020603050405020304" pitchFamily="18" charset="0"/>
            </a:endParaRPr>
          </a:p>
        </p:txBody>
      </p:sp>
      <p:graphicFrame>
        <p:nvGraphicFramePr>
          <p:cNvPr id="5" name="Объект 4">
            <a:extLst>
              <a:ext uri="{FF2B5EF4-FFF2-40B4-BE49-F238E27FC236}">
                <a16:creationId xmlns:a16="http://schemas.microsoft.com/office/drawing/2014/main" id="{E113CA8E-35D8-401B-8019-00FD69615205}"/>
              </a:ext>
            </a:extLst>
          </p:cNvPr>
          <p:cNvGraphicFramePr>
            <a:graphicFrameLocks noChangeAspect="1"/>
          </p:cNvGraphicFramePr>
          <p:nvPr/>
        </p:nvGraphicFramePr>
        <p:xfrm>
          <a:off x="4498460" y="3799567"/>
          <a:ext cx="7189131" cy="2175309"/>
        </p:xfrm>
        <a:graphic>
          <a:graphicData uri="http://schemas.openxmlformats.org/presentationml/2006/ole">
            <mc:AlternateContent xmlns:mc="http://schemas.openxmlformats.org/markup-compatibility/2006">
              <mc:Choice xmlns:v="urn:schemas-microsoft-com:vml" Requires="v">
                <p:oleObj spid="_x0000_s108551" name="Visio" r:id="rId4" imgW="5158694" imgH="1558816" progId="Visio.Drawing.11">
                  <p:embed/>
                </p:oleObj>
              </mc:Choice>
              <mc:Fallback>
                <p:oleObj name="Visio" r:id="rId4" imgW="5158694" imgH="1558816" progId="Visio.Drawing.11">
                  <p:embed/>
                  <p:pic>
                    <p:nvPicPr>
                      <p:cNvPr id="5" name="Объект 4">
                        <a:extLst>
                          <a:ext uri="{FF2B5EF4-FFF2-40B4-BE49-F238E27FC236}">
                            <a16:creationId xmlns:a16="http://schemas.microsoft.com/office/drawing/2014/main" id="{E113CA8E-35D8-401B-8019-00FD696152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8460" y="3799567"/>
                        <a:ext cx="7189131" cy="2175309"/>
                      </a:xfrm>
                      <a:prstGeom prst="rect">
                        <a:avLst/>
                      </a:prstGeom>
                      <a:noFill/>
                    </p:spPr>
                  </p:pic>
                </p:oleObj>
              </mc:Fallback>
            </mc:AlternateContent>
          </a:graphicData>
        </a:graphic>
      </p:graphicFrame>
      <p:sp>
        <p:nvSpPr>
          <p:cNvPr id="12" name="TextBox 11">
            <a:extLst>
              <a:ext uri="{FF2B5EF4-FFF2-40B4-BE49-F238E27FC236}">
                <a16:creationId xmlns:a16="http://schemas.microsoft.com/office/drawing/2014/main" id="{C428940C-5887-4923-A6DF-2EBAF61E2F4B}"/>
              </a:ext>
            </a:extLst>
          </p:cNvPr>
          <p:cNvSpPr txBox="1"/>
          <p:nvPr/>
        </p:nvSpPr>
        <p:spPr>
          <a:xfrm>
            <a:off x="639162" y="2733575"/>
            <a:ext cx="8822472" cy="3785652"/>
          </a:xfrm>
          <a:prstGeom prst="rect">
            <a:avLst/>
          </a:prstGeom>
          <a:noFill/>
        </p:spPr>
        <p:txBody>
          <a:bodyPr wrap="square">
            <a:spAutoFit/>
          </a:bodyPr>
          <a:lstStyle/>
          <a:p>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my_upper_bound(</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m</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int</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while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&lt;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int</a:t>
            </a:r>
            <a:r>
              <a:rPr lang="en-US" sz="2000" dirty="0">
                <a:solidFill>
                  <a:srgbClr val="000000"/>
                </a:solidFill>
                <a:effectLst/>
                <a:latin typeface="Courier New" panose="02070309020205020404" pitchFamily="49" charset="0"/>
                <a:ea typeface="Times New Roman" panose="02020603050405020304" pitchFamily="18" charset="0"/>
              </a:rPr>
              <a:t> mid =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end</a:t>
            </a:r>
            <a:r>
              <a:rPr lang="en-US" sz="2000" dirty="0">
                <a:solidFill>
                  <a:srgbClr val="000000"/>
                </a:solidFill>
                <a:effectLst/>
                <a:latin typeface="Courier New" panose="02070309020205020404" pitchFamily="49" charset="0"/>
                <a:ea typeface="Times New Roman" panose="02020603050405020304" pitchFamily="18" charset="0"/>
              </a:rPr>
              <a:t>) / 2;</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if</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 &gt;= </a:t>
            </a:r>
            <a:r>
              <a:rPr lang="en-US" sz="2000" dirty="0">
                <a:solidFill>
                  <a:srgbClr val="808080"/>
                </a:solidFill>
                <a:effectLst/>
                <a:latin typeface="Courier New" panose="02070309020205020404" pitchFamily="49" charset="0"/>
                <a:ea typeface="Times New Roman" panose="02020603050405020304" pitchFamily="18" charset="0"/>
              </a:rPr>
              <a:t>m</a:t>
            </a:r>
            <a:r>
              <a:rPr lang="en-US" sz="2000" dirty="0">
                <a:solidFill>
                  <a:srgbClr val="000000"/>
                </a:solidFill>
                <a:effectLst/>
                <a:latin typeface="Courier New" panose="02070309020205020404" pitchFamily="49" charset="0"/>
                <a:ea typeface="Times New Roman" panose="02020603050405020304" pitchFamily="18" charset="0"/>
              </a:rPr>
              <a:t>[mid])</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808080"/>
                </a:solidFill>
                <a:effectLst/>
                <a:latin typeface="Courier New" panose="02070309020205020404" pitchFamily="49" charset="0"/>
                <a:ea typeface="Times New Roman" panose="02020603050405020304" pitchFamily="18" charset="0"/>
              </a:rPr>
              <a:t>      start</a:t>
            </a:r>
            <a:r>
              <a:rPr lang="en-US" sz="2000" dirty="0">
                <a:solidFill>
                  <a:srgbClr val="000000"/>
                </a:solidFill>
                <a:effectLst/>
                <a:latin typeface="Courier New" panose="02070309020205020404" pitchFamily="49" charset="0"/>
                <a:ea typeface="Times New Roman" panose="02020603050405020304" pitchFamily="18" charset="0"/>
              </a:rPr>
              <a:t> = mid + 1;</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else</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808080"/>
                </a:solidFill>
                <a:effectLst/>
                <a:latin typeface="Courier New" panose="02070309020205020404" pitchFamily="49" charset="0"/>
                <a:ea typeface="Times New Roman" panose="02020603050405020304" pitchFamily="18" charset="0"/>
              </a:rPr>
              <a:t>      end</a:t>
            </a:r>
            <a:r>
              <a:rPr lang="en-US" sz="2000" dirty="0">
                <a:solidFill>
                  <a:srgbClr val="000000"/>
                </a:solidFill>
                <a:effectLst/>
                <a:latin typeface="Courier New" panose="02070309020205020404" pitchFamily="49" charset="0"/>
                <a:ea typeface="Times New Roman" panose="02020603050405020304" pitchFamily="18" charset="0"/>
              </a:rPr>
              <a:t> = mid;</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FF"/>
                </a:solidFill>
                <a:effectLst/>
                <a:latin typeface="Courier New" panose="02070309020205020404" pitchFamily="49" charset="0"/>
                <a:ea typeface="Times New Roman" panose="02020603050405020304" pitchFamily="18" charset="0"/>
              </a:rPr>
              <a:t>  return</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start</a:t>
            </a:r>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urier New" panose="02070309020205020404" pitchFamily="49"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7867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166768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two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Find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that is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Three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It is known that the answer is no more than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9018. n-</a:t>
            </a:r>
            <a:r>
              <a:rPr lang="en-US" sz="2400" b="1" u="sng" dirty="0" err="1">
                <a:solidFill>
                  <a:srgbClr val="0000FF"/>
                </a:solidFill>
                <a:latin typeface="Times New Roman" panose="02020603050405020304" pitchFamily="18" charset="0"/>
                <a:ea typeface="Times New Roman" panose="02020603050405020304" pitchFamily="18" charset="0"/>
                <a:hlinkClick r:id="rId3"/>
              </a:rPr>
              <a:t>th</a:t>
            </a:r>
            <a:r>
              <a:rPr lang="en-US" sz="2400" b="1" u="sng" dirty="0">
                <a:solidFill>
                  <a:srgbClr val="0000FF"/>
                </a:solidFill>
                <a:latin typeface="Times New Roman" panose="02020603050405020304" pitchFamily="18" charset="0"/>
                <a:ea typeface="Times New Roman" panose="02020603050405020304" pitchFamily="18" charset="0"/>
                <a:hlinkClick r:id="rId3"/>
              </a:rPr>
              <a:t> integer divisible by a or b</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639162" y="3462168"/>
            <a:ext cx="2045315"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2 5 10</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12828" y="3462168"/>
            <a:ext cx="2199604"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16</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0" name="Объект 9">
            <a:extLst>
              <a:ext uri="{FF2B5EF4-FFF2-40B4-BE49-F238E27FC236}">
                <a16:creationId xmlns:a16="http://schemas.microsoft.com/office/drawing/2014/main" id="{B8811FA6-9565-4C3F-9733-6CF292AACD17}"/>
              </a:ext>
            </a:extLst>
          </p:cNvPr>
          <p:cNvGraphicFramePr>
            <a:graphicFrameLocks noChangeAspect="1"/>
          </p:cNvGraphicFramePr>
          <p:nvPr>
            <p:extLst>
              <p:ext uri="{D42A27DB-BD31-4B8C-83A1-F6EECF244321}">
                <p14:modId xmlns:p14="http://schemas.microsoft.com/office/powerpoint/2010/main" val="3939497515"/>
              </p:ext>
            </p:extLst>
          </p:nvPr>
        </p:nvGraphicFramePr>
        <p:xfrm>
          <a:off x="1786855" y="2659311"/>
          <a:ext cx="7746180" cy="736522"/>
        </p:xfrm>
        <a:graphic>
          <a:graphicData uri="http://schemas.openxmlformats.org/presentationml/2006/ole">
            <mc:AlternateContent xmlns:mc="http://schemas.openxmlformats.org/markup-compatibility/2006">
              <mc:Choice xmlns:v="urn:schemas-microsoft-com:vml" Requires="v">
                <p:oleObj spid="_x0000_s109577" name="Visio" r:id="rId4" imgW="5806982" imgH="550902" progId="Visio.Drawing.11">
                  <p:embed/>
                </p:oleObj>
              </mc:Choice>
              <mc:Fallback>
                <p:oleObj name="Visio" r:id="rId4" imgW="5806982" imgH="550902"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6855" y="2659311"/>
                        <a:ext cx="7746180" cy="736522"/>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02707E7A-A5C8-4A70-BC0A-6729260CC8CF}"/>
              </a:ext>
            </a:extLst>
          </p:cNvPr>
          <p:cNvSpPr txBox="1"/>
          <p:nvPr/>
        </p:nvSpPr>
        <p:spPr>
          <a:xfrm>
            <a:off x="552534" y="4198690"/>
            <a:ext cx="10834151"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function f(</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computes the number of positive integers in the interval [1;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divisible by either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or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This number is</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ct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LCM(</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a:t>
            </a:r>
            <a:endParaRPr lang="ru-RU" sz="2000" b="1" dirty="0">
              <a:solidFill>
                <a:srgbClr val="7030A0"/>
              </a:solidFill>
              <a:effectLst/>
              <a:latin typeface="Times New Roman" panose="02020603050405020304" pitchFamily="18" charset="0"/>
              <a:ea typeface="Times New Roman" panose="02020603050405020304" pitchFamily="18" charset="0"/>
            </a:endParaRPr>
          </a:p>
        </p:txBody>
      </p:sp>
      <p:sp>
        <p:nvSpPr>
          <p:cNvPr id="18" name="Подзаголовок 2">
            <a:extLst>
              <a:ext uri="{FF2B5EF4-FFF2-40B4-BE49-F238E27FC236}">
                <a16:creationId xmlns:a16="http://schemas.microsoft.com/office/drawing/2014/main" id="{42B32D19-1486-4E1D-AB01-EBF1CED5C8D8}"/>
              </a:ext>
            </a:extLst>
          </p:cNvPr>
          <p:cNvSpPr txBox="1">
            <a:spLocks/>
          </p:cNvSpPr>
          <p:nvPr/>
        </p:nvSpPr>
        <p:spPr>
          <a:xfrm>
            <a:off x="4287145" y="5289500"/>
            <a:ext cx="3364928" cy="4485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FF0000"/>
                </a:solidFill>
                <a:latin typeface="Times New Roman CYR" panose="02020603050405020304" pitchFamily="18" charset="0"/>
                <a:ea typeface="Times New Roman" panose="02020603050405020304" pitchFamily="18" charset="0"/>
                <a:cs typeface="Times New Roman" panose="02020603050405020304" pitchFamily="18" charset="0"/>
              </a:rPr>
              <a:t>Find the value of f(10), f(17)</a:t>
            </a:r>
            <a:endParaRPr lang="ru-RU" sz="2000"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31979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166768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two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Find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that is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Three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It is known that the answer is no more than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9018. n-</a:t>
            </a:r>
            <a:r>
              <a:rPr lang="en-US" sz="2400" b="1" u="sng" dirty="0" err="1">
                <a:solidFill>
                  <a:srgbClr val="0000FF"/>
                </a:solidFill>
                <a:latin typeface="Times New Roman" panose="02020603050405020304" pitchFamily="18" charset="0"/>
                <a:ea typeface="Times New Roman" panose="02020603050405020304" pitchFamily="18" charset="0"/>
                <a:hlinkClick r:id="rId3"/>
              </a:rPr>
              <a:t>th</a:t>
            </a:r>
            <a:r>
              <a:rPr lang="en-US" sz="2400" b="1" u="sng" dirty="0">
                <a:solidFill>
                  <a:srgbClr val="0000FF"/>
                </a:solidFill>
                <a:latin typeface="Times New Roman" panose="02020603050405020304" pitchFamily="18" charset="0"/>
                <a:ea typeface="Times New Roman" panose="02020603050405020304" pitchFamily="18" charset="0"/>
                <a:hlinkClick r:id="rId3"/>
              </a:rPr>
              <a:t> integer divisible by a or b</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639162" y="3462168"/>
            <a:ext cx="2045315"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2 5 10</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12828" y="3462168"/>
            <a:ext cx="2199604"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16</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0" name="Объект 9">
            <a:extLst>
              <a:ext uri="{FF2B5EF4-FFF2-40B4-BE49-F238E27FC236}">
                <a16:creationId xmlns:a16="http://schemas.microsoft.com/office/drawing/2014/main" id="{B8811FA6-9565-4C3F-9733-6CF292AACD17}"/>
              </a:ext>
            </a:extLst>
          </p:cNvPr>
          <p:cNvGraphicFramePr>
            <a:graphicFrameLocks noChangeAspect="1"/>
          </p:cNvGraphicFramePr>
          <p:nvPr/>
        </p:nvGraphicFramePr>
        <p:xfrm>
          <a:off x="1786855" y="2659311"/>
          <a:ext cx="7746180" cy="736522"/>
        </p:xfrm>
        <a:graphic>
          <a:graphicData uri="http://schemas.openxmlformats.org/presentationml/2006/ole">
            <mc:AlternateContent xmlns:mc="http://schemas.openxmlformats.org/markup-compatibility/2006">
              <mc:Choice xmlns:v="urn:schemas-microsoft-com:vml" Requires="v">
                <p:oleObj spid="_x0000_s110598" name="Visio" r:id="rId4" imgW="5806982" imgH="550902" progId="Visio.Drawing.11">
                  <p:embed/>
                </p:oleObj>
              </mc:Choice>
              <mc:Fallback>
                <p:oleObj name="Visio" r:id="rId4" imgW="5806982" imgH="550902" progId="Visio.Drawing.11">
                  <p:embed/>
                  <p:pic>
                    <p:nvPicPr>
                      <p:cNvPr id="10" name="Объект 9">
                        <a:extLst>
                          <a:ext uri="{FF2B5EF4-FFF2-40B4-BE49-F238E27FC236}">
                            <a16:creationId xmlns:a16="http://schemas.microsoft.com/office/drawing/2014/main" id="{B8811FA6-9565-4C3F-9733-6CF292AAC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6855" y="2659311"/>
                        <a:ext cx="7746180" cy="736522"/>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02707E7A-A5C8-4A70-BC0A-6729260CC8CF}"/>
              </a:ext>
            </a:extLst>
          </p:cNvPr>
          <p:cNvSpPr txBox="1"/>
          <p:nvPr/>
        </p:nvSpPr>
        <p:spPr>
          <a:xfrm>
            <a:off x="552534" y="4198690"/>
            <a:ext cx="10834151"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function f(</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computes the number of positive integers in the interval [1;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divisible by either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or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This number is</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ct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LCM(</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a:t>
            </a:r>
            <a:endParaRPr lang="ru-RU" sz="2000" b="1" dirty="0">
              <a:solidFill>
                <a:srgbClr val="7030A0"/>
              </a:solidFill>
              <a:effectLst/>
              <a:latin typeface="Times New Roman" panose="02020603050405020304" pitchFamily="18" charset="0"/>
              <a:ea typeface="Times New Roman" panose="02020603050405020304" pitchFamily="18" charset="0"/>
            </a:endParaRPr>
          </a:p>
        </p:txBody>
      </p:sp>
      <p:sp>
        <p:nvSpPr>
          <p:cNvPr id="18" name="Подзаголовок 2">
            <a:extLst>
              <a:ext uri="{FF2B5EF4-FFF2-40B4-BE49-F238E27FC236}">
                <a16:creationId xmlns:a16="http://schemas.microsoft.com/office/drawing/2014/main" id="{42B32D19-1486-4E1D-AB01-EBF1CED5C8D8}"/>
              </a:ext>
            </a:extLst>
          </p:cNvPr>
          <p:cNvSpPr txBox="1">
            <a:spLocks/>
          </p:cNvSpPr>
          <p:nvPr/>
        </p:nvSpPr>
        <p:spPr>
          <a:xfrm>
            <a:off x="4325659" y="5250263"/>
            <a:ext cx="3297550" cy="4485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FF0000"/>
                </a:solidFill>
                <a:latin typeface="Times New Roman CYR" panose="02020603050405020304" pitchFamily="18" charset="0"/>
                <a:ea typeface="Times New Roman" panose="02020603050405020304" pitchFamily="18" charset="0"/>
                <a:cs typeface="Times New Roman" panose="02020603050405020304" pitchFamily="18" charset="0"/>
              </a:rPr>
              <a:t>Find the value of f(10), f(17)</a:t>
            </a:r>
            <a:endParaRPr lang="ru-RU" sz="2000" dirty="0">
              <a:solidFill>
                <a:srgbClr val="FF0000"/>
              </a:solidFill>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BB1AF503-EE5E-482A-9966-D2275D90EEF9}"/>
              </a:ext>
            </a:extLst>
          </p:cNvPr>
          <p:cNvSpPr txBox="1"/>
          <p:nvPr/>
        </p:nvSpPr>
        <p:spPr>
          <a:xfrm>
            <a:off x="639163" y="5698832"/>
            <a:ext cx="5273270"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f(10) = 10 / 2 + 10 / 5 – 10 / 10 = 5 + 2 – 1 = 6</a:t>
            </a:r>
          </a:p>
          <a:p>
            <a:pPr algn="just"/>
            <a:r>
              <a:rPr lang="en-US" sz="2000" b="1" dirty="0">
                <a:solidFill>
                  <a:srgbClr val="7030A0"/>
                </a:solidFill>
                <a:effectLst/>
                <a:latin typeface="Times New Roman" panose="02020603050405020304" pitchFamily="18" charset="0"/>
                <a:ea typeface="Times New Roman" panose="02020603050405020304" pitchFamily="18" charset="0"/>
              </a:rPr>
              <a:t>f(17) = 17 / 2 + 17 / 5 – 17 / 10 = 8 + 3 – 1 = 10</a:t>
            </a:r>
          </a:p>
          <a:p>
            <a:pPr algn="just"/>
            <a:endParaRPr lang="ru-RU" sz="2000" b="1" dirty="0">
              <a:solidFill>
                <a:srgbClr val="7030A0"/>
              </a:solidFill>
              <a:effectLst/>
              <a:latin typeface="Times New Roman" panose="02020603050405020304" pitchFamily="18" charset="0"/>
              <a:ea typeface="Times New Roman" panose="02020603050405020304" pitchFamily="18" charset="0"/>
            </a:endParaRPr>
          </a:p>
        </p:txBody>
      </p:sp>
      <p:sp>
        <p:nvSpPr>
          <p:cNvPr id="15" name="Подзаголовок 2">
            <a:extLst>
              <a:ext uri="{FF2B5EF4-FFF2-40B4-BE49-F238E27FC236}">
                <a16:creationId xmlns:a16="http://schemas.microsoft.com/office/drawing/2014/main" id="{53C502E1-8255-4E65-957B-D9B70A1A2B11}"/>
              </a:ext>
            </a:extLst>
          </p:cNvPr>
          <p:cNvSpPr txBox="1">
            <a:spLocks/>
          </p:cNvSpPr>
          <p:nvPr/>
        </p:nvSpPr>
        <p:spPr>
          <a:xfrm>
            <a:off x="6857103" y="5866375"/>
            <a:ext cx="2373525" cy="4485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FF0000"/>
                </a:solidFill>
                <a:latin typeface="Times New Roman CYR" panose="02020603050405020304" pitchFamily="18" charset="0"/>
                <a:ea typeface="Times New Roman" panose="02020603050405020304" pitchFamily="18" charset="0"/>
                <a:cs typeface="Times New Roman" panose="02020603050405020304" pitchFamily="18" charset="0"/>
              </a:rPr>
              <a:t>Why f(16) = f(17)?</a:t>
            </a:r>
            <a:endParaRPr lang="ru-RU" sz="2000"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94479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9018. n-</a:t>
            </a:r>
            <a:r>
              <a:rPr lang="en-US" sz="2400" b="1" u="sng" dirty="0" err="1">
                <a:solidFill>
                  <a:srgbClr val="0000FF"/>
                </a:solidFill>
                <a:latin typeface="Times New Roman" panose="02020603050405020304" pitchFamily="18" charset="0"/>
                <a:ea typeface="Times New Roman" panose="02020603050405020304" pitchFamily="18" charset="0"/>
                <a:hlinkClick r:id="rId3"/>
              </a:rPr>
              <a:t>th</a:t>
            </a:r>
            <a:r>
              <a:rPr lang="en-US" sz="2400" b="1" u="sng" dirty="0">
                <a:solidFill>
                  <a:srgbClr val="0000FF"/>
                </a:solidFill>
                <a:latin typeface="Times New Roman" panose="02020603050405020304" pitchFamily="18" charset="0"/>
                <a:ea typeface="Times New Roman" panose="02020603050405020304" pitchFamily="18" charset="0"/>
                <a:hlinkClick r:id="rId3"/>
              </a:rPr>
              <a:t> integer divisible by a or b</a:t>
            </a:r>
            <a:endParaRPr lang="ru-RU" sz="7200" b="1" dirty="0">
              <a:latin typeface="Times New Roman" panose="02020603050405020304" pitchFamily="18" charset="0"/>
              <a:cs typeface="Times New Roman" panose="02020603050405020304" pitchFamily="18" charset="0"/>
            </a:endParaRPr>
          </a:p>
        </p:txBody>
      </p:sp>
      <p:graphicFrame>
        <p:nvGraphicFramePr>
          <p:cNvPr id="10" name="Объект 9">
            <a:extLst>
              <a:ext uri="{FF2B5EF4-FFF2-40B4-BE49-F238E27FC236}">
                <a16:creationId xmlns:a16="http://schemas.microsoft.com/office/drawing/2014/main" id="{B8811FA6-9565-4C3F-9733-6CF292AACD17}"/>
              </a:ext>
            </a:extLst>
          </p:cNvPr>
          <p:cNvGraphicFramePr>
            <a:graphicFrameLocks noChangeAspect="1"/>
          </p:cNvGraphicFramePr>
          <p:nvPr>
            <p:extLst>
              <p:ext uri="{D42A27DB-BD31-4B8C-83A1-F6EECF244321}">
                <p14:modId xmlns:p14="http://schemas.microsoft.com/office/powerpoint/2010/main" val="737560552"/>
              </p:ext>
            </p:extLst>
          </p:nvPr>
        </p:nvGraphicFramePr>
        <p:xfrm>
          <a:off x="1911983" y="1121574"/>
          <a:ext cx="7746180" cy="736522"/>
        </p:xfrm>
        <a:graphic>
          <a:graphicData uri="http://schemas.openxmlformats.org/presentationml/2006/ole">
            <mc:AlternateContent xmlns:mc="http://schemas.openxmlformats.org/markup-compatibility/2006">
              <mc:Choice xmlns:v="urn:schemas-microsoft-com:vml" Requires="v">
                <p:oleObj spid="_x0000_s111626" name="Visio" r:id="rId4" imgW="5806982" imgH="550902" progId="Visio.Drawing.11">
                  <p:embed/>
                </p:oleObj>
              </mc:Choice>
              <mc:Fallback>
                <p:oleObj name="Visio" r:id="rId4" imgW="5806982" imgH="550902" progId="Visio.Drawing.11">
                  <p:embed/>
                  <p:pic>
                    <p:nvPicPr>
                      <p:cNvPr id="10" name="Объект 9">
                        <a:extLst>
                          <a:ext uri="{FF2B5EF4-FFF2-40B4-BE49-F238E27FC236}">
                            <a16:creationId xmlns:a16="http://schemas.microsoft.com/office/drawing/2014/main" id="{B8811FA6-9565-4C3F-9733-6CF292AAC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1983" y="1121574"/>
                        <a:ext cx="7746180" cy="736522"/>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02707E7A-A5C8-4A70-BC0A-6729260CC8CF}"/>
              </a:ext>
            </a:extLst>
          </p:cNvPr>
          <p:cNvSpPr txBox="1"/>
          <p:nvPr/>
        </p:nvSpPr>
        <p:spPr>
          <a:xfrm>
            <a:off x="567244" y="2184895"/>
            <a:ext cx="11262204" cy="2862322"/>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function f(</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computes the number of positive integers in the interval [1;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divisible by either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or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This number is</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ct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LCM(</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Let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be the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a:t>
            </a:r>
            <a:r>
              <a:rPr lang="en-US" sz="2000" b="1" dirty="0" err="1">
                <a:solidFill>
                  <a:srgbClr val="7030A0"/>
                </a:solidFill>
                <a:effectLst/>
                <a:latin typeface="Times New Roman" panose="02020603050405020304" pitchFamily="18" charset="0"/>
                <a:ea typeface="Times New Roman" panose="02020603050405020304" pitchFamily="18" charset="0"/>
              </a:rPr>
              <a:t>th</a:t>
            </a:r>
            <a:r>
              <a:rPr lang="en-US" sz="2000" b="1" dirty="0">
                <a:solidFill>
                  <a:srgbClr val="7030A0"/>
                </a:solidFill>
                <a:effectLst/>
                <a:latin typeface="Times New Roman" panose="02020603050405020304" pitchFamily="18" charset="0"/>
                <a:ea typeface="Times New Roman" panose="02020603050405020304" pitchFamily="18" charset="0"/>
              </a:rPr>
              <a:t> number. Then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must be the smallest positive integer such that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We will search for it with a binary search, starting from the segment [</a:t>
            </a:r>
            <a:r>
              <a:rPr lang="en-US" sz="2000" b="1" i="1" dirty="0">
                <a:solidFill>
                  <a:srgbClr val="7030A0"/>
                </a:solidFill>
                <a:effectLst/>
                <a:latin typeface="Times New Roman" panose="02020603050405020304" pitchFamily="18" charset="0"/>
                <a:ea typeface="Times New Roman" panose="02020603050405020304" pitchFamily="18" charset="0"/>
              </a:rPr>
              <a:t>left</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right</a:t>
            </a:r>
            <a:r>
              <a:rPr lang="en-US" sz="2000" b="1" dirty="0">
                <a:solidFill>
                  <a:srgbClr val="7030A0"/>
                </a:solidFill>
                <a:effectLst/>
                <a:latin typeface="Times New Roman" panose="02020603050405020304" pitchFamily="18" charset="0"/>
                <a:ea typeface="Times New Roman" panose="02020603050405020304" pitchFamily="18" charset="0"/>
              </a:rPr>
              <a:t>] = [1; 10</a:t>
            </a:r>
            <a:r>
              <a:rPr lang="en-US" sz="2000" b="1" baseline="30000" dirty="0">
                <a:solidFill>
                  <a:srgbClr val="7030A0"/>
                </a:solidFill>
                <a:effectLst/>
                <a:latin typeface="Times New Roman" panose="02020603050405020304" pitchFamily="18" charset="0"/>
                <a:ea typeface="Times New Roman" panose="02020603050405020304" pitchFamily="18" charset="0"/>
              </a:rPr>
              <a:t>9</a:t>
            </a:r>
            <a:r>
              <a:rPr lang="en-US" sz="2000" b="1" dirty="0">
                <a:solidFill>
                  <a:srgbClr val="7030A0"/>
                </a:solidFill>
                <a:effectLst/>
                <a:latin typeface="Times New Roman" panose="02020603050405020304" pitchFamily="18" charset="0"/>
                <a:ea typeface="Times New Roman" panose="02020603050405020304" pitchFamily="18" charset="0"/>
              </a:rPr>
              <a:t>]. Let </a:t>
            </a:r>
            <a:r>
              <a:rPr lang="en-US" sz="2000" b="1" i="1" dirty="0">
                <a:solidFill>
                  <a:srgbClr val="7030A0"/>
                </a:solidFill>
                <a:effectLst/>
                <a:latin typeface="Times New Roman" panose="02020603050405020304" pitchFamily="18" charset="0"/>
                <a:ea typeface="Times New Roman" panose="02020603050405020304" pitchFamily="18" charset="0"/>
              </a:rPr>
              <a:t>mid</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left</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right</a:t>
            </a:r>
            <a:r>
              <a:rPr lang="en-US" sz="2000" b="1" dirty="0">
                <a:solidFill>
                  <a:srgbClr val="7030A0"/>
                </a:solidFill>
                <a:effectLst/>
                <a:latin typeface="Times New Roman" panose="02020603050405020304" pitchFamily="18" charset="0"/>
                <a:ea typeface="Times New Roman" panose="02020603050405020304" pitchFamily="18" charset="0"/>
              </a:rPr>
              <a:t>) / 2. </a:t>
            </a:r>
          </a:p>
          <a:p>
            <a:pPr algn="just"/>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If f(</a:t>
            </a:r>
            <a:r>
              <a:rPr lang="en-US" sz="2000" b="1" i="1" dirty="0">
                <a:solidFill>
                  <a:srgbClr val="7030A0"/>
                </a:solidFill>
                <a:effectLst/>
                <a:latin typeface="Times New Roman" panose="02020603050405020304" pitchFamily="18" charset="0"/>
                <a:ea typeface="Times New Roman" panose="02020603050405020304" pitchFamily="18" charset="0"/>
              </a:rPr>
              <a:t>mid</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then the search should be continued on the segment [</a:t>
            </a:r>
            <a:r>
              <a:rPr lang="en-US" sz="2000" b="1" i="1" dirty="0">
                <a:solidFill>
                  <a:srgbClr val="7030A0"/>
                </a:solidFill>
                <a:effectLst/>
                <a:latin typeface="Times New Roman" panose="02020603050405020304" pitchFamily="18" charset="0"/>
                <a:ea typeface="Times New Roman" panose="02020603050405020304" pitchFamily="18" charset="0"/>
              </a:rPr>
              <a:t>left</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mid</a:t>
            </a:r>
            <a:r>
              <a:rPr lang="en-US" sz="2000" b="1" dirty="0">
                <a:solidFill>
                  <a:srgbClr val="7030A0"/>
                </a:solidFill>
                <a:effectLst/>
                <a:latin typeface="Times New Roman" panose="02020603050405020304" pitchFamily="18" charset="0"/>
                <a:ea typeface="Times New Roman" panose="02020603050405020304" pitchFamily="18" charset="0"/>
              </a:rPr>
              <a:t>], otherwise on the segment [</a:t>
            </a:r>
            <a:r>
              <a:rPr lang="en-US" sz="2000" b="1" i="1" dirty="0">
                <a:solidFill>
                  <a:srgbClr val="7030A0"/>
                </a:solidFill>
                <a:effectLst/>
                <a:latin typeface="Times New Roman" panose="02020603050405020304" pitchFamily="18" charset="0"/>
                <a:ea typeface="Times New Roman" panose="02020603050405020304" pitchFamily="18" charset="0"/>
              </a:rPr>
              <a:t>mid</a:t>
            </a:r>
            <a:r>
              <a:rPr lang="en-US" sz="2000" b="1" dirty="0">
                <a:solidFill>
                  <a:srgbClr val="7030A0"/>
                </a:solidFill>
                <a:effectLst/>
                <a:latin typeface="Times New Roman" panose="02020603050405020304" pitchFamily="18" charset="0"/>
                <a:ea typeface="Times New Roman" panose="02020603050405020304" pitchFamily="18" charset="0"/>
              </a:rPr>
              <a:t> + 1; </a:t>
            </a:r>
            <a:r>
              <a:rPr lang="en-US" sz="2000" b="1" i="1" dirty="0">
                <a:solidFill>
                  <a:srgbClr val="7030A0"/>
                </a:solidFill>
                <a:effectLst/>
                <a:latin typeface="Times New Roman" panose="02020603050405020304" pitchFamily="18" charset="0"/>
                <a:ea typeface="Times New Roman" panose="02020603050405020304" pitchFamily="18" charset="0"/>
              </a:rPr>
              <a:t>right</a:t>
            </a:r>
            <a:r>
              <a:rPr lang="en-US" sz="2000" b="1" dirty="0">
                <a:solidFill>
                  <a:srgbClr val="7030A0"/>
                </a:solidFill>
                <a:effectLst/>
                <a:latin typeface="Times New Roman" panose="02020603050405020304" pitchFamily="18" charset="0"/>
                <a:ea typeface="Times New Roman" panose="02020603050405020304" pitchFamily="18" charset="0"/>
              </a:rPr>
              <a:t>].</a:t>
            </a:r>
            <a:endParaRPr lang="ru-RU" sz="2000" b="1" dirty="0">
              <a:solidFill>
                <a:srgbClr val="7030A0"/>
              </a:solidFill>
              <a:effectLst/>
              <a:latin typeface="Times New Roman" panose="02020603050405020304" pitchFamily="18" charset="0"/>
              <a:ea typeface="Times New Roman" panose="02020603050405020304" pitchFamily="18" charset="0"/>
            </a:endParaRPr>
          </a:p>
        </p:txBody>
      </p:sp>
      <p:graphicFrame>
        <p:nvGraphicFramePr>
          <p:cNvPr id="15" name="Объект 14">
            <a:extLst>
              <a:ext uri="{FF2B5EF4-FFF2-40B4-BE49-F238E27FC236}">
                <a16:creationId xmlns:a16="http://schemas.microsoft.com/office/drawing/2014/main" id="{9668E7E6-C9A3-4DEA-8C8B-8478A5A325BA}"/>
              </a:ext>
            </a:extLst>
          </p:cNvPr>
          <p:cNvGraphicFramePr>
            <a:graphicFrameLocks noChangeAspect="1"/>
          </p:cNvGraphicFramePr>
          <p:nvPr>
            <p:extLst>
              <p:ext uri="{D42A27DB-BD31-4B8C-83A1-F6EECF244321}">
                <p14:modId xmlns:p14="http://schemas.microsoft.com/office/powerpoint/2010/main" val="3782605590"/>
              </p:ext>
            </p:extLst>
          </p:nvPr>
        </p:nvGraphicFramePr>
        <p:xfrm>
          <a:off x="1911983" y="4926172"/>
          <a:ext cx="5302752" cy="1588134"/>
        </p:xfrm>
        <a:graphic>
          <a:graphicData uri="http://schemas.openxmlformats.org/presentationml/2006/ole">
            <mc:AlternateContent xmlns:mc="http://schemas.openxmlformats.org/markup-compatibility/2006">
              <mc:Choice xmlns:v="urn:schemas-microsoft-com:vml" Requires="v">
                <p:oleObj spid="_x0000_s111627" name="Visio" r:id="rId6" imgW="3754785" imgH="1126785" progId="Visio.Drawing.11">
                  <p:embed/>
                </p:oleObj>
              </mc:Choice>
              <mc:Fallback>
                <p:oleObj name="Visio" r:id="rId6" imgW="3754785" imgH="1126785" progId="Visio.Drawing.11">
                  <p:embed/>
                  <p:pic>
                    <p:nvPicPr>
                      <p:cNvPr id="15" name="Объект 14">
                        <a:extLst>
                          <a:ext uri="{FF2B5EF4-FFF2-40B4-BE49-F238E27FC236}">
                            <a16:creationId xmlns:a16="http://schemas.microsoft.com/office/drawing/2014/main" id="{9668E7E6-C9A3-4DEA-8C8B-8478A5A325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1983" y="4926172"/>
                        <a:ext cx="5302752" cy="1588134"/>
                      </a:xfrm>
                      <a:prstGeom prst="rect">
                        <a:avLst/>
                      </a:prstGeom>
                      <a:noFill/>
                    </p:spPr>
                  </p:pic>
                </p:oleObj>
              </mc:Fallback>
            </mc:AlternateContent>
          </a:graphicData>
        </a:graphic>
      </p:graphicFrame>
      <p:sp>
        <p:nvSpPr>
          <p:cNvPr id="11" name="Подзаголовок 2">
            <a:extLst>
              <a:ext uri="{FF2B5EF4-FFF2-40B4-BE49-F238E27FC236}">
                <a16:creationId xmlns:a16="http://schemas.microsoft.com/office/drawing/2014/main" id="{767F2D7A-09CA-49B0-A766-DD2DF1F27D00}"/>
              </a:ext>
            </a:extLst>
          </p:cNvPr>
          <p:cNvSpPr txBox="1">
            <a:spLocks/>
          </p:cNvSpPr>
          <p:nvPr/>
        </p:nvSpPr>
        <p:spPr>
          <a:xfrm>
            <a:off x="7922749" y="5047217"/>
            <a:ext cx="3906699" cy="10359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FF0000"/>
                </a:solidFill>
                <a:latin typeface="Times New Roman CYR" panose="02020603050405020304" pitchFamily="18" charset="0"/>
                <a:ea typeface="Times New Roman" panose="02020603050405020304" pitchFamily="18" charset="0"/>
                <a:cs typeface="Times New Roman" panose="02020603050405020304" pitchFamily="18" charset="0"/>
              </a:rPr>
              <a:t>Solve the equation:</a:t>
            </a:r>
          </a:p>
          <a:p>
            <a:pPr>
              <a:lnSpc>
                <a:spcPct val="100000"/>
              </a:lnSpc>
              <a:spcBef>
                <a:spcPts val="0"/>
              </a:spcBef>
            </a:pPr>
            <a:r>
              <a:rPr lang="en-US" sz="2000" b="1" dirty="0">
                <a:solidFill>
                  <a:srgbClr val="FF0000"/>
                </a:solidFill>
                <a:latin typeface="Times New Roman CYR" panose="02020603050405020304" pitchFamily="18" charset="0"/>
                <a:ea typeface="Times New Roman" panose="02020603050405020304" pitchFamily="18" charset="0"/>
                <a:cs typeface="Times New Roman" panose="02020603050405020304" pitchFamily="18" charset="0"/>
              </a:rPr>
              <a:t>f(x) = 10</a:t>
            </a:r>
          </a:p>
          <a:p>
            <a:pPr algn="just">
              <a:lnSpc>
                <a:spcPct val="100000"/>
              </a:lnSpc>
              <a:spcBef>
                <a:spcPts val="0"/>
              </a:spcBef>
            </a:pPr>
            <a:r>
              <a:rPr lang="en-US" sz="2000" b="1" dirty="0">
                <a:solidFill>
                  <a:srgbClr val="FF0000"/>
                </a:solidFill>
                <a:effectLst/>
                <a:latin typeface="Times New Roman CYR" panose="02020603050405020304" pitchFamily="18" charset="0"/>
                <a:ea typeface="Times New Roman" panose="02020603050405020304" pitchFamily="18" charset="0"/>
                <a:cs typeface="Times New Roman" panose="02020603050405020304" pitchFamily="18" charset="0"/>
              </a:rPr>
              <a:t>Find the smallest value of x.</a:t>
            </a:r>
            <a:endParaRPr lang="ru-RU" sz="2000"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20410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166768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two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Find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that is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Three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positive integer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It is known that the answer is no more than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9018. n-</a:t>
            </a:r>
            <a:r>
              <a:rPr lang="en-US" sz="2400" b="1" u="sng" dirty="0" err="1">
                <a:solidFill>
                  <a:srgbClr val="0000FF"/>
                </a:solidFill>
                <a:latin typeface="Times New Roman" panose="02020603050405020304" pitchFamily="18" charset="0"/>
                <a:ea typeface="Times New Roman" panose="02020603050405020304" pitchFamily="18" charset="0"/>
                <a:hlinkClick r:id="rId3"/>
              </a:rPr>
              <a:t>th</a:t>
            </a:r>
            <a:r>
              <a:rPr lang="en-US" sz="2400" b="1" u="sng" dirty="0">
                <a:solidFill>
                  <a:srgbClr val="0000FF"/>
                </a:solidFill>
                <a:latin typeface="Times New Roman" panose="02020603050405020304" pitchFamily="18" charset="0"/>
                <a:ea typeface="Times New Roman" panose="02020603050405020304" pitchFamily="18" charset="0"/>
                <a:hlinkClick r:id="rId3"/>
              </a:rPr>
              <a:t> integer divisible by a or b</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639162" y="3462168"/>
            <a:ext cx="2045315"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2 5 10</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12828" y="3462168"/>
            <a:ext cx="2199604"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16</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0" name="Объект 9">
            <a:extLst>
              <a:ext uri="{FF2B5EF4-FFF2-40B4-BE49-F238E27FC236}">
                <a16:creationId xmlns:a16="http://schemas.microsoft.com/office/drawing/2014/main" id="{B8811FA6-9565-4C3F-9733-6CF292AACD17}"/>
              </a:ext>
            </a:extLst>
          </p:cNvPr>
          <p:cNvGraphicFramePr>
            <a:graphicFrameLocks noChangeAspect="1"/>
          </p:cNvGraphicFramePr>
          <p:nvPr/>
        </p:nvGraphicFramePr>
        <p:xfrm>
          <a:off x="1786855" y="2659311"/>
          <a:ext cx="7746180" cy="736522"/>
        </p:xfrm>
        <a:graphic>
          <a:graphicData uri="http://schemas.openxmlformats.org/presentationml/2006/ole">
            <mc:AlternateContent xmlns:mc="http://schemas.openxmlformats.org/markup-compatibility/2006">
              <mc:Choice xmlns:v="urn:schemas-microsoft-com:vml" Requires="v">
                <p:oleObj spid="_x0000_s112646" name="Visio" r:id="rId4" imgW="5806982" imgH="550902" progId="Visio.Drawing.11">
                  <p:embed/>
                </p:oleObj>
              </mc:Choice>
              <mc:Fallback>
                <p:oleObj name="Visio" r:id="rId4" imgW="5806982" imgH="550902" progId="Visio.Drawing.11">
                  <p:embed/>
                  <p:pic>
                    <p:nvPicPr>
                      <p:cNvPr id="10" name="Объект 9">
                        <a:extLst>
                          <a:ext uri="{FF2B5EF4-FFF2-40B4-BE49-F238E27FC236}">
                            <a16:creationId xmlns:a16="http://schemas.microsoft.com/office/drawing/2014/main" id="{B8811FA6-9565-4C3F-9733-6CF292AAC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6855" y="2659311"/>
                        <a:ext cx="7746180" cy="736522"/>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02707E7A-A5C8-4A70-BC0A-6729260CC8CF}"/>
              </a:ext>
            </a:extLst>
          </p:cNvPr>
          <p:cNvSpPr txBox="1"/>
          <p:nvPr/>
        </p:nvSpPr>
        <p:spPr>
          <a:xfrm>
            <a:off x="639162" y="4198690"/>
            <a:ext cx="10834151" cy="2554545"/>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Consider the first sample</a:t>
            </a:r>
            <a:r>
              <a:rPr lang="ru-RU" sz="2000" b="1" dirty="0">
                <a:solidFill>
                  <a:srgbClr val="7030A0"/>
                </a:solidFill>
                <a:effectLst/>
                <a:latin typeface="Times New Roman" panose="02020603050405020304" pitchFamily="18" charset="0"/>
                <a:ea typeface="Times New Roman" panose="02020603050405020304" pitchFamily="18" charset="0"/>
              </a:rPr>
              <a:t>, </a:t>
            </a:r>
            <a:r>
              <a:rPr lang="en-US" sz="2000" b="1" dirty="0">
                <a:solidFill>
                  <a:srgbClr val="7030A0"/>
                </a:solidFill>
                <a:effectLst/>
                <a:latin typeface="Times New Roman" panose="02020603050405020304" pitchFamily="18" charset="0"/>
                <a:ea typeface="Times New Roman" panose="02020603050405020304" pitchFamily="18" charset="0"/>
              </a:rPr>
              <a:t>where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2,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5. It is necessary to find the smallest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for which</a:t>
            </a:r>
          </a:p>
          <a:p>
            <a:pPr algn="ctr"/>
            <a:r>
              <a:rPr lang="en-US" sz="2000" b="1" dirty="0">
                <a:solidFill>
                  <a:srgbClr val="7030A0"/>
                </a:solidFill>
                <a:effectLst/>
                <a:latin typeface="Times New Roman" panose="02020603050405020304" pitchFamily="18" charset="0"/>
                <a:ea typeface="Times New Roman" panose="02020603050405020304" pitchFamily="18" charset="0"/>
              </a:rPr>
              <a:t>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10</a:t>
            </a:r>
          </a:p>
          <a:p>
            <a:pPr algn="just"/>
            <a:r>
              <a:rPr lang="en-US" sz="2000" b="1" dirty="0">
                <a:solidFill>
                  <a:srgbClr val="7030A0"/>
                </a:solidFill>
                <a:effectLst/>
                <a:latin typeface="Times New Roman" panose="02020603050405020304" pitchFamily="18" charset="0"/>
                <a:ea typeface="Times New Roman" panose="02020603050405020304" pitchFamily="18" charset="0"/>
              </a:rPr>
              <a:t>Let’s calculate some values:</a:t>
            </a:r>
            <a:endParaRPr lang="ru-RU" sz="2000" b="1" dirty="0">
              <a:solidFill>
                <a:srgbClr val="7030A0"/>
              </a:solidFill>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f(15) = 15 / 2 + 15 / 5 – 15 / 10 = 7 + 3 – 1 = 9;</a:t>
            </a:r>
            <a:endParaRPr lang="ru-RU" sz="2000" b="1" dirty="0">
              <a:solidFill>
                <a:srgbClr val="7030A0"/>
              </a:solidFill>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f(16) = 16 / 2 + 16 / 5 – 16 / 10 = 8 + 3 – 1 = 10;</a:t>
            </a:r>
            <a:endParaRPr lang="ru-RU" sz="2000" b="1" dirty="0">
              <a:solidFill>
                <a:srgbClr val="7030A0"/>
              </a:solidFill>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f(17) = 17 / 2 + 17 / 5 – 17 / 10 = 8 + 3 – 1 = 10;</a:t>
            </a:r>
            <a:endParaRPr lang="ru-RU" sz="2000" b="1" dirty="0">
              <a:solidFill>
                <a:srgbClr val="7030A0"/>
              </a:solidFill>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2000" b="1" dirty="0">
                <a:solidFill>
                  <a:srgbClr val="7030A0"/>
                </a:solidFill>
                <a:effectLst/>
                <a:latin typeface="Times New Roman" panose="02020603050405020304" pitchFamily="18" charset="0"/>
                <a:ea typeface="Times New Roman" panose="02020603050405020304" pitchFamily="18" charset="0"/>
              </a:rPr>
              <a:t>f(18) = 18 / 2 + 18 / 5 – 18 / 10 = 9 + 3 – 1 = 11;</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chemeClr val="accent6">
                    <a:lumMod val="75000"/>
                  </a:schemeClr>
                </a:solidFill>
                <a:effectLst/>
                <a:latin typeface="Times New Roman" panose="02020603050405020304" pitchFamily="18" charset="0"/>
                <a:ea typeface="Times New Roman" panose="02020603050405020304" pitchFamily="18" charset="0"/>
              </a:rPr>
              <a:t>The smallest solution to the equation f(</a:t>
            </a:r>
            <a:r>
              <a:rPr lang="en-US" sz="2000" b="1" i="1" dirty="0">
                <a:solidFill>
                  <a:schemeClr val="accent6">
                    <a:lumMod val="75000"/>
                  </a:schemeClr>
                </a:solidFill>
                <a:effectLst/>
                <a:latin typeface="Times New Roman" panose="02020603050405020304" pitchFamily="18" charset="0"/>
                <a:ea typeface="Times New Roman" panose="02020603050405020304" pitchFamily="18" charset="0"/>
              </a:rPr>
              <a:t>x</a:t>
            </a:r>
            <a:r>
              <a:rPr lang="en-US" sz="2000" b="1" dirty="0">
                <a:solidFill>
                  <a:schemeClr val="accent6">
                    <a:lumMod val="75000"/>
                  </a:schemeClr>
                </a:solidFill>
                <a:effectLst/>
                <a:latin typeface="Times New Roman" panose="02020603050405020304" pitchFamily="18" charset="0"/>
                <a:ea typeface="Times New Roman" panose="02020603050405020304" pitchFamily="18" charset="0"/>
              </a:rPr>
              <a:t>) = 10 is </a:t>
            </a:r>
            <a:r>
              <a:rPr lang="en-US" sz="2000" b="1" i="1" dirty="0">
                <a:solidFill>
                  <a:schemeClr val="accent6">
                    <a:lumMod val="75000"/>
                  </a:schemeClr>
                </a:solidFill>
                <a:effectLst/>
                <a:latin typeface="Times New Roman" panose="02020603050405020304" pitchFamily="18" charset="0"/>
                <a:ea typeface="Times New Roman" panose="02020603050405020304" pitchFamily="18" charset="0"/>
              </a:rPr>
              <a:t>x</a:t>
            </a:r>
            <a:r>
              <a:rPr lang="en-US" sz="2000" b="1" dirty="0">
                <a:solidFill>
                  <a:schemeClr val="accent6">
                    <a:lumMod val="75000"/>
                  </a:schemeClr>
                </a:solidFill>
                <a:effectLst/>
                <a:latin typeface="Times New Roman" panose="02020603050405020304" pitchFamily="18" charset="0"/>
                <a:ea typeface="Times New Roman" panose="02020603050405020304" pitchFamily="18" charset="0"/>
              </a:rPr>
              <a:t> = 16.</a:t>
            </a:r>
            <a:endParaRPr lang="ru-RU" sz="2000" b="1" dirty="0">
              <a:solidFill>
                <a:schemeClr val="accent6">
                  <a:lumMod val="75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60240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166768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three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 Find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term which is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Four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 c</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th</a:t>
            </a:r>
            <a:r>
              <a:rPr lang="en-US" sz="2000" dirty="0">
                <a:effectLst/>
                <a:latin typeface="Times New Roman" panose="02020603050405020304" pitchFamily="18" charset="0"/>
                <a:ea typeface="Times New Roman" panose="02020603050405020304" pitchFamily="18" charset="0"/>
              </a:rPr>
              <a:t> term divisible by either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or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 It is known that the answer is no more than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9019. n-</a:t>
            </a:r>
            <a:r>
              <a:rPr lang="en-US" sz="2400" b="1" u="sng" dirty="0" err="1">
                <a:solidFill>
                  <a:srgbClr val="0000FF"/>
                </a:solidFill>
                <a:latin typeface="Times New Roman" panose="02020603050405020304" pitchFamily="18" charset="0"/>
                <a:ea typeface="Times New Roman" panose="02020603050405020304" pitchFamily="18" charset="0"/>
                <a:hlinkClick r:id="rId3"/>
              </a:rPr>
              <a:t>th</a:t>
            </a:r>
            <a:r>
              <a:rPr lang="en-US" sz="2400" b="1" u="sng" dirty="0">
                <a:solidFill>
                  <a:srgbClr val="0000FF"/>
                </a:solidFill>
                <a:latin typeface="Times New Roman" panose="02020603050405020304" pitchFamily="18" charset="0"/>
                <a:ea typeface="Times New Roman" panose="02020603050405020304" pitchFamily="18" charset="0"/>
                <a:hlinkClick r:id="rId3"/>
              </a:rPr>
              <a:t> term divisible by a, b or c</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756608" y="3135887"/>
            <a:ext cx="2045315"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2 3 5 10</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830274" y="3135887"/>
            <a:ext cx="2199604" cy="736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14</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2707E7A-A5C8-4A70-BC0A-6729260CC8CF}"/>
              </a:ext>
            </a:extLst>
          </p:cNvPr>
          <p:cNvSpPr txBox="1"/>
          <p:nvPr/>
        </p:nvSpPr>
        <p:spPr>
          <a:xfrm>
            <a:off x="706274" y="4198690"/>
            <a:ext cx="10834151" cy="707886"/>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function f(</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computes the number of positive integers in the interval [1;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a:t>
            </a:r>
          </a:p>
          <a:p>
            <a:pPr algn="just"/>
            <a:r>
              <a:rPr lang="en-US" sz="2000" b="1" dirty="0">
                <a:solidFill>
                  <a:srgbClr val="7030A0"/>
                </a:solidFill>
                <a:effectLst/>
                <a:latin typeface="Times New Roman" panose="02020603050405020304" pitchFamily="18" charset="0"/>
                <a:ea typeface="Times New Roman" panose="02020603050405020304" pitchFamily="18" charset="0"/>
              </a:rPr>
              <a:t>divisible by either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or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dirty="0">
                <a:solidFill>
                  <a:srgbClr val="FF0000"/>
                </a:solidFill>
                <a:effectLst/>
                <a:latin typeface="Times New Roman" panose="02020603050405020304" pitchFamily="18" charset="0"/>
                <a:ea typeface="Times New Roman" panose="02020603050405020304" pitchFamily="18" charset="0"/>
              </a:rPr>
              <a:t>How to compute this function?</a:t>
            </a:r>
            <a:endParaRPr lang="ru-RU" sz="2000" b="1" dirty="0">
              <a:solidFill>
                <a:srgbClr val="FF0000"/>
              </a:solidFill>
              <a:effectLst/>
              <a:latin typeface="Times New Roman" panose="02020603050405020304" pitchFamily="18" charset="0"/>
              <a:ea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136B46DF-6069-4AC9-B552-49C641336250}"/>
              </a:ext>
            </a:extLst>
          </p:cNvPr>
          <p:cNvGraphicFramePr>
            <a:graphicFrameLocks noChangeAspect="1"/>
          </p:cNvGraphicFramePr>
          <p:nvPr>
            <p:extLst>
              <p:ext uri="{D42A27DB-BD31-4B8C-83A1-F6EECF244321}">
                <p14:modId xmlns:p14="http://schemas.microsoft.com/office/powerpoint/2010/main" val="2829865894"/>
              </p:ext>
            </p:extLst>
          </p:nvPr>
        </p:nvGraphicFramePr>
        <p:xfrm>
          <a:off x="1636293" y="2343159"/>
          <a:ext cx="7746169" cy="736521"/>
        </p:xfrm>
        <a:graphic>
          <a:graphicData uri="http://schemas.openxmlformats.org/presentationml/2006/ole">
            <mc:AlternateContent xmlns:mc="http://schemas.openxmlformats.org/markup-compatibility/2006">
              <mc:Choice xmlns:v="urn:schemas-microsoft-com:vml" Requires="v">
                <p:oleObj spid="_x0000_s113670" name="Visio" r:id="rId4" imgW="5806679" imgH="554063" progId="Visio.Drawing.11">
                  <p:embed/>
                </p:oleObj>
              </mc:Choice>
              <mc:Fallback>
                <p:oleObj name="Visio" r:id="rId4" imgW="5806679" imgH="554063"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6293" y="2343159"/>
                        <a:ext cx="7746169" cy="736521"/>
                      </a:xfrm>
                      <a:prstGeom prst="rect">
                        <a:avLst/>
                      </a:prstGeom>
                      <a:noFill/>
                    </p:spPr>
                  </p:pic>
                </p:oleObj>
              </mc:Fallback>
            </mc:AlternateContent>
          </a:graphicData>
        </a:graphic>
      </p:graphicFrame>
      <p:sp>
        <p:nvSpPr>
          <p:cNvPr id="12" name="TextBox 11">
            <a:extLst>
              <a:ext uri="{FF2B5EF4-FFF2-40B4-BE49-F238E27FC236}">
                <a16:creationId xmlns:a16="http://schemas.microsoft.com/office/drawing/2014/main" id="{81129EFE-68E2-4FE7-8DDA-1AC38C7BCE10}"/>
              </a:ext>
            </a:extLst>
          </p:cNvPr>
          <p:cNvSpPr txBox="1"/>
          <p:nvPr/>
        </p:nvSpPr>
        <p:spPr>
          <a:xfrm>
            <a:off x="2163278" y="5232857"/>
            <a:ext cx="6097604" cy="1015663"/>
          </a:xfrm>
          <a:prstGeom prst="rect">
            <a:avLst/>
          </a:prstGeom>
          <a:noFill/>
        </p:spPr>
        <p:txBody>
          <a:bodyPr wrap="square">
            <a:spAutoFit/>
          </a:bodyPr>
          <a:lstStyle/>
          <a:p>
            <a:pPr algn="ctr"/>
            <a:r>
              <a:rPr lang="en-US" sz="2000" b="1" dirty="0">
                <a:solidFill>
                  <a:srgbClr val="FF0000"/>
                </a:solidFill>
                <a:effectLst/>
                <a:latin typeface="Times New Roman" panose="02020603050405020304" pitchFamily="18" charset="0"/>
                <a:ea typeface="Times New Roman" panose="02020603050405020304" pitchFamily="18" charset="0"/>
              </a:rPr>
              <a:t>Let </a:t>
            </a:r>
            <a:r>
              <a:rPr lang="en-US" sz="2000" b="1" i="1" dirty="0">
                <a:solidFill>
                  <a:srgbClr val="FF0000"/>
                </a:solidFill>
                <a:effectLst/>
                <a:latin typeface="Times New Roman" panose="02020603050405020304" pitchFamily="18" charset="0"/>
                <a:ea typeface="Times New Roman" panose="02020603050405020304" pitchFamily="18" charset="0"/>
              </a:rPr>
              <a:t>a</a:t>
            </a:r>
            <a:r>
              <a:rPr lang="en-US" sz="2000" b="1" dirty="0">
                <a:solidFill>
                  <a:srgbClr val="FF0000"/>
                </a:solidFill>
                <a:effectLst/>
                <a:latin typeface="Times New Roman" panose="02020603050405020304" pitchFamily="18" charset="0"/>
                <a:ea typeface="Times New Roman" panose="02020603050405020304" pitchFamily="18" charset="0"/>
              </a:rPr>
              <a:t> = 2, </a:t>
            </a:r>
            <a:r>
              <a:rPr lang="en-US" sz="2000" b="1" i="1" dirty="0">
                <a:solidFill>
                  <a:srgbClr val="FF0000"/>
                </a:solidFill>
                <a:effectLst/>
                <a:latin typeface="Times New Roman" panose="02020603050405020304" pitchFamily="18" charset="0"/>
                <a:ea typeface="Times New Roman" panose="02020603050405020304" pitchFamily="18" charset="0"/>
              </a:rPr>
              <a:t>b</a:t>
            </a:r>
            <a:r>
              <a:rPr lang="en-US" sz="2000" b="1" dirty="0">
                <a:solidFill>
                  <a:srgbClr val="FF0000"/>
                </a:solidFill>
                <a:effectLst/>
                <a:latin typeface="Times New Roman" panose="02020603050405020304" pitchFamily="18" charset="0"/>
                <a:ea typeface="Times New Roman" panose="02020603050405020304" pitchFamily="18" charset="0"/>
              </a:rPr>
              <a:t> = 3, c = 5. </a:t>
            </a:r>
          </a:p>
          <a:p>
            <a:pPr algn="ctr"/>
            <a:r>
              <a:rPr lang="en-US" sz="2000" b="1" dirty="0">
                <a:solidFill>
                  <a:srgbClr val="FF0000"/>
                </a:solidFill>
                <a:effectLst/>
                <a:latin typeface="Times New Roman" panose="02020603050405020304" pitchFamily="18" charset="0"/>
                <a:ea typeface="Times New Roman" panose="02020603050405020304" pitchFamily="18" charset="0"/>
              </a:rPr>
              <a:t>Find the smallest </a:t>
            </a:r>
            <a:r>
              <a:rPr lang="en-US" sz="2000" b="1" i="1" dirty="0">
                <a:solidFill>
                  <a:srgbClr val="FF0000"/>
                </a:solidFill>
                <a:effectLst/>
                <a:latin typeface="Times New Roman" panose="02020603050405020304" pitchFamily="18" charset="0"/>
                <a:ea typeface="Times New Roman" panose="02020603050405020304" pitchFamily="18" charset="0"/>
              </a:rPr>
              <a:t>x</a:t>
            </a:r>
            <a:r>
              <a:rPr lang="en-US" sz="2000" b="1" dirty="0">
                <a:solidFill>
                  <a:srgbClr val="FF0000"/>
                </a:solidFill>
                <a:effectLst/>
                <a:latin typeface="Times New Roman" panose="02020603050405020304" pitchFamily="18" charset="0"/>
                <a:ea typeface="Times New Roman" panose="02020603050405020304" pitchFamily="18" charset="0"/>
              </a:rPr>
              <a:t> for which </a:t>
            </a:r>
          </a:p>
          <a:p>
            <a:pPr algn="ctr"/>
            <a:r>
              <a:rPr lang="en-US" sz="2000" b="1" dirty="0">
                <a:solidFill>
                  <a:srgbClr val="FF0000"/>
                </a:solidFill>
                <a:effectLst/>
                <a:latin typeface="Times New Roman" panose="02020603050405020304" pitchFamily="18" charset="0"/>
                <a:ea typeface="Times New Roman" panose="02020603050405020304" pitchFamily="18" charset="0"/>
              </a:rPr>
              <a:t>f(</a:t>
            </a:r>
            <a:r>
              <a:rPr lang="en-US" sz="2000" b="1" i="1" dirty="0">
                <a:solidFill>
                  <a:srgbClr val="FF0000"/>
                </a:solidFill>
                <a:effectLst/>
                <a:latin typeface="Times New Roman" panose="02020603050405020304" pitchFamily="18" charset="0"/>
                <a:ea typeface="Times New Roman" panose="02020603050405020304" pitchFamily="18" charset="0"/>
              </a:rPr>
              <a:t>x</a:t>
            </a:r>
            <a:r>
              <a:rPr lang="en-US" sz="2000" b="1" dirty="0">
                <a:solidFill>
                  <a:srgbClr val="FF0000"/>
                </a:solidFill>
                <a:effectLst/>
                <a:latin typeface="Times New Roman" panose="02020603050405020304" pitchFamily="18" charset="0"/>
                <a:ea typeface="Times New Roman" panose="02020603050405020304" pitchFamily="18" charset="0"/>
              </a:rPr>
              <a:t>) = 14</a:t>
            </a:r>
          </a:p>
        </p:txBody>
      </p:sp>
    </p:spTree>
    <p:extLst>
      <p:ext uri="{BB962C8B-B14F-4D97-AF65-F5344CB8AC3E}">
        <p14:creationId xmlns:p14="http://schemas.microsoft.com/office/powerpoint/2010/main" val="2650851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2000613"/>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Find the number of integers from the range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that can be represented as 2</a:t>
            </a:r>
            <a:r>
              <a:rPr lang="en-US" sz="2000" i="1" baseline="30000"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3</a:t>
            </a:r>
            <a:r>
              <a:rPr lang="en-US" sz="2000" i="1" baseline="30000"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0, </a:t>
            </a:r>
            <a:r>
              <a:rPr lang="en-US" sz="2000" i="1"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 0).</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Consists of no more than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lines. Each line contains two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(0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18</a:t>
            </a:r>
            <a:r>
              <a:rPr lang="en-US" sz="2000" dirty="0">
                <a:effectLst/>
                <a:latin typeface="Times New Roman" panose="02020603050405020304" pitchFamily="18" charset="0"/>
                <a:ea typeface="Times New Roman" panose="02020603050405020304" pitchFamily="18" charset="0"/>
              </a:rPr>
              <a:t>) that represents one query.</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For each query print in a separate line the number of integers from the range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inclusively that can be represented as 2</a:t>
            </a:r>
            <a:r>
              <a:rPr lang="en-US" sz="2000" i="1" baseline="30000"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3</a:t>
            </a:r>
            <a:r>
              <a:rPr lang="en-US" sz="2000" i="1" baseline="30000"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9021. Count the integers of the form 2^x * 3^y</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756608" y="3135887"/>
            <a:ext cx="2045315" cy="95485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1 10</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100 200</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830274" y="3135886"/>
            <a:ext cx="2199604" cy="9548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7</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5</a:t>
            </a:r>
            <a:endParaRPr lang="ru-RU"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2707E7A-A5C8-4A70-BC0A-6729260CC8CF}"/>
              </a:ext>
            </a:extLst>
          </p:cNvPr>
          <p:cNvSpPr txBox="1"/>
          <p:nvPr/>
        </p:nvSpPr>
        <p:spPr>
          <a:xfrm>
            <a:off x="706274" y="4234383"/>
            <a:ext cx="10834151" cy="1631216"/>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The number of integers of the form 2</a:t>
            </a:r>
            <a:r>
              <a:rPr lang="en-US" sz="2000" b="1" i="1" baseline="30000"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3</a:t>
            </a:r>
            <a:r>
              <a:rPr lang="en-US" sz="2000" b="1" i="1" baseline="30000"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not greater than 10</a:t>
            </a:r>
            <a:r>
              <a:rPr lang="en-US" sz="2000" b="1" baseline="30000" dirty="0">
                <a:solidFill>
                  <a:srgbClr val="7030A0"/>
                </a:solidFill>
                <a:effectLst/>
                <a:latin typeface="Times New Roman" panose="02020603050405020304" pitchFamily="18" charset="0"/>
                <a:ea typeface="Times New Roman" panose="02020603050405020304" pitchFamily="18" charset="0"/>
              </a:rPr>
              <a:t>18</a:t>
            </a:r>
            <a:r>
              <a:rPr lang="en-US" sz="2000" b="1" dirty="0">
                <a:solidFill>
                  <a:srgbClr val="7030A0"/>
                </a:solidFill>
                <a:effectLst/>
                <a:latin typeface="Times New Roman" panose="02020603050405020304" pitchFamily="18" charset="0"/>
                <a:ea typeface="Times New Roman" panose="02020603050405020304" pitchFamily="18" charset="0"/>
              </a:rPr>
              <a:t>, is not so much. </a:t>
            </a:r>
          </a:p>
          <a:p>
            <a:pPr algn="just"/>
            <a:r>
              <a:rPr lang="en-US" sz="2000" b="1" dirty="0">
                <a:solidFill>
                  <a:srgbClr val="7030A0"/>
                </a:solidFill>
                <a:effectLst/>
                <a:latin typeface="Times New Roman" panose="02020603050405020304" pitchFamily="18" charset="0"/>
                <a:ea typeface="Times New Roman" panose="02020603050405020304" pitchFamily="18" charset="0"/>
              </a:rPr>
              <a:t>Generate them in array </a:t>
            </a:r>
            <a:r>
              <a:rPr lang="en-US" sz="2000" b="1" i="1" dirty="0">
                <a:solidFill>
                  <a:srgbClr val="7030A0"/>
                </a:solidFill>
                <a:effectLst/>
                <a:latin typeface="Times New Roman" panose="02020603050405020304" pitchFamily="18" charset="0"/>
                <a:ea typeface="Times New Roman" panose="02020603050405020304" pitchFamily="18" charset="0"/>
              </a:rPr>
              <a:t>v</a:t>
            </a:r>
            <a:r>
              <a:rPr lang="en-US" sz="2000" b="1" dirty="0">
                <a:solidFill>
                  <a:srgbClr val="7030A0"/>
                </a:solidFill>
                <a:effectLst/>
                <a:latin typeface="Times New Roman" panose="02020603050405020304" pitchFamily="18" charset="0"/>
                <a:ea typeface="Times New Roman" panose="02020603050405020304" pitchFamily="18" charset="0"/>
              </a:rPr>
              <a:t>.</a:t>
            </a:r>
          </a:p>
          <a:p>
            <a:pPr algn="just"/>
            <a:r>
              <a:rPr lang="en-US" sz="2000" b="1" dirty="0">
                <a:solidFill>
                  <a:srgbClr val="7030A0"/>
                </a:solidFill>
                <a:effectLst/>
                <a:latin typeface="Times New Roman" panose="02020603050405020304" pitchFamily="18" charset="0"/>
                <a:ea typeface="Times New Roman" panose="02020603050405020304" pitchFamily="18" charset="0"/>
              </a:rPr>
              <a:t>The amount of required numbers f(</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on a segment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is f(0,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f(0,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1). </a:t>
            </a:r>
          </a:p>
          <a:p>
            <a:pPr algn="just"/>
            <a:r>
              <a:rPr lang="en-US" sz="2000" b="1" dirty="0">
                <a:solidFill>
                  <a:srgbClr val="7030A0"/>
                </a:solidFill>
                <a:effectLst/>
                <a:latin typeface="Times New Roman" panose="02020603050405020304" pitchFamily="18" charset="0"/>
                <a:ea typeface="Times New Roman" panose="02020603050405020304" pitchFamily="18" charset="0"/>
              </a:rPr>
              <a:t>The query f(0, </a:t>
            </a:r>
            <a:r>
              <a:rPr lang="en-US" sz="2000" b="1" i="1" dirty="0">
                <a:solidFill>
                  <a:srgbClr val="7030A0"/>
                </a:solidFill>
                <a:effectLst/>
                <a:latin typeface="Times New Roman" panose="02020603050405020304" pitchFamily="18" charset="0"/>
                <a:ea typeface="Times New Roman" panose="02020603050405020304" pitchFamily="18" charset="0"/>
              </a:rPr>
              <a:t>q</a:t>
            </a:r>
            <a:r>
              <a:rPr lang="en-US" sz="2000" b="1" dirty="0">
                <a:solidFill>
                  <a:srgbClr val="7030A0"/>
                </a:solidFill>
                <a:effectLst/>
                <a:latin typeface="Times New Roman" panose="02020603050405020304" pitchFamily="18" charset="0"/>
                <a:ea typeface="Times New Roman" panose="02020603050405020304" pitchFamily="18" charset="0"/>
              </a:rPr>
              <a:t>) means the number of integers of the form 2</a:t>
            </a:r>
            <a:r>
              <a:rPr lang="en-US" sz="2000" b="1" i="1" baseline="30000"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3</a:t>
            </a:r>
            <a:r>
              <a:rPr lang="en-US" sz="2000" b="1" i="1" baseline="30000"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not greater than </a:t>
            </a:r>
            <a:r>
              <a:rPr lang="en-US" sz="2000" b="1" i="1" dirty="0">
                <a:solidFill>
                  <a:srgbClr val="7030A0"/>
                </a:solidFill>
                <a:effectLst/>
                <a:latin typeface="Times New Roman" panose="02020603050405020304" pitchFamily="18" charset="0"/>
                <a:ea typeface="Times New Roman" panose="02020603050405020304" pitchFamily="18" charset="0"/>
              </a:rPr>
              <a:t>q</a:t>
            </a:r>
            <a:r>
              <a:rPr lang="en-US" sz="2000" b="1" dirty="0">
                <a:solidFill>
                  <a:srgbClr val="7030A0"/>
                </a:solidFill>
                <a:effectLst/>
                <a:latin typeface="Times New Roman" panose="02020603050405020304" pitchFamily="18" charset="0"/>
                <a:ea typeface="Times New Roman" panose="02020603050405020304" pitchFamily="18" charset="0"/>
              </a:rPr>
              <a:t>. </a:t>
            </a:r>
          </a:p>
          <a:p>
            <a:pPr algn="just"/>
            <a:r>
              <a:rPr lang="en-US" sz="2000" b="1" dirty="0">
                <a:solidFill>
                  <a:srgbClr val="7030A0"/>
                </a:solidFill>
                <a:effectLst/>
                <a:latin typeface="Times New Roman" panose="02020603050405020304" pitchFamily="18" charset="0"/>
                <a:ea typeface="Times New Roman" panose="02020603050405020304" pitchFamily="18" charset="0"/>
              </a:rPr>
              <a:t>We look for the answer using a </a:t>
            </a:r>
            <a:r>
              <a:rPr lang="en-US" sz="2000" b="1" i="1" dirty="0">
                <a:solidFill>
                  <a:srgbClr val="7030A0"/>
                </a:solidFill>
                <a:effectLst/>
                <a:latin typeface="Times New Roman" panose="02020603050405020304" pitchFamily="18" charset="0"/>
                <a:ea typeface="Times New Roman" panose="02020603050405020304" pitchFamily="18" charset="0"/>
              </a:rPr>
              <a:t>binary search</a:t>
            </a:r>
            <a:r>
              <a:rPr lang="en-US" sz="2000" b="1" dirty="0">
                <a:solidFill>
                  <a:srgbClr val="7030A0"/>
                </a:solidFill>
                <a:effectLst/>
                <a:latin typeface="Times New Roman" panose="02020603050405020304" pitchFamily="18" charset="0"/>
                <a:ea typeface="Times New Roman" panose="02020603050405020304" pitchFamily="18" charset="0"/>
              </a:rPr>
              <a:t> on array v.</a:t>
            </a:r>
          </a:p>
        </p:txBody>
      </p:sp>
    </p:spTree>
    <p:extLst>
      <p:ext uri="{BB962C8B-B14F-4D97-AF65-F5344CB8AC3E}">
        <p14:creationId xmlns:p14="http://schemas.microsoft.com/office/powerpoint/2010/main" val="1715792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9021. Count the integers of the form 2^x * 3^y</a:t>
            </a:r>
            <a:endParaRPr lang="ru-RU" sz="7200" b="1" dirty="0">
              <a:latin typeface="Times New Roman" panose="02020603050405020304" pitchFamily="18" charset="0"/>
              <a:cs typeface="Times New Roman" panose="02020603050405020304" pitchFamily="18" charset="0"/>
            </a:endParaRPr>
          </a:p>
        </p:txBody>
      </p:sp>
      <p:graphicFrame>
        <p:nvGraphicFramePr>
          <p:cNvPr id="6" name="Объект 5">
            <a:extLst>
              <a:ext uri="{FF2B5EF4-FFF2-40B4-BE49-F238E27FC236}">
                <a16:creationId xmlns:a16="http://schemas.microsoft.com/office/drawing/2014/main" id="{FAABFFE5-9203-4FB1-AE4B-CE95EB2F1174}"/>
              </a:ext>
            </a:extLst>
          </p:cNvPr>
          <p:cNvGraphicFramePr>
            <a:graphicFrameLocks noChangeAspect="1"/>
          </p:cNvGraphicFramePr>
          <p:nvPr>
            <p:extLst>
              <p:ext uri="{D42A27DB-BD31-4B8C-83A1-F6EECF244321}">
                <p14:modId xmlns:p14="http://schemas.microsoft.com/office/powerpoint/2010/main" val="2193107265"/>
              </p:ext>
            </p:extLst>
          </p:nvPr>
        </p:nvGraphicFramePr>
        <p:xfrm>
          <a:off x="7305574" y="1175946"/>
          <a:ext cx="5207268" cy="5021736"/>
        </p:xfrm>
        <a:graphic>
          <a:graphicData uri="http://schemas.openxmlformats.org/presentationml/2006/ole">
            <mc:AlternateContent xmlns:mc="http://schemas.openxmlformats.org/markup-compatibility/2006">
              <mc:Choice xmlns:v="urn:schemas-microsoft-com:vml" Requires="v">
                <p:oleObj spid="_x0000_s114699" name="Visio" r:id="rId4" imgW="4006980" imgH="3862727" progId="Visio.Drawing.11">
                  <p:embed/>
                </p:oleObj>
              </mc:Choice>
              <mc:Fallback>
                <p:oleObj name="Visio" r:id="rId4" imgW="4006980" imgH="3862727"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5574" y="1175946"/>
                        <a:ext cx="5207268" cy="5021736"/>
                      </a:xfrm>
                      <a:prstGeom prst="rect">
                        <a:avLst/>
                      </a:prstGeom>
                      <a:noFill/>
                    </p:spPr>
                  </p:pic>
                </p:oleObj>
              </mc:Fallback>
            </mc:AlternateContent>
          </a:graphicData>
        </a:graphic>
      </p:graphicFrame>
      <p:sp>
        <p:nvSpPr>
          <p:cNvPr id="12" name="TextBox 11">
            <a:extLst>
              <a:ext uri="{FF2B5EF4-FFF2-40B4-BE49-F238E27FC236}">
                <a16:creationId xmlns:a16="http://schemas.microsoft.com/office/drawing/2014/main" id="{2400B315-88A4-4AEF-BC9C-B546E9AF370B}"/>
              </a:ext>
            </a:extLst>
          </p:cNvPr>
          <p:cNvSpPr txBox="1"/>
          <p:nvPr/>
        </p:nvSpPr>
        <p:spPr>
          <a:xfrm>
            <a:off x="690611" y="1148432"/>
            <a:ext cx="6614963" cy="400110"/>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Generate all numbers of the form 2</a:t>
            </a:r>
            <a:r>
              <a:rPr lang="en-US" sz="2000" i="1" baseline="30000"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3</a:t>
            </a:r>
            <a:r>
              <a:rPr lang="en-US" sz="2000" i="1" baseline="30000"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 no more than 200.</a:t>
            </a:r>
            <a:endParaRPr lang="ru-RU" sz="2000" dirty="0"/>
          </a:p>
        </p:txBody>
      </p:sp>
      <p:sp>
        <p:nvSpPr>
          <p:cNvPr id="14" name="TextBox 13">
            <a:extLst>
              <a:ext uri="{FF2B5EF4-FFF2-40B4-BE49-F238E27FC236}">
                <a16:creationId xmlns:a16="http://schemas.microsoft.com/office/drawing/2014/main" id="{CD49300F-9C9A-4E9A-AC4C-0CFE741C5352}"/>
              </a:ext>
            </a:extLst>
          </p:cNvPr>
          <p:cNvSpPr txBox="1"/>
          <p:nvPr/>
        </p:nvSpPr>
        <p:spPr>
          <a:xfrm>
            <a:off x="641685" y="1848997"/>
            <a:ext cx="6097604" cy="1015663"/>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Segment [1; 10] contains 7 numbers (highlighted in blue).</a:t>
            </a:r>
            <a:endParaRPr lang="ru-RU" sz="2000" dirty="0">
              <a:effectLst/>
              <a:latin typeface="Times New Roman" panose="02020603050405020304" pitchFamily="18" charset="0"/>
              <a:ea typeface="Times New Roman" panose="02020603050405020304" pitchFamily="18" charset="0"/>
            </a:endParaRPr>
          </a:p>
          <a:p>
            <a:pPr algn="just"/>
            <a:r>
              <a:rPr lang="en-US" sz="2000" dirty="0">
                <a:effectLst/>
                <a:latin typeface="Times New Roman" panose="02020603050405020304" pitchFamily="18" charset="0"/>
                <a:ea typeface="Times New Roman" panose="02020603050405020304" pitchFamily="18" charset="0"/>
              </a:rPr>
              <a:t>Segment [100; 200] contains 5 numbers (highlighted in green).</a:t>
            </a:r>
            <a:endParaRPr lang="ru-RU" sz="2000" dirty="0">
              <a:effectLst/>
              <a:latin typeface="Times New Roman" panose="02020603050405020304" pitchFamily="18" charset="0"/>
              <a:ea typeface="Times New Roman" panose="02020603050405020304" pitchFamily="18" charset="0"/>
            </a:endParaRPr>
          </a:p>
        </p:txBody>
      </p:sp>
      <p:sp>
        <p:nvSpPr>
          <p:cNvPr id="16" name="TextBox 15">
            <a:extLst>
              <a:ext uri="{FF2B5EF4-FFF2-40B4-BE49-F238E27FC236}">
                <a16:creationId xmlns:a16="http://schemas.microsoft.com/office/drawing/2014/main" id="{034B4CE0-8AA2-4719-B1E4-EE49439E4728}"/>
              </a:ext>
            </a:extLst>
          </p:cNvPr>
          <p:cNvSpPr txBox="1"/>
          <p:nvPr/>
        </p:nvSpPr>
        <p:spPr>
          <a:xfrm>
            <a:off x="641685" y="3084534"/>
            <a:ext cx="6256420"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Find a solution for segment [10; 20]:</a:t>
            </a:r>
            <a:endParaRPr lang="ru-RU" sz="2000" b="1" dirty="0">
              <a:solidFill>
                <a:srgbClr val="7030A0"/>
              </a:solidFill>
              <a:effectLst/>
              <a:latin typeface="Times New Roman" panose="02020603050405020304" pitchFamily="18" charset="0"/>
              <a:ea typeface="Times New Roman" panose="02020603050405020304" pitchFamily="18" charset="0"/>
            </a:endParaRPr>
          </a:p>
          <a:p>
            <a:pPr algn="ctr"/>
            <a:r>
              <a:rPr lang="en-US" sz="2000" b="1" i="1" dirty="0">
                <a:solidFill>
                  <a:srgbClr val="7030A0"/>
                </a:solidFill>
                <a:effectLst/>
                <a:latin typeface="Times New Roman" panose="02020603050405020304" pitchFamily="18" charset="0"/>
                <a:ea typeface="Times New Roman" panose="02020603050405020304" pitchFamily="18" charset="0"/>
              </a:rPr>
              <a:t>upper_bound</a:t>
            </a:r>
            <a:r>
              <a:rPr lang="en-US" sz="2000" b="1" dirty="0">
                <a:solidFill>
                  <a:srgbClr val="7030A0"/>
                </a:solidFill>
                <a:effectLst/>
                <a:latin typeface="Times New Roman" panose="02020603050405020304" pitchFamily="18" charset="0"/>
                <a:ea typeface="Times New Roman" panose="02020603050405020304" pitchFamily="18" charset="0"/>
              </a:rPr>
              <a:t>(v.</a:t>
            </a:r>
            <a:r>
              <a:rPr lang="en-US" sz="2000" b="1" i="1" dirty="0">
                <a:solidFill>
                  <a:srgbClr val="7030A0"/>
                </a:solidFill>
                <a:effectLst/>
                <a:latin typeface="Times New Roman" panose="02020603050405020304" pitchFamily="18" charset="0"/>
                <a:ea typeface="Times New Roman" panose="02020603050405020304" pitchFamily="18" charset="0"/>
              </a:rPr>
              <a:t>begin</a:t>
            </a:r>
            <a:r>
              <a:rPr lang="en-US" sz="2000" b="1" dirty="0">
                <a:solidFill>
                  <a:srgbClr val="7030A0"/>
                </a:solidFill>
                <a:effectLst/>
                <a:latin typeface="Times New Roman" panose="02020603050405020304" pitchFamily="18" charset="0"/>
                <a:ea typeface="Times New Roman" panose="02020603050405020304" pitchFamily="18" charset="0"/>
              </a:rPr>
              <a:t>(), v.</a:t>
            </a:r>
            <a:r>
              <a:rPr lang="en-US" sz="2000" b="1" i="1" dirty="0">
                <a:solidFill>
                  <a:srgbClr val="7030A0"/>
                </a:solidFill>
                <a:effectLst/>
                <a:latin typeface="Times New Roman" panose="02020603050405020304" pitchFamily="18" charset="0"/>
                <a:ea typeface="Times New Roman" panose="02020603050405020304" pitchFamily="18" charset="0"/>
              </a:rPr>
              <a:t>end</a:t>
            </a:r>
            <a:r>
              <a:rPr lang="en-US" sz="2000" b="1" dirty="0">
                <a:solidFill>
                  <a:srgbClr val="7030A0"/>
                </a:solidFill>
                <a:effectLst/>
                <a:latin typeface="Times New Roman" panose="02020603050405020304" pitchFamily="18" charset="0"/>
                <a:ea typeface="Times New Roman" panose="02020603050405020304" pitchFamily="18" charset="0"/>
              </a:rPr>
              <a:t>(), 20) – </a:t>
            </a:r>
            <a:r>
              <a:rPr lang="en-US" sz="2000" b="1" i="1" dirty="0">
                <a:solidFill>
                  <a:srgbClr val="7030A0"/>
                </a:solidFill>
                <a:effectLst/>
                <a:latin typeface="Times New Roman" panose="02020603050405020304" pitchFamily="18" charset="0"/>
                <a:ea typeface="Times New Roman" panose="02020603050405020304" pitchFamily="18" charset="0"/>
              </a:rPr>
              <a:t>upper_bound</a:t>
            </a:r>
            <a:r>
              <a:rPr lang="en-US" sz="2000" b="1" dirty="0">
                <a:solidFill>
                  <a:srgbClr val="7030A0"/>
                </a:solidFill>
                <a:effectLst/>
                <a:latin typeface="Times New Roman" panose="02020603050405020304" pitchFamily="18" charset="0"/>
                <a:ea typeface="Times New Roman" panose="02020603050405020304" pitchFamily="18" charset="0"/>
              </a:rPr>
              <a:t>(v.</a:t>
            </a:r>
            <a:r>
              <a:rPr lang="en-US" sz="2000" b="1" i="1" dirty="0">
                <a:solidFill>
                  <a:srgbClr val="7030A0"/>
                </a:solidFill>
                <a:effectLst/>
                <a:latin typeface="Times New Roman" panose="02020603050405020304" pitchFamily="18" charset="0"/>
                <a:ea typeface="Times New Roman" panose="02020603050405020304" pitchFamily="18" charset="0"/>
              </a:rPr>
              <a:t>begin</a:t>
            </a:r>
            <a:r>
              <a:rPr lang="en-US" sz="2000" b="1" dirty="0">
                <a:solidFill>
                  <a:srgbClr val="7030A0"/>
                </a:solidFill>
                <a:effectLst/>
                <a:latin typeface="Times New Roman" panose="02020603050405020304" pitchFamily="18" charset="0"/>
                <a:ea typeface="Times New Roman" panose="02020603050405020304" pitchFamily="18" charset="0"/>
              </a:rPr>
              <a:t>(), v.</a:t>
            </a:r>
            <a:r>
              <a:rPr lang="en-US" sz="2000" b="1" i="1" dirty="0">
                <a:solidFill>
                  <a:srgbClr val="7030A0"/>
                </a:solidFill>
                <a:effectLst/>
                <a:latin typeface="Times New Roman" panose="02020603050405020304" pitchFamily="18" charset="0"/>
                <a:ea typeface="Times New Roman" panose="02020603050405020304" pitchFamily="18" charset="0"/>
              </a:rPr>
              <a:t>end</a:t>
            </a:r>
            <a:r>
              <a:rPr lang="en-US" sz="2000" b="1" dirty="0">
                <a:solidFill>
                  <a:srgbClr val="7030A0"/>
                </a:solidFill>
                <a:effectLst/>
                <a:latin typeface="Times New Roman" panose="02020603050405020304" pitchFamily="18" charset="0"/>
                <a:ea typeface="Times New Roman" panose="02020603050405020304" pitchFamily="18" charset="0"/>
              </a:rPr>
              <a:t>(), 9) = 3</a:t>
            </a:r>
            <a:endParaRPr lang="ru-RU" sz="2000" b="1" dirty="0">
              <a:solidFill>
                <a:srgbClr val="7030A0"/>
              </a:solidFill>
              <a:effectLst/>
              <a:latin typeface="Times New Roman" panose="02020603050405020304" pitchFamily="18" charset="0"/>
              <a:ea typeface="Times New Roman" panose="02020603050405020304" pitchFamily="18" charset="0"/>
            </a:endParaRPr>
          </a:p>
        </p:txBody>
      </p:sp>
      <p:graphicFrame>
        <p:nvGraphicFramePr>
          <p:cNvPr id="18" name="Объект 17">
            <a:extLst>
              <a:ext uri="{FF2B5EF4-FFF2-40B4-BE49-F238E27FC236}">
                <a16:creationId xmlns:a16="http://schemas.microsoft.com/office/drawing/2014/main" id="{D5287502-4908-4D79-BA77-5B4D7F7588BA}"/>
              </a:ext>
            </a:extLst>
          </p:cNvPr>
          <p:cNvGraphicFramePr>
            <a:graphicFrameLocks noChangeAspect="1"/>
          </p:cNvGraphicFramePr>
          <p:nvPr>
            <p:extLst>
              <p:ext uri="{D42A27DB-BD31-4B8C-83A1-F6EECF244321}">
                <p14:modId xmlns:p14="http://schemas.microsoft.com/office/powerpoint/2010/main" val="3973340248"/>
              </p:ext>
            </p:extLst>
          </p:nvPr>
        </p:nvGraphicFramePr>
        <p:xfrm>
          <a:off x="1097279" y="4238224"/>
          <a:ext cx="4687503" cy="1877521"/>
        </p:xfrm>
        <a:graphic>
          <a:graphicData uri="http://schemas.openxmlformats.org/presentationml/2006/ole">
            <mc:AlternateContent xmlns:mc="http://schemas.openxmlformats.org/markup-compatibility/2006">
              <mc:Choice xmlns:v="urn:schemas-microsoft-com:vml" Requires="v">
                <p:oleObj spid="_x0000_s114700" name="Visio" r:id="rId6" imgW="3538730" imgH="1414775" progId="Visio.Drawing.11">
                  <p:embed/>
                </p:oleObj>
              </mc:Choice>
              <mc:Fallback>
                <p:oleObj name="Visio" r:id="rId6" imgW="3538730" imgH="1414775"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7279" y="4238224"/>
                        <a:ext cx="4687503" cy="1877521"/>
                      </a:xfrm>
                      <a:prstGeom prst="rect">
                        <a:avLst/>
                      </a:prstGeom>
                      <a:noFill/>
                    </p:spPr>
                  </p:pic>
                </p:oleObj>
              </mc:Fallback>
            </mc:AlternateContent>
          </a:graphicData>
        </a:graphic>
      </p:graphicFrame>
      <p:sp>
        <p:nvSpPr>
          <p:cNvPr id="20" name="TextBox 19">
            <a:extLst>
              <a:ext uri="{FF2B5EF4-FFF2-40B4-BE49-F238E27FC236}">
                <a16:creationId xmlns:a16="http://schemas.microsoft.com/office/drawing/2014/main" id="{5391D685-9B7D-49AE-9ADD-E1516BDB68AB}"/>
              </a:ext>
            </a:extLst>
          </p:cNvPr>
          <p:cNvSpPr txBox="1"/>
          <p:nvPr/>
        </p:nvSpPr>
        <p:spPr>
          <a:xfrm>
            <a:off x="690611" y="6253773"/>
            <a:ext cx="9088656" cy="400110"/>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Indeed, segment [10; 20] contains 3 numbers of required form: 12, 16, 18</a:t>
            </a:r>
            <a:endParaRPr lang="ru-RU"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6420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2069209"/>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three array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 of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each. Find the number of triplets (</a:t>
            </a:r>
            <a:r>
              <a:rPr lang="en-US" sz="2000" i="1" dirty="0">
                <a:effectLst/>
                <a:latin typeface="Times New Roman" panose="02020603050405020304" pitchFamily="18" charset="0"/>
                <a:ea typeface="Times New Roman" panose="02020603050405020304" pitchFamily="18" charset="0"/>
              </a:rPr>
              <a:t>a</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i="1" baseline="-25000" dirty="0">
                <a:effectLst/>
                <a:latin typeface="Times New Roman" panose="02020603050405020304" pitchFamily="18" charset="0"/>
                <a:ea typeface="Times New Roman" panose="02020603050405020304" pitchFamily="18" charset="0"/>
              </a:rPr>
              <a:t>j</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en-US" sz="2000" i="1" baseline="-25000"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 such that </a:t>
            </a:r>
            <a:r>
              <a:rPr lang="en-US" sz="2000" i="1" dirty="0">
                <a:effectLst/>
                <a:latin typeface="Times New Roman" panose="02020603050405020304" pitchFamily="18" charset="0"/>
                <a:ea typeface="Times New Roman" panose="02020603050405020304" pitchFamily="18" charset="0"/>
              </a:rPr>
              <a:t>a</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&lt; </a:t>
            </a:r>
            <a:r>
              <a:rPr lang="en-US" sz="2000" i="1" dirty="0">
                <a:effectLst/>
                <a:latin typeface="Times New Roman" panose="02020603050405020304" pitchFamily="18" charset="0"/>
                <a:ea typeface="Times New Roman" panose="02020603050405020304" pitchFamily="18" charset="0"/>
              </a:rPr>
              <a:t>b</a:t>
            </a:r>
            <a:r>
              <a:rPr lang="en-US" sz="2000" i="1" baseline="-25000" dirty="0">
                <a:effectLst/>
                <a:latin typeface="Times New Roman" panose="02020603050405020304" pitchFamily="18" charset="0"/>
                <a:ea typeface="Times New Roman" panose="02020603050405020304" pitchFamily="18" charset="0"/>
              </a:rPr>
              <a:t>j</a:t>
            </a:r>
            <a:r>
              <a:rPr lang="en-US" sz="2000" dirty="0">
                <a:effectLst/>
                <a:latin typeface="Times New Roman" panose="02020603050405020304" pitchFamily="18" charset="0"/>
                <a:ea typeface="Times New Roman" panose="02020603050405020304" pitchFamily="18" charset="0"/>
              </a:rPr>
              <a:t> &lt; </a:t>
            </a:r>
            <a:r>
              <a:rPr lang="en-US" sz="2000" i="1" dirty="0">
                <a:effectLst/>
                <a:latin typeface="Times New Roman" panose="02020603050405020304" pitchFamily="18" charset="0"/>
                <a:ea typeface="Times New Roman" panose="02020603050405020304" pitchFamily="18" charset="0"/>
              </a:rPr>
              <a:t>c</a:t>
            </a:r>
            <a:r>
              <a:rPr lang="en-US" sz="2000" i="1" baseline="-25000"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First line contains the size of arrays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5</a:t>
            </a:r>
            <a:r>
              <a:rPr lang="en-US" sz="2000" dirty="0">
                <a:effectLst/>
                <a:latin typeface="Times New Roman" panose="02020603050405020304" pitchFamily="18" charset="0"/>
                <a:ea typeface="Times New Roman" panose="02020603050405020304" pitchFamily="18" charset="0"/>
              </a:rPr>
              <a:t>). Second line contains elements of array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Next line contains elements of array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Last line contains elements of array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number of triplets (</a:t>
            </a:r>
            <a:r>
              <a:rPr lang="en-US" sz="2000" i="1" dirty="0">
                <a:effectLst/>
                <a:latin typeface="Times New Roman" panose="02020603050405020304" pitchFamily="18" charset="0"/>
                <a:ea typeface="Times New Roman" panose="02020603050405020304" pitchFamily="18" charset="0"/>
              </a:rPr>
              <a:t>a</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i="1" baseline="-25000" dirty="0">
                <a:effectLst/>
                <a:latin typeface="Times New Roman" panose="02020603050405020304" pitchFamily="18" charset="0"/>
                <a:ea typeface="Times New Roman" panose="02020603050405020304" pitchFamily="18" charset="0"/>
              </a:rPr>
              <a:t>j</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en-US" sz="2000" i="1" baseline="-25000"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 such that </a:t>
            </a:r>
            <a:r>
              <a:rPr lang="en-US" sz="2000" i="1" dirty="0">
                <a:effectLst/>
                <a:latin typeface="Times New Roman" panose="02020603050405020304" pitchFamily="18" charset="0"/>
                <a:ea typeface="Times New Roman" panose="02020603050405020304" pitchFamily="18" charset="0"/>
              </a:rPr>
              <a:t>a</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&lt; </a:t>
            </a:r>
            <a:r>
              <a:rPr lang="en-US" sz="2000" i="1" dirty="0">
                <a:effectLst/>
                <a:latin typeface="Times New Roman" panose="02020603050405020304" pitchFamily="18" charset="0"/>
                <a:ea typeface="Times New Roman" panose="02020603050405020304" pitchFamily="18" charset="0"/>
              </a:rPr>
              <a:t>b</a:t>
            </a:r>
            <a:r>
              <a:rPr lang="en-US" sz="2000" i="1" baseline="-25000" dirty="0">
                <a:effectLst/>
                <a:latin typeface="Times New Roman" panose="02020603050405020304" pitchFamily="18" charset="0"/>
                <a:ea typeface="Times New Roman" panose="02020603050405020304" pitchFamily="18" charset="0"/>
              </a:rPr>
              <a:t>j</a:t>
            </a:r>
            <a:r>
              <a:rPr lang="en-US" sz="2000" dirty="0">
                <a:effectLst/>
                <a:latin typeface="Times New Roman" panose="02020603050405020304" pitchFamily="18" charset="0"/>
                <a:ea typeface="Times New Roman" panose="02020603050405020304" pitchFamily="18" charset="0"/>
              </a:rPr>
              <a:t> &lt; </a:t>
            </a:r>
            <a:r>
              <a:rPr lang="en-US" sz="2000" i="1" dirty="0">
                <a:effectLst/>
                <a:latin typeface="Times New Roman" panose="02020603050405020304" pitchFamily="18" charset="0"/>
                <a:ea typeface="Times New Roman" panose="02020603050405020304" pitchFamily="18" charset="0"/>
              </a:rPr>
              <a:t>c</a:t>
            </a:r>
            <a:r>
              <a:rPr lang="en-US" sz="2000" i="1" baseline="-25000"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Explanation</a:t>
            </a:r>
            <a:r>
              <a:rPr lang="en-US" sz="2000" dirty="0">
                <a:effectLst/>
                <a:latin typeface="Times New Roman" panose="02020603050405020304" pitchFamily="18" charset="0"/>
                <a:ea typeface="Times New Roman" panose="02020603050405020304" pitchFamily="18" charset="0"/>
              </a:rPr>
              <a:t>. In the first test case we have the triplets (</a:t>
            </a:r>
            <a:r>
              <a:rPr lang="en-US" sz="2000" i="1" dirty="0">
                <a:effectLst/>
                <a:latin typeface="Times New Roman" panose="02020603050405020304" pitchFamily="18" charset="0"/>
                <a:ea typeface="Times New Roman" panose="02020603050405020304" pitchFamily="18" charset="0"/>
              </a:rPr>
              <a:t>a</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ru-RU"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baseline="-25000" dirty="0">
                <a:effectLst/>
                <a:latin typeface="Times New Roman" panose="02020603050405020304" pitchFamily="18" charset="0"/>
                <a:ea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a</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baseline="-25000" dirty="0">
                <a:effectLst/>
                <a:latin typeface="Times New Roman" panose="02020603050405020304" pitchFamily="18" charset="0"/>
                <a:ea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c</a:t>
            </a:r>
            <a:r>
              <a:rPr lang="ru-RU" sz="2000" baseline="-25000" dirty="0">
                <a:effectLst/>
                <a:latin typeface="Times New Roman" panose="02020603050405020304" pitchFamily="18" charset="0"/>
                <a:ea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9022. Count the triplets</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706274" y="2975657"/>
            <a:ext cx="2045315" cy="152896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1 5</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4 2</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6 3</a:t>
            </a:r>
            <a:endParaRPr lang="ru-RU" sz="2000"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79940" y="2975657"/>
            <a:ext cx="2199604" cy="9548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3</a:t>
            </a:r>
            <a:endParaRPr lang="en-US" sz="2000" dirty="0">
              <a:solidFill>
                <a:srgbClr val="222222"/>
              </a:solidFill>
              <a:effectLst/>
              <a:latin typeface="Courier New" panose="02070309020205020404" pitchFamily="49" charset="0"/>
              <a:ea typeface="Times New Roman" panose="02020603050405020304" pitchFamily="18" charset="0"/>
            </a:endParaRPr>
          </a:p>
        </p:txBody>
      </p:sp>
      <p:sp>
        <p:nvSpPr>
          <p:cNvPr id="13" name="TextBox 12">
            <a:extLst>
              <a:ext uri="{FF2B5EF4-FFF2-40B4-BE49-F238E27FC236}">
                <a16:creationId xmlns:a16="http://schemas.microsoft.com/office/drawing/2014/main" id="{02707E7A-A5C8-4A70-BC0A-6729260CC8CF}"/>
              </a:ext>
            </a:extLst>
          </p:cNvPr>
          <p:cNvSpPr txBox="1"/>
          <p:nvPr/>
        </p:nvSpPr>
        <p:spPr>
          <a:xfrm>
            <a:off x="706274" y="5672930"/>
            <a:ext cx="10834151"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Sort the arrays. For each value of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i="1" baseline="-25000" dirty="0">
                <a:solidFill>
                  <a:srgbClr val="7030A0"/>
                </a:solidFill>
                <a:effectLst/>
                <a:latin typeface="Times New Roman" panose="02020603050405020304" pitchFamily="18" charset="0"/>
                <a:ea typeface="Times New Roman" panose="02020603050405020304" pitchFamily="18" charset="0"/>
              </a:rPr>
              <a:t>j</a:t>
            </a:r>
            <a:r>
              <a:rPr lang="en-US" sz="2000" b="1" dirty="0">
                <a:solidFill>
                  <a:srgbClr val="7030A0"/>
                </a:solidFill>
                <a:effectLst/>
                <a:latin typeface="Times New Roman" panose="02020603050405020304" pitchFamily="18" charset="0"/>
                <a:ea typeface="Times New Roman" panose="02020603050405020304" pitchFamily="18" charset="0"/>
              </a:rPr>
              <a:t>, using a binary search, find the amount of numbers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from array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that are less than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i="1" baseline="-25000" dirty="0">
                <a:solidFill>
                  <a:srgbClr val="7030A0"/>
                </a:solidFill>
                <a:effectLst/>
                <a:latin typeface="Times New Roman" panose="02020603050405020304" pitchFamily="18" charset="0"/>
                <a:ea typeface="Times New Roman" panose="02020603050405020304" pitchFamily="18" charset="0"/>
              </a:rPr>
              <a:t>j</a:t>
            </a:r>
            <a:r>
              <a:rPr lang="en-US" sz="2000" b="1" dirty="0">
                <a:solidFill>
                  <a:srgbClr val="7030A0"/>
                </a:solidFill>
                <a:effectLst/>
                <a:latin typeface="Times New Roman" panose="02020603050405020304" pitchFamily="18" charset="0"/>
                <a:ea typeface="Times New Roman" panose="02020603050405020304" pitchFamily="18" charset="0"/>
              </a:rPr>
              <a:t>, as well as the amount of numbers </a:t>
            </a:r>
            <a:r>
              <a:rPr lang="en-US" sz="2000" b="1" i="1"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from array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that are greater than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i="1" baseline="-25000" dirty="0">
                <a:solidFill>
                  <a:srgbClr val="7030A0"/>
                </a:solidFill>
                <a:effectLst/>
                <a:latin typeface="Times New Roman" panose="02020603050405020304" pitchFamily="18" charset="0"/>
                <a:ea typeface="Times New Roman" panose="02020603050405020304" pitchFamily="18" charset="0"/>
              </a:rPr>
              <a:t>j</a:t>
            </a:r>
            <a:r>
              <a:rPr lang="en-US" sz="2000" b="1" dirty="0">
                <a:solidFill>
                  <a:srgbClr val="7030A0"/>
                </a:solidFill>
                <a:effectLst/>
                <a:latin typeface="Times New Roman" panose="02020603050405020304" pitchFamily="18" charset="0"/>
                <a:ea typeface="Times New Roman" panose="02020603050405020304" pitchFamily="18" charset="0"/>
              </a:rPr>
              <a:t>. Then, for a fixed value of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i="1" baseline="-25000" dirty="0">
                <a:solidFill>
                  <a:srgbClr val="7030A0"/>
                </a:solidFill>
                <a:effectLst/>
                <a:latin typeface="Times New Roman" panose="02020603050405020304" pitchFamily="18" charset="0"/>
                <a:ea typeface="Times New Roman" panose="02020603050405020304" pitchFamily="18" charset="0"/>
              </a:rPr>
              <a:t>j</a:t>
            </a:r>
            <a:r>
              <a:rPr lang="en-US" sz="2000" b="1" dirty="0">
                <a:solidFill>
                  <a:srgbClr val="7030A0"/>
                </a:solidFill>
                <a:effectLst/>
                <a:latin typeface="Times New Roman" panose="02020603050405020304" pitchFamily="18" charset="0"/>
                <a:ea typeface="Times New Roman" panose="02020603050405020304" pitchFamily="18" charset="0"/>
              </a:rPr>
              <a:t>, there are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desired triples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i="1" baseline="-25000" dirty="0">
                <a:solidFill>
                  <a:srgbClr val="7030A0"/>
                </a:solidFill>
                <a:effectLst/>
                <a:latin typeface="Times New Roman" panose="02020603050405020304" pitchFamily="18" charset="0"/>
                <a:ea typeface="Times New Roman" panose="02020603050405020304" pitchFamily="18" charset="0"/>
              </a:rPr>
              <a:t>i</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i="1" baseline="-25000" dirty="0">
                <a:solidFill>
                  <a:srgbClr val="7030A0"/>
                </a:solidFill>
                <a:effectLst/>
                <a:latin typeface="Times New Roman" panose="02020603050405020304" pitchFamily="18" charset="0"/>
                <a:ea typeface="Times New Roman" panose="02020603050405020304" pitchFamily="18" charset="0"/>
              </a:rPr>
              <a:t>j</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i="1" baseline="-25000" dirty="0">
                <a:solidFill>
                  <a:srgbClr val="7030A0"/>
                </a:solidFill>
                <a:effectLst/>
                <a:latin typeface="Times New Roman" panose="02020603050405020304" pitchFamily="18" charset="0"/>
                <a:ea typeface="Times New Roman" panose="02020603050405020304" pitchFamily="18" charset="0"/>
              </a:rPr>
              <a:t>k</a:t>
            </a:r>
            <a:r>
              <a:rPr lang="en-US" sz="2000" b="1" dirty="0">
                <a:solidFill>
                  <a:srgbClr val="7030A0"/>
                </a:solidFill>
                <a:effectLst/>
                <a:latin typeface="Times New Roman" panose="02020603050405020304" pitchFamily="18" charset="0"/>
                <a:ea typeface="Times New Roman" panose="02020603050405020304" pitchFamily="18" charset="0"/>
              </a:rPr>
              <a:t>).</a:t>
            </a:r>
            <a:endParaRPr lang="en-US" sz="2400" b="1" dirty="0">
              <a:solidFill>
                <a:srgbClr val="7030A0"/>
              </a:solidFill>
              <a:effectLst/>
              <a:latin typeface="Times New Roman" panose="02020603050405020304" pitchFamily="18" charset="0"/>
              <a:ea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0CD40F81-63B5-4182-AC07-FA65BEA82B11}"/>
              </a:ext>
            </a:extLst>
          </p:cNvPr>
          <p:cNvGraphicFramePr>
            <a:graphicFrameLocks noChangeAspect="1"/>
          </p:cNvGraphicFramePr>
          <p:nvPr>
            <p:extLst>
              <p:ext uri="{D42A27DB-BD31-4B8C-83A1-F6EECF244321}">
                <p14:modId xmlns:p14="http://schemas.microsoft.com/office/powerpoint/2010/main" val="847692533"/>
              </p:ext>
            </p:extLst>
          </p:nvPr>
        </p:nvGraphicFramePr>
        <p:xfrm>
          <a:off x="5627001" y="2975657"/>
          <a:ext cx="6376505" cy="2840190"/>
        </p:xfrm>
        <a:graphic>
          <a:graphicData uri="http://schemas.openxmlformats.org/presentationml/2006/ole">
            <mc:AlternateContent xmlns:mc="http://schemas.openxmlformats.org/markup-compatibility/2006">
              <mc:Choice xmlns:v="urn:schemas-microsoft-com:vml" Requires="v">
                <p:oleObj spid="_x0000_s116742" name="Visio" r:id="rId4" imgW="4366678" imgH="1944938" progId="Visio.Drawing.11">
                  <p:embed/>
                </p:oleObj>
              </mc:Choice>
              <mc:Fallback>
                <p:oleObj name="Visio" r:id="rId4" imgW="4366678" imgH="194493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7001" y="2975657"/>
                        <a:ext cx="6376505" cy="2840190"/>
                      </a:xfrm>
                      <a:prstGeom prst="rect">
                        <a:avLst/>
                      </a:prstGeom>
                      <a:noFill/>
                    </p:spPr>
                  </p:pic>
                </p:oleObj>
              </mc:Fallback>
            </mc:AlternateContent>
          </a:graphicData>
        </a:graphic>
      </p:graphicFrame>
    </p:spTree>
    <p:extLst>
      <p:ext uri="{BB962C8B-B14F-4D97-AF65-F5344CB8AC3E}">
        <p14:creationId xmlns:p14="http://schemas.microsoft.com/office/powerpoint/2010/main" val="3404779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3353872"/>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array with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positive integers. Find the minimum number of operations required so that an Arithmetic Progression with the array elements is achieved with common difference as 1. In a single operation, any element can be incremented by 1.</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First line contains number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Second line contains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positive integers, each is no more than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minimum number of operations to get an Arithmetic Progression with common difference as 1.</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Explanation.</a:t>
            </a:r>
            <a:r>
              <a:rPr lang="en-US" sz="2000" dirty="0">
                <a:effectLst/>
                <a:latin typeface="Times New Roman" panose="02020603050405020304" pitchFamily="18" charset="0"/>
                <a:ea typeface="Times New Roman" panose="02020603050405020304" pitchFamily="18" charset="0"/>
              </a:rPr>
              <a:t> In the test array should be converted to 8 9 10 11 12. In this case we'll make (8 – 3) + (9 – 6) + (10 – 4) + (11 – 11) + (12 – 5) = 5 + 3 + 6 + 0 +</a:t>
            </a:r>
            <a:r>
              <a:rPr lang="ru-RU" sz="2000" dirty="0">
                <a:effectLst/>
                <a:latin typeface="Times New Roman" panose="02020603050405020304" pitchFamily="18" charset="0"/>
                <a:ea typeface="Times New Roman" panose="02020603050405020304" pitchFamily="18" charset="0"/>
              </a:rPr>
              <a:t> 7 </a:t>
            </a:r>
            <a:r>
              <a:rPr lang="en-US" sz="2000" dirty="0">
                <a:effectLst/>
                <a:latin typeface="Times New Roman" panose="02020603050405020304" pitchFamily="18" charset="0"/>
                <a:ea typeface="Times New Roman" panose="02020603050405020304" pitchFamily="18" charset="0"/>
              </a:rPr>
              <a:t>= 21 operations.</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902</a:t>
            </a:r>
            <a:r>
              <a:rPr lang="ru-RU" sz="2400" b="1" u="sng" dirty="0">
                <a:solidFill>
                  <a:srgbClr val="0000FF"/>
                </a:solidFill>
                <a:latin typeface="Times New Roman" panose="02020603050405020304" pitchFamily="18" charset="0"/>
                <a:ea typeface="Times New Roman" panose="02020603050405020304" pitchFamily="18" charset="0"/>
                <a:hlinkClick r:id="rId2"/>
              </a:rPr>
              <a:t>3</a:t>
            </a:r>
            <a:r>
              <a:rPr lang="en-US" sz="2400" b="1" u="sng" dirty="0">
                <a:solidFill>
                  <a:srgbClr val="0000FF"/>
                </a:solidFill>
                <a:latin typeface="Times New Roman" panose="02020603050405020304" pitchFamily="18" charset="0"/>
                <a:ea typeface="Times New Roman" panose="02020603050405020304" pitchFamily="18" charset="0"/>
                <a:hlinkClick r:id="rId2"/>
              </a:rPr>
              <a:t>. Minimum increments</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706274" y="4211672"/>
            <a:ext cx="2045315" cy="106500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5</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3 6 4 11 5</a:t>
            </a:r>
            <a:endParaRPr lang="ru-RU"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79940" y="4211672"/>
            <a:ext cx="2199604" cy="9548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21</a:t>
            </a:r>
            <a:endParaRPr lang="en-US" sz="2000" dirty="0">
              <a:solidFill>
                <a:srgbClr val="222222"/>
              </a:solidFill>
              <a:effectLst/>
              <a:latin typeface="Courier New" panose="02070309020205020404" pitchFamily="49" charset="0"/>
              <a:ea typeface="Times New Roman" panose="02020603050405020304" pitchFamily="18" charset="0"/>
            </a:endParaRPr>
          </a:p>
        </p:txBody>
      </p:sp>
      <p:pic>
        <p:nvPicPr>
          <p:cNvPr id="5" name="Рисунок 4">
            <a:extLst>
              <a:ext uri="{FF2B5EF4-FFF2-40B4-BE49-F238E27FC236}">
                <a16:creationId xmlns:a16="http://schemas.microsoft.com/office/drawing/2014/main" id="{4AC33328-D936-4F47-8D4F-AE1DE02161AA}"/>
              </a:ext>
            </a:extLst>
          </p:cNvPr>
          <p:cNvPicPr>
            <a:picLocks noChangeAspect="1"/>
          </p:cNvPicPr>
          <p:nvPr/>
        </p:nvPicPr>
        <p:blipFill>
          <a:blip r:embed="rId3"/>
          <a:stretch>
            <a:fillRect/>
          </a:stretch>
        </p:blipFill>
        <p:spPr>
          <a:xfrm>
            <a:off x="5979544" y="4489145"/>
            <a:ext cx="3529263" cy="1795056"/>
          </a:xfrm>
          <a:prstGeom prst="rect">
            <a:avLst/>
          </a:prstGeom>
        </p:spPr>
      </p:pic>
    </p:spTree>
    <p:extLst>
      <p:ext uri="{BB962C8B-B14F-4D97-AF65-F5344CB8AC3E}">
        <p14:creationId xmlns:p14="http://schemas.microsoft.com/office/powerpoint/2010/main" val="2274192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2627474"/>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Given array with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positive integers. Find the minimum number of operations required so that an Arithmetic Progression with the array elements is achieved with common difference as 1. In a single operation, any element can be incremented by 1.</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First line contains number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Second line contains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positive integers, each is no more than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minimum number of operations to get an Arithmetic Progression with common difference as 1.</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902</a:t>
            </a:r>
            <a:r>
              <a:rPr lang="ru-RU" sz="2400" b="1" u="sng" dirty="0">
                <a:solidFill>
                  <a:srgbClr val="0000FF"/>
                </a:solidFill>
                <a:latin typeface="Times New Roman" panose="02020603050405020304" pitchFamily="18" charset="0"/>
                <a:ea typeface="Times New Roman" panose="02020603050405020304" pitchFamily="18" charset="0"/>
                <a:hlinkClick r:id="rId2"/>
              </a:rPr>
              <a:t>3</a:t>
            </a:r>
            <a:r>
              <a:rPr lang="en-US" sz="2400" b="1" u="sng" dirty="0">
                <a:solidFill>
                  <a:srgbClr val="0000FF"/>
                </a:solidFill>
                <a:latin typeface="Times New Roman" panose="02020603050405020304" pitchFamily="18" charset="0"/>
                <a:ea typeface="Times New Roman" panose="02020603050405020304" pitchFamily="18" charset="0"/>
                <a:hlinkClick r:id="rId2"/>
              </a:rPr>
              <a:t>. Minimum increments</a:t>
            </a:r>
            <a:endParaRPr lang="ru-RU" sz="72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9EE1CB1-C590-480D-873C-6A8A064F7F1E}"/>
              </a:ext>
            </a:extLst>
          </p:cNvPr>
          <p:cNvSpPr txBox="1"/>
          <p:nvPr/>
        </p:nvSpPr>
        <p:spPr>
          <a:xfrm>
            <a:off x="567891" y="3762747"/>
            <a:ext cx="6235987" cy="2862322"/>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the required least number of operations transform the original array m[0], m[1], …, m[</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1] into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+ 1,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+ 2,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1. Such the smallest value of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will be found by binary search. Obviously, that</a:t>
            </a:r>
          </a:p>
          <a:p>
            <a:pPr algn="ctr"/>
            <a:r>
              <a:rPr lang="en-US" sz="2000" b="1" dirty="0">
                <a:solidFill>
                  <a:srgbClr val="7030A0"/>
                </a:solidFill>
                <a:effectLst/>
                <a:latin typeface="Times New Roman" panose="02020603050405020304" pitchFamily="18" charset="0"/>
                <a:ea typeface="Times New Roman" panose="02020603050405020304" pitchFamily="18" charset="0"/>
              </a:rPr>
              <a:t>m[0]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max(m[0], m[1], …, m[</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1])</a:t>
            </a:r>
          </a:p>
          <a:p>
            <a:pPr algn="just"/>
            <a:endParaRPr lang="ru-RU"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A sequence d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+ 1,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+ 2,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1] is called </a:t>
            </a:r>
            <a:r>
              <a:rPr lang="en-US" sz="2000" b="1" i="1" dirty="0">
                <a:solidFill>
                  <a:srgbClr val="7030A0"/>
                </a:solidFill>
                <a:effectLst/>
                <a:latin typeface="Times New Roman" panose="02020603050405020304" pitchFamily="18" charset="0"/>
                <a:ea typeface="Times New Roman" panose="02020603050405020304" pitchFamily="18" charset="0"/>
              </a:rPr>
              <a:t>suitable</a:t>
            </a:r>
            <a:r>
              <a:rPr lang="en-US" sz="2000" b="1" dirty="0">
                <a:solidFill>
                  <a:srgbClr val="7030A0"/>
                </a:solidFill>
                <a:effectLst/>
                <a:latin typeface="Times New Roman" panose="02020603050405020304" pitchFamily="18" charset="0"/>
                <a:ea typeface="Times New Roman" panose="02020603050405020304" pitchFamily="18" charset="0"/>
              </a:rPr>
              <a:t> if array m can be transformed into array d (for this, m[</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dirty="0">
                <a:solidFill>
                  <a:srgbClr val="7030A0"/>
                </a:solidFill>
                <a:effectLst/>
                <a:latin typeface="Times New Roman" panose="02020603050405020304" pitchFamily="18" charset="0"/>
                <a:ea typeface="Times New Roman" panose="02020603050405020304" pitchFamily="18" charset="0"/>
              </a:rPr>
              <a:t>] ≤ d[</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dirty="0">
                <a:solidFill>
                  <a:srgbClr val="7030A0"/>
                </a:solidFill>
                <a:effectLst/>
                <a:latin typeface="Times New Roman" panose="02020603050405020304" pitchFamily="18" charset="0"/>
                <a:ea typeface="Times New Roman" panose="02020603050405020304" pitchFamily="18" charset="0"/>
              </a:rPr>
              <a:t>] must hold for all </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dirty="0">
                <a:solidFill>
                  <a:srgbClr val="7030A0"/>
                </a:solidFill>
                <a:effectLst/>
                <a:latin typeface="Times New Roman" panose="02020603050405020304" pitchFamily="18" charset="0"/>
                <a:ea typeface="Times New Roman" panose="02020603050405020304" pitchFamily="18" charset="0"/>
              </a:rPr>
              <a:t> from 0 up to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1).</a:t>
            </a:r>
            <a:endParaRPr lang="ru-RU" sz="2000" b="1" dirty="0">
              <a:solidFill>
                <a:srgbClr val="7030A0"/>
              </a:solidFill>
              <a:effectLst/>
              <a:latin typeface="Times New Roman" panose="02020603050405020304" pitchFamily="18" charset="0"/>
              <a:ea typeface="Times New Roman" panose="02020603050405020304" pitchFamily="18" charset="0"/>
            </a:endParaRPr>
          </a:p>
        </p:txBody>
      </p:sp>
      <p:pic>
        <p:nvPicPr>
          <p:cNvPr id="6" name="Рисунок 5">
            <a:extLst>
              <a:ext uri="{FF2B5EF4-FFF2-40B4-BE49-F238E27FC236}">
                <a16:creationId xmlns:a16="http://schemas.microsoft.com/office/drawing/2014/main" id="{F1F5A94B-CAD2-4B9F-A2D5-7C272FA2AB5C}"/>
              </a:ext>
            </a:extLst>
          </p:cNvPr>
          <p:cNvPicPr>
            <a:picLocks noChangeAspect="1"/>
          </p:cNvPicPr>
          <p:nvPr/>
        </p:nvPicPr>
        <p:blipFill>
          <a:blip r:embed="rId3"/>
          <a:stretch>
            <a:fillRect/>
          </a:stretch>
        </p:blipFill>
        <p:spPr>
          <a:xfrm>
            <a:off x="7158037" y="3619099"/>
            <a:ext cx="2643188" cy="2887175"/>
          </a:xfrm>
          <a:prstGeom prst="rect">
            <a:avLst/>
          </a:prstGeom>
        </p:spPr>
      </p:pic>
      <p:sp>
        <p:nvSpPr>
          <p:cNvPr id="11" name="Подзаголовок 2">
            <a:extLst>
              <a:ext uri="{FF2B5EF4-FFF2-40B4-BE49-F238E27FC236}">
                <a16:creationId xmlns:a16="http://schemas.microsoft.com/office/drawing/2014/main" id="{D1A79DEA-3F3C-4FC3-867B-CEA869260A8E}"/>
              </a:ext>
            </a:extLst>
          </p:cNvPr>
          <p:cNvSpPr txBox="1">
            <a:spLocks/>
          </p:cNvSpPr>
          <p:nvPr/>
        </p:nvSpPr>
        <p:spPr>
          <a:xfrm>
            <a:off x="10002612" y="5655358"/>
            <a:ext cx="1621497" cy="4220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suitable</a:t>
            </a:r>
            <a:endParaRPr lang="ru-RU" b="1" dirty="0">
              <a:solidFill>
                <a:srgbClr val="7030A0"/>
              </a:solidFill>
              <a:effectLst/>
              <a:latin typeface="Times New Roman" panose="02020603050405020304" pitchFamily="18" charset="0"/>
              <a:ea typeface="Times New Roman" panose="02020603050405020304" pitchFamily="18" charset="0"/>
            </a:endParaRPr>
          </a:p>
        </p:txBody>
      </p:sp>
      <p:sp>
        <p:nvSpPr>
          <p:cNvPr id="12" name="Подзаголовок 2">
            <a:extLst>
              <a:ext uri="{FF2B5EF4-FFF2-40B4-BE49-F238E27FC236}">
                <a16:creationId xmlns:a16="http://schemas.microsoft.com/office/drawing/2014/main" id="{4BB3891B-C997-430B-84CF-0679615DD51E}"/>
              </a:ext>
            </a:extLst>
          </p:cNvPr>
          <p:cNvSpPr txBox="1">
            <a:spLocks/>
          </p:cNvSpPr>
          <p:nvPr/>
        </p:nvSpPr>
        <p:spPr>
          <a:xfrm>
            <a:off x="10002612" y="3932435"/>
            <a:ext cx="1621497" cy="4220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solidFill>
                  <a:srgbClr val="7030A0"/>
                </a:solidFill>
                <a:latin typeface="Times New Roman CYR" panose="02020603050405020304" pitchFamily="18" charset="0"/>
                <a:ea typeface="Times New Roman" panose="02020603050405020304" pitchFamily="18" charset="0"/>
                <a:cs typeface="Times New Roman" panose="02020603050405020304" pitchFamily="18" charset="0"/>
              </a:rPr>
              <a:t>not suitable</a:t>
            </a:r>
            <a:endParaRPr lang="ru-RU"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08514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1703449"/>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Consider the first test case. Let d =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+ 1,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+ 2, …,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 be an appropriate sequence with the minimum sum of elements. Obviously, m[0] = 3 ≤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11 = max(m[</a:t>
            </a:r>
            <a:r>
              <a:rPr lang="en-US" sz="2000" i="1"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Using binary search, we look for the smallest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for which the sequence d is suitable.</a:t>
            </a:r>
          </a:p>
          <a:p>
            <a:pPr algn="just">
              <a:lnSpc>
                <a:spcPct val="100000"/>
              </a:lnSpc>
              <a:spcBef>
                <a:spcPts val="0"/>
              </a:spcBef>
            </a:pP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For example, for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6 the sequence d will not be suitable, but for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8 it will.</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902</a:t>
            </a:r>
            <a:r>
              <a:rPr lang="ru-RU" sz="2400" b="1" u="sng" dirty="0">
                <a:solidFill>
                  <a:srgbClr val="0000FF"/>
                </a:solidFill>
                <a:latin typeface="Times New Roman" panose="02020603050405020304" pitchFamily="18" charset="0"/>
                <a:ea typeface="Times New Roman" panose="02020603050405020304" pitchFamily="18" charset="0"/>
                <a:hlinkClick r:id="rId3"/>
              </a:rPr>
              <a:t>3</a:t>
            </a:r>
            <a:r>
              <a:rPr lang="en-US" sz="2400" b="1" u="sng" dirty="0">
                <a:solidFill>
                  <a:srgbClr val="0000FF"/>
                </a:solidFill>
                <a:latin typeface="Times New Roman" panose="02020603050405020304" pitchFamily="18" charset="0"/>
                <a:ea typeface="Times New Roman" panose="02020603050405020304" pitchFamily="18" charset="0"/>
                <a:hlinkClick r:id="rId3"/>
              </a:rPr>
              <a:t>. Minimum increments</a:t>
            </a:r>
            <a:endParaRPr lang="ru-RU" sz="7200" b="1" dirty="0">
              <a:latin typeface="Times New Roman" panose="02020603050405020304" pitchFamily="18" charset="0"/>
              <a:cs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96719E4D-1CA1-4C94-843A-D05CE20DE63E}"/>
              </a:ext>
            </a:extLst>
          </p:cNvPr>
          <p:cNvGraphicFramePr>
            <a:graphicFrameLocks noChangeAspect="1"/>
          </p:cNvGraphicFramePr>
          <p:nvPr>
            <p:extLst>
              <p:ext uri="{D42A27DB-BD31-4B8C-83A1-F6EECF244321}">
                <p14:modId xmlns:p14="http://schemas.microsoft.com/office/powerpoint/2010/main" val="2569626605"/>
              </p:ext>
            </p:extLst>
          </p:nvPr>
        </p:nvGraphicFramePr>
        <p:xfrm>
          <a:off x="2213810" y="2695074"/>
          <a:ext cx="6833938" cy="1510121"/>
        </p:xfrm>
        <a:graphic>
          <a:graphicData uri="http://schemas.openxmlformats.org/presentationml/2006/ole">
            <mc:AlternateContent xmlns:mc="http://schemas.openxmlformats.org/markup-compatibility/2006">
              <mc:Choice xmlns:v="urn:schemas-microsoft-com:vml" Requires="v">
                <p:oleObj spid="_x0000_s117769" name="Visio" r:id="rId4" imgW="5086830" imgH="1126692" progId="Visio.Drawing.11">
                  <p:embed/>
                </p:oleObj>
              </mc:Choice>
              <mc:Fallback>
                <p:oleObj name="Visio" r:id="rId4" imgW="5086830" imgH="1126692"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3810" y="2695074"/>
                        <a:ext cx="6833938" cy="1510121"/>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B8B9AA5F-21DE-4B59-B867-03218BBE5245}"/>
              </a:ext>
            </a:extLst>
          </p:cNvPr>
          <p:cNvSpPr txBox="1"/>
          <p:nvPr/>
        </p:nvSpPr>
        <p:spPr>
          <a:xfrm>
            <a:off x="706273" y="4205195"/>
            <a:ext cx="11017297" cy="707886"/>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Consider the second test. Start the binary search on the interval 4 ≤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7. </a:t>
            </a:r>
          </a:p>
          <a:p>
            <a:pPr algn="just"/>
            <a:r>
              <a:rPr lang="en-US" sz="2000" dirty="0">
                <a:effectLst/>
                <a:latin typeface="Times New Roman" panose="02020603050405020304" pitchFamily="18" charset="0"/>
                <a:ea typeface="Times New Roman" panose="02020603050405020304" pitchFamily="18" charset="0"/>
              </a:rPr>
              <a:t>For example, for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4, the sequence d is already suitable.</a:t>
            </a:r>
            <a:endParaRPr lang="ru-RU" dirty="0">
              <a:effectLst/>
              <a:latin typeface="Times New Roman" panose="02020603050405020304" pitchFamily="18" charset="0"/>
              <a:ea typeface="Times New Roman" panose="02020603050405020304" pitchFamily="18" charset="0"/>
            </a:endParaRPr>
          </a:p>
        </p:txBody>
      </p:sp>
      <p:graphicFrame>
        <p:nvGraphicFramePr>
          <p:cNvPr id="9" name="Объект 8">
            <a:extLst>
              <a:ext uri="{FF2B5EF4-FFF2-40B4-BE49-F238E27FC236}">
                <a16:creationId xmlns:a16="http://schemas.microsoft.com/office/drawing/2014/main" id="{F4891104-2350-4E22-8198-0D3124C87A1B}"/>
              </a:ext>
            </a:extLst>
          </p:cNvPr>
          <p:cNvGraphicFramePr>
            <a:graphicFrameLocks noChangeAspect="1"/>
          </p:cNvGraphicFramePr>
          <p:nvPr>
            <p:extLst>
              <p:ext uri="{D42A27DB-BD31-4B8C-83A1-F6EECF244321}">
                <p14:modId xmlns:p14="http://schemas.microsoft.com/office/powerpoint/2010/main" val="1992389268"/>
              </p:ext>
            </p:extLst>
          </p:nvPr>
        </p:nvGraphicFramePr>
        <p:xfrm>
          <a:off x="3747135" y="5055096"/>
          <a:ext cx="3638924" cy="1506642"/>
        </p:xfrm>
        <a:graphic>
          <a:graphicData uri="http://schemas.openxmlformats.org/presentationml/2006/ole">
            <mc:AlternateContent xmlns:mc="http://schemas.openxmlformats.org/markup-compatibility/2006">
              <mc:Choice xmlns:v="urn:schemas-microsoft-com:vml" Requires="v">
                <p:oleObj spid="_x0000_s117770" name="Visio" r:id="rId6" imgW="2710782" imgH="1126692" progId="Visio.Drawing.11">
                  <p:embed/>
                </p:oleObj>
              </mc:Choice>
              <mc:Fallback>
                <p:oleObj name="Visio" r:id="rId6" imgW="2710782" imgH="1126692"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7135" y="5055096"/>
                        <a:ext cx="3638924" cy="1506642"/>
                      </a:xfrm>
                      <a:prstGeom prst="rect">
                        <a:avLst/>
                      </a:prstGeom>
                      <a:noFill/>
                    </p:spPr>
                  </p:pic>
                </p:oleObj>
              </mc:Fallback>
            </mc:AlternateContent>
          </a:graphicData>
        </a:graphic>
      </p:graphicFrame>
    </p:spTree>
    <p:extLst>
      <p:ext uri="{BB962C8B-B14F-4D97-AF65-F5344CB8AC3E}">
        <p14:creationId xmlns:p14="http://schemas.microsoft.com/office/powerpoint/2010/main" val="901611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3220047"/>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Almost prime numbers are the non-prime numbers which are divisible by only a single prime number. In this problem your job is to write a program which finds out the number of almost prime numbers within a certain range.</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First line of the input file contains an integer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600) which indicates how many sets of inputs are there. Each of the next n lines make a single set of input. Each set contains two integer numbers </a:t>
            </a:r>
            <a:r>
              <a:rPr lang="en-US" sz="2000" i="1" dirty="0">
                <a:effectLst/>
                <a:latin typeface="Times New Roman" panose="02020603050405020304" pitchFamily="18" charset="0"/>
                <a:ea typeface="Times New Roman" panose="02020603050405020304" pitchFamily="18" charset="0"/>
              </a:rPr>
              <a:t>low</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 (0 &lt; </a:t>
            </a:r>
            <a:r>
              <a:rPr lang="en-US" sz="2000" i="1" dirty="0">
                <a:effectLst/>
                <a:latin typeface="Times New Roman" panose="02020603050405020304" pitchFamily="18" charset="0"/>
                <a:ea typeface="Times New Roman" panose="02020603050405020304" pitchFamily="18" charset="0"/>
              </a:rPr>
              <a:t>low</a:t>
            </a:r>
            <a:r>
              <a:rPr lang="en-US" sz="2000" dirty="0">
                <a:effectLst/>
                <a:latin typeface="Times New Roman" panose="02020603050405020304" pitchFamily="18" charset="0"/>
                <a:ea typeface="Times New Roman" panose="02020603050405020304" pitchFamily="18" charset="0"/>
              </a:rPr>
              <a:t> </a:t>
            </a:r>
            <a:r>
              <a:rPr lang="en-US" sz="2000" dirty="0">
                <a:effectLst/>
                <a:latin typeface="Symbol" panose="05050102010706020507" pitchFamily="18" charset="2"/>
                <a:ea typeface="Times New Roman" panose="02020603050405020304" pitchFamily="18" charset="0"/>
              </a:rPr>
              <a:t>£</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 &lt; 10</a:t>
            </a:r>
            <a:r>
              <a:rPr lang="en-US" sz="2000" baseline="30000" dirty="0">
                <a:effectLst/>
                <a:latin typeface="Times New Roman" panose="02020603050405020304" pitchFamily="18" charset="0"/>
                <a:ea typeface="Times New Roman" panose="02020603050405020304" pitchFamily="18" charset="0"/>
              </a:rPr>
              <a:t>12</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For each line of input except the first line you should produce one line of output. This output line contains a single integer, which indicates how many almost prime numbers are within the given range (inclusive) [</a:t>
            </a:r>
            <a:r>
              <a:rPr lang="en-US" sz="2000" i="1" dirty="0">
                <a:effectLst/>
                <a:latin typeface="Times New Roman" panose="02020603050405020304" pitchFamily="18" charset="0"/>
                <a:ea typeface="Times New Roman" panose="02020603050405020304" pitchFamily="18" charset="0"/>
              </a:rPr>
              <a:t>low</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ru-RU" sz="2400" b="1" u="sng" dirty="0">
                <a:solidFill>
                  <a:srgbClr val="0000FF"/>
                </a:solidFill>
                <a:latin typeface="Times New Roman" panose="02020603050405020304" pitchFamily="18" charset="0"/>
                <a:ea typeface="Times New Roman" panose="02020603050405020304" pitchFamily="18" charset="0"/>
                <a:hlinkClick r:id="rId2"/>
              </a:rPr>
              <a:t>1302</a:t>
            </a:r>
            <a:r>
              <a:rPr lang="en-US" sz="2400" b="1" u="sng" dirty="0">
                <a:solidFill>
                  <a:srgbClr val="0000FF"/>
                </a:solidFill>
                <a:latin typeface="Times New Roman" panose="02020603050405020304" pitchFamily="18" charset="0"/>
                <a:ea typeface="Times New Roman" panose="02020603050405020304" pitchFamily="18" charset="0"/>
                <a:hlinkClick r:id="rId2"/>
              </a:rPr>
              <a:t>. Almost prime numbers</a:t>
            </a:r>
            <a:endParaRPr lang="ru-RU" sz="7200" b="1" dirty="0">
              <a:latin typeface="Times New Roman" panose="02020603050405020304" pitchFamily="18" charset="0"/>
              <a:cs typeface="Times New Roman" panose="02020603050405020304" pitchFamily="18" charset="0"/>
            </a:endParaRPr>
          </a:p>
        </p:txBody>
      </p:sp>
      <p:sp>
        <p:nvSpPr>
          <p:cNvPr id="7" name="Подзаголовок 2">
            <a:extLst>
              <a:ext uri="{FF2B5EF4-FFF2-40B4-BE49-F238E27FC236}">
                <a16:creationId xmlns:a16="http://schemas.microsoft.com/office/drawing/2014/main" id="{53C1B014-526C-463F-B0B0-7903F0361B50}"/>
              </a:ext>
            </a:extLst>
          </p:cNvPr>
          <p:cNvSpPr txBox="1">
            <a:spLocks/>
          </p:cNvSpPr>
          <p:nvPr/>
        </p:nvSpPr>
        <p:spPr>
          <a:xfrm>
            <a:off x="706274" y="4211672"/>
            <a:ext cx="2045315" cy="165470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222222"/>
                </a:solidFill>
                <a:effectLst/>
                <a:latin typeface="Courier New" panose="02070309020205020404" pitchFamily="49" charset="0"/>
                <a:ea typeface="Times New Roman" panose="02020603050405020304" pitchFamily="18" charset="0"/>
              </a:rPr>
              <a:t>3</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solidFill>
                  <a:srgbClr val="222222"/>
                </a:solidFill>
                <a:effectLst/>
                <a:latin typeface="Courier New" panose="02070309020205020404" pitchFamily="49" charset="0"/>
                <a:ea typeface="Times New Roman" panose="02020603050405020304" pitchFamily="18" charset="0"/>
              </a:rPr>
              <a:t>1 10</a:t>
            </a:r>
          </a:p>
          <a:p>
            <a:pPr algn="just">
              <a:lnSpc>
                <a:spcPct val="100000"/>
              </a:lnSpc>
              <a:spcBef>
                <a:spcPts val="0"/>
              </a:spcBef>
            </a:pPr>
            <a:r>
              <a:rPr lang="ru-RU" sz="2000" dirty="0">
                <a:solidFill>
                  <a:srgbClr val="222222"/>
                </a:solidFill>
                <a:latin typeface="Courier New" panose="02070309020205020404" pitchFamily="49" charset="0"/>
                <a:ea typeface="Times New Roman" panose="02020603050405020304" pitchFamily="18" charset="0"/>
              </a:rPr>
              <a:t>1 20</a:t>
            </a:r>
          </a:p>
          <a:p>
            <a:pPr algn="just">
              <a:lnSpc>
                <a:spcPct val="100000"/>
              </a:lnSpc>
              <a:spcBef>
                <a:spcPts val="0"/>
              </a:spcBef>
            </a:pPr>
            <a:r>
              <a:rPr lang="ru-RU" sz="2000" dirty="0">
                <a:solidFill>
                  <a:srgbClr val="222222"/>
                </a:solidFill>
                <a:effectLst/>
                <a:latin typeface="Courier New" panose="02070309020205020404" pitchFamily="49" charset="0"/>
                <a:ea typeface="Times New Roman" panose="02020603050405020304" pitchFamily="18" charset="0"/>
              </a:rPr>
              <a:t>1 5</a:t>
            </a:r>
            <a:endParaRPr lang="ru-RU" dirty="0">
              <a:effectLst/>
              <a:latin typeface="Times New Roman" panose="02020603050405020304" pitchFamily="18" charset="0"/>
              <a:ea typeface="Times New Roman" panose="02020603050405020304" pitchFamily="18" charset="0"/>
            </a:endParaRPr>
          </a:p>
        </p:txBody>
      </p:sp>
      <p:sp>
        <p:nvSpPr>
          <p:cNvPr id="9" name="Подзаголовок 2">
            <a:extLst>
              <a:ext uri="{FF2B5EF4-FFF2-40B4-BE49-F238E27FC236}">
                <a16:creationId xmlns:a16="http://schemas.microsoft.com/office/drawing/2014/main" id="{32765F8C-F75A-4F3C-9E4B-DFE2CF109B5F}"/>
              </a:ext>
            </a:extLst>
          </p:cNvPr>
          <p:cNvSpPr txBox="1">
            <a:spLocks/>
          </p:cNvSpPr>
          <p:nvPr/>
        </p:nvSpPr>
        <p:spPr>
          <a:xfrm>
            <a:off x="3779940" y="4211672"/>
            <a:ext cx="2199604" cy="12843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222222"/>
                </a:solidFill>
                <a:latin typeface="Courier New" panose="02070309020205020404" pitchFamily="49" charset="0"/>
                <a:ea typeface="Times New Roman" panose="02020603050405020304" pitchFamily="18" charset="0"/>
              </a:rPr>
              <a:t>3</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222222"/>
                </a:solidFill>
                <a:latin typeface="Courier New" panose="02070309020205020404" pitchFamily="49" charset="0"/>
                <a:ea typeface="Times New Roman" panose="02020603050405020304" pitchFamily="18" charset="0"/>
              </a:rPr>
              <a:t>4</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1</a:t>
            </a:r>
            <a:endParaRPr lang="en-US" sz="2000" dirty="0">
              <a:solidFill>
                <a:srgbClr val="222222"/>
              </a:solidFill>
              <a:effectLst/>
              <a:latin typeface="Courier New" panose="02070309020205020404" pitchFamily="49" charset="0"/>
              <a:ea typeface="Times New Roman" panose="02020603050405020304" pitchFamily="18" charset="0"/>
            </a:endParaRPr>
          </a:p>
        </p:txBody>
      </p:sp>
      <p:sp>
        <p:nvSpPr>
          <p:cNvPr id="10" name="TextBox 9">
            <a:extLst>
              <a:ext uri="{FF2B5EF4-FFF2-40B4-BE49-F238E27FC236}">
                <a16:creationId xmlns:a16="http://schemas.microsoft.com/office/drawing/2014/main" id="{886C93ED-D1DE-4954-964C-34EA31E84342}"/>
              </a:ext>
            </a:extLst>
          </p:cNvPr>
          <p:cNvSpPr txBox="1"/>
          <p:nvPr/>
        </p:nvSpPr>
        <p:spPr>
          <a:xfrm>
            <a:off x="6422183" y="4499905"/>
            <a:ext cx="4826969" cy="707886"/>
          </a:xfrm>
          <a:prstGeom prst="rect">
            <a:avLst/>
          </a:prstGeom>
          <a:noFill/>
        </p:spPr>
        <p:txBody>
          <a:bodyPr wrap="square">
            <a:spAutoFit/>
          </a:bodyPr>
          <a:lstStyle/>
          <a:p>
            <a:r>
              <a:rPr lang="en-US" sz="2000" b="1" dirty="0">
                <a:solidFill>
                  <a:srgbClr val="FF0000"/>
                </a:solidFill>
                <a:effectLst/>
                <a:latin typeface="Times New Roman" panose="02020603050405020304" pitchFamily="18" charset="0"/>
                <a:ea typeface="Times New Roman" panose="02020603050405020304" pitchFamily="18" charset="0"/>
              </a:rPr>
              <a:t>Give an example of almost prime number. </a:t>
            </a:r>
          </a:p>
          <a:p>
            <a:r>
              <a:rPr lang="en-US" sz="2000" b="1" dirty="0">
                <a:solidFill>
                  <a:srgbClr val="FF0000"/>
                </a:solidFill>
                <a:latin typeface="Times New Roman" panose="02020603050405020304" pitchFamily="18" charset="0"/>
              </a:rPr>
              <a:t>How do they look like?</a:t>
            </a:r>
            <a:endParaRPr lang="ru-RU" sz="2000" b="1" dirty="0">
              <a:solidFill>
                <a:srgbClr val="FF0000"/>
              </a:solidFill>
            </a:endParaRPr>
          </a:p>
        </p:txBody>
      </p:sp>
      <p:sp>
        <p:nvSpPr>
          <p:cNvPr id="11" name="TextBox 10">
            <a:extLst>
              <a:ext uri="{FF2B5EF4-FFF2-40B4-BE49-F238E27FC236}">
                <a16:creationId xmlns:a16="http://schemas.microsoft.com/office/drawing/2014/main" id="{AE18C423-2701-4AE8-B1C3-F57E65B15E8E}"/>
              </a:ext>
            </a:extLst>
          </p:cNvPr>
          <p:cNvSpPr txBox="1"/>
          <p:nvPr/>
        </p:nvSpPr>
        <p:spPr>
          <a:xfrm>
            <a:off x="1937857" y="5960454"/>
            <a:ext cx="7264381" cy="400110"/>
          </a:xfrm>
          <a:prstGeom prst="rect">
            <a:avLst/>
          </a:prstGeom>
          <a:noFill/>
        </p:spPr>
        <p:txBody>
          <a:bodyPr wrap="square">
            <a:spAutoFit/>
          </a:bodyPr>
          <a:lstStyle/>
          <a:p>
            <a:r>
              <a:rPr lang="en-US" sz="2000" b="1" dirty="0">
                <a:solidFill>
                  <a:srgbClr val="FF0000"/>
                </a:solidFill>
                <a:effectLst/>
                <a:latin typeface="Times New Roman" panose="02020603050405020304" pitchFamily="18" charset="0"/>
                <a:ea typeface="Times New Roman" panose="02020603050405020304" pitchFamily="18" charset="0"/>
              </a:rPr>
              <a:t>Give a list of almost prime numbers in a segment [1; 10], [1; 20]. </a:t>
            </a:r>
          </a:p>
        </p:txBody>
      </p:sp>
    </p:spTree>
    <p:extLst>
      <p:ext uri="{BB962C8B-B14F-4D97-AF65-F5344CB8AC3E}">
        <p14:creationId xmlns:p14="http://schemas.microsoft.com/office/powerpoint/2010/main" val="1477736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5"/>
            <a:ext cx="11229359" cy="3882379"/>
          </a:xfrm>
        </p:spPr>
        <p:txBody>
          <a:bodyPr>
            <a:noAutofit/>
          </a:bodyPr>
          <a:lstStyle/>
          <a:p>
            <a:pPr algn="just">
              <a:lnSpc>
                <a:spcPct val="100000"/>
              </a:lnSpc>
              <a:spcBef>
                <a:spcPts val="0"/>
              </a:spcBef>
            </a:pPr>
            <a:r>
              <a:rPr lang="en-US" sz="2000" i="1" dirty="0">
                <a:effectLst/>
                <a:latin typeface="Times New Roman" panose="02020603050405020304" pitchFamily="18" charset="0"/>
                <a:ea typeface="Times New Roman" panose="02020603050405020304" pitchFamily="18" charset="0"/>
              </a:rPr>
              <a:t>Almost prime</a:t>
            </a:r>
            <a:r>
              <a:rPr lang="en-US" sz="2000" dirty="0">
                <a:effectLst/>
                <a:latin typeface="Times New Roman" panose="02020603050405020304" pitchFamily="18" charset="0"/>
                <a:ea typeface="Times New Roman" panose="02020603050405020304" pitchFamily="18" charset="0"/>
              </a:rPr>
              <a:t> numbers have the form </a:t>
            </a:r>
            <a:r>
              <a:rPr lang="en-US" sz="2000" i="1" dirty="0">
                <a:effectLst/>
                <a:latin typeface="Times New Roman" panose="02020603050405020304" pitchFamily="18" charset="0"/>
                <a:ea typeface="Times New Roman" panose="02020603050405020304" pitchFamily="18" charset="0"/>
              </a:rPr>
              <a:t>p</a:t>
            </a:r>
            <a:r>
              <a:rPr lang="en-US" sz="2000" i="1" baseline="30000"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  where </a:t>
            </a:r>
            <a:r>
              <a:rPr lang="en-US" sz="2000" i="1"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is a prime number, </a:t>
            </a:r>
            <a:r>
              <a:rPr lang="en-US" sz="2000" i="1" dirty="0">
                <a:effectLst/>
                <a:latin typeface="Times New Roman" panose="02020603050405020304" pitchFamily="18" charset="0"/>
                <a:ea typeface="Times New Roman" panose="02020603050405020304" pitchFamily="18" charset="0"/>
              </a:rPr>
              <a:t>k</a:t>
            </a:r>
            <a:r>
              <a:rPr lang="en-US" sz="2000" dirty="0">
                <a:effectLst/>
                <a:latin typeface="Times New Roman" panose="02020603050405020304" pitchFamily="18" charset="0"/>
                <a:ea typeface="Times New Roman" panose="02020603050405020304" pitchFamily="18" charset="0"/>
              </a:rPr>
              <a:t> </a:t>
            </a:r>
            <a:r>
              <a:rPr lang="en-US" sz="2000" dirty="0">
                <a:effectLst/>
                <a:latin typeface="Symbol" panose="05050102010706020507" pitchFamily="18" charset="2"/>
                <a:ea typeface="Times New Roman" panose="02020603050405020304" pitchFamily="18" charset="0"/>
              </a:rPr>
              <a:t>³</a:t>
            </a:r>
            <a:r>
              <a:rPr lang="en-US" sz="2000" dirty="0">
                <a:effectLst/>
                <a:latin typeface="Times New Roman" panose="02020603050405020304" pitchFamily="18" charset="0"/>
                <a:ea typeface="Times New Roman" panose="02020603050405020304" pitchFamily="18" charset="0"/>
              </a:rPr>
              <a:t> 2. For example, the almost prime numbers are 4, 8, 16, 32, 9, 81, … . As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 &lt; 10</a:t>
            </a:r>
            <a:r>
              <a:rPr lang="en-US" sz="2000" baseline="30000" dirty="0">
                <a:effectLst/>
                <a:latin typeface="Times New Roman" panose="02020603050405020304" pitchFamily="18" charset="0"/>
                <a:ea typeface="Times New Roman" panose="02020603050405020304" pitchFamily="18" charset="0"/>
              </a:rPr>
              <a:t>12</a:t>
            </a:r>
            <a:r>
              <a:rPr lang="en-US" sz="2000" dirty="0">
                <a:effectLst/>
                <a:latin typeface="Times New Roman" panose="02020603050405020304" pitchFamily="18" charset="0"/>
                <a:ea typeface="Times New Roman" panose="02020603050405020304" pitchFamily="18" charset="0"/>
              </a:rPr>
              <a:t>, then from the definition of almost prime number </a:t>
            </a:r>
            <a:r>
              <a:rPr lang="en-US" sz="2000" i="1"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&lt;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Generate the array </a:t>
            </a:r>
            <a:r>
              <a:rPr lang="en-US" sz="2000" i="1" dirty="0">
                <a:effectLst/>
                <a:latin typeface="Times New Roman" panose="02020603050405020304" pitchFamily="18" charset="0"/>
                <a:ea typeface="Times New Roman" panose="02020603050405020304" pitchFamily="18" charset="0"/>
              </a:rPr>
              <a:t>primes </a:t>
            </a:r>
            <a:r>
              <a:rPr lang="en-US" sz="2000" dirty="0">
                <a:effectLst/>
                <a:latin typeface="Times New Roman" panose="02020603050405020304" pitchFamily="18" charset="0"/>
                <a:ea typeface="Times New Roman" panose="02020603050405020304" pitchFamily="18" charset="0"/>
              </a:rPr>
              <a:t>if length 1000000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where </a:t>
            </a:r>
            <a:r>
              <a:rPr lang="en-US" sz="2000" i="1" dirty="0">
                <a:effectLst/>
                <a:latin typeface="Times New Roman" panose="02020603050405020304" pitchFamily="18" charset="0"/>
                <a:ea typeface="Times New Roman" panose="02020603050405020304" pitchFamily="18" charset="0"/>
              </a:rPr>
              <a:t>primes</a:t>
            </a:r>
            <a:r>
              <a:rPr lang="en-US" sz="2000" dirty="0">
                <a:effectLst/>
                <a:latin typeface="Times New Roman" panose="02020603050405020304" pitchFamily="18" charset="0"/>
                <a:ea typeface="Times New Roman" panose="02020603050405020304" pitchFamily="18" charset="0"/>
              </a:rPr>
              <a:t>[</a:t>
            </a:r>
            <a:r>
              <a:rPr lang="en-US" sz="2000" i="1"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 1 if </a:t>
            </a:r>
            <a:r>
              <a:rPr lang="en-US" sz="2000" i="1"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is prime and primes[</a:t>
            </a:r>
            <a:r>
              <a:rPr lang="en-US" sz="2000" i="1"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 0 otherwise. Then generate and sort in array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all the almost primes (their amount equals to 80070).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Let f(</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be the number of </a:t>
            </a:r>
            <a:r>
              <a:rPr lang="en-US" sz="2000" i="1" dirty="0">
                <a:effectLst/>
                <a:latin typeface="Times New Roman" panose="02020603050405020304" pitchFamily="18" charset="0"/>
                <a:ea typeface="Times New Roman" panose="02020603050405020304" pitchFamily="18" charset="0"/>
              </a:rPr>
              <a:t>almost primes</a:t>
            </a:r>
            <a:r>
              <a:rPr lang="en-US" sz="2000" dirty="0">
                <a:effectLst/>
                <a:latin typeface="Times New Roman" panose="02020603050405020304" pitchFamily="18" charset="0"/>
                <a:ea typeface="Times New Roman" panose="02020603050405020304" pitchFamily="18" charset="0"/>
              </a:rPr>
              <a:t> in the range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Then </a:t>
            </a:r>
            <a:endParaRPr lang="ru-RU" sz="2000" dirty="0">
              <a:effectLst/>
              <a:latin typeface="Times New Roman" panose="02020603050405020304" pitchFamily="18" charset="0"/>
              <a:ea typeface="Times New Roman" panose="02020603050405020304" pitchFamily="18" charset="0"/>
            </a:endParaRPr>
          </a:p>
          <a:p>
            <a:pPr algn="ctr">
              <a:lnSpc>
                <a:spcPct val="100000"/>
              </a:lnSpc>
              <a:spcBef>
                <a:spcPts val="0"/>
              </a:spcBef>
            </a:pPr>
            <a:r>
              <a:rPr lang="en-US" sz="2000" dirty="0">
                <a:effectLst/>
                <a:latin typeface="Times New Roman" panose="02020603050405020304" pitchFamily="18" charset="0"/>
                <a:ea typeface="Times New Roman" panose="02020603050405020304" pitchFamily="18" charset="0"/>
              </a:rPr>
              <a:t>f(</a:t>
            </a:r>
            <a:r>
              <a:rPr lang="en-US" sz="2000" i="1" dirty="0">
                <a:effectLst/>
                <a:latin typeface="Times New Roman" panose="02020603050405020304" pitchFamily="18" charset="0"/>
                <a:ea typeface="Times New Roman" panose="02020603050405020304" pitchFamily="18" charset="0"/>
              </a:rPr>
              <a:t>low</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 = f(1, </a:t>
            </a:r>
            <a:r>
              <a:rPr lang="en-US" sz="2000" i="1" dirty="0">
                <a:effectLst/>
                <a:latin typeface="Times New Roman" panose="02020603050405020304" pitchFamily="18" charset="0"/>
                <a:ea typeface="Times New Roman" panose="02020603050405020304" pitchFamily="18" charset="0"/>
              </a:rPr>
              <a:t>high</a:t>
            </a:r>
            <a:r>
              <a:rPr lang="en-US" sz="2000" dirty="0">
                <a:effectLst/>
                <a:latin typeface="Times New Roman" panose="02020603050405020304" pitchFamily="18" charset="0"/>
                <a:ea typeface="Times New Roman" panose="02020603050405020304" pitchFamily="18" charset="0"/>
              </a:rPr>
              <a:t>) – f(1, </a:t>
            </a:r>
            <a:r>
              <a:rPr lang="en-US" sz="2000" i="1" dirty="0">
                <a:effectLst/>
                <a:latin typeface="Times New Roman" panose="02020603050405020304" pitchFamily="18" charset="0"/>
                <a:ea typeface="Times New Roman" panose="02020603050405020304" pitchFamily="18" charset="0"/>
              </a:rPr>
              <a:t>low</a:t>
            </a:r>
            <a:r>
              <a:rPr lang="en-US" sz="2000" dirty="0">
                <a:effectLst/>
                <a:latin typeface="Times New Roman" panose="02020603050405020304" pitchFamily="18" charset="0"/>
                <a:ea typeface="Times New Roman" panose="02020603050405020304" pitchFamily="18" charset="0"/>
              </a:rPr>
              <a:t> – 1)</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 number of almost primes in the range [1 ..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equals to the position (index), where it is possible to insert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into the sorted array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by upper bound preserving the sorted order. The index number can be found using binary search on array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by means of function </a:t>
            </a:r>
            <a:r>
              <a:rPr lang="en-US" sz="2000" b="1" i="1" dirty="0">
                <a:effectLst/>
                <a:latin typeface="Times New Roman" panose="02020603050405020304" pitchFamily="18" charset="0"/>
                <a:ea typeface="Times New Roman" panose="02020603050405020304" pitchFamily="18" charset="0"/>
              </a:rPr>
              <a:t>upper_bound</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ru-RU" sz="2400" b="1" u="sng" dirty="0">
                <a:solidFill>
                  <a:srgbClr val="0000FF"/>
                </a:solidFill>
                <a:latin typeface="Times New Roman" panose="02020603050405020304" pitchFamily="18" charset="0"/>
                <a:ea typeface="Times New Roman" panose="02020603050405020304" pitchFamily="18" charset="0"/>
                <a:hlinkClick r:id="rId3"/>
              </a:rPr>
              <a:t>1302</a:t>
            </a:r>
            <a:r>
              <a:rPr lang="en-US" sz="2400" b="1" u="sng" dirty="0">
                <a:solidFill>
                  <a:srgbClr val="0000FF"/>
                </a:solidFill>
                <a:latin typeface="Times New Roman" panose="02020603050405020304" pitchFamily="18" charset="0"/>
                <a:ea typeface="Times New Roman" panose="02020603050405020304" pitchFamily="18" charset="0"/>
                <a:hlinkClick r:id="rId3"/>
              </a:rPr>
              <a:t>. Almost prime numbers</a:t>
            </a:r>
            <a:endParaRPr lang="ru-RU" sz="7200" b="1" dirty="0">
              <a:latin typeface="Times New Roman" panose="02020603050405020304" pitchFamily="18" charset="0"/>
              <a:cs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87B26BFC-46C6-4A19-AE60-63CB55543E49}"/>
              </a:ext>
            </a:extLst>
          </p:cNvPr>
          <p:cNvGraphicFramePr>
            <a:graphicFrameLocks noChangeAspect="1"/>
          </p:cNvGraphicFramePr>
          <p:nvPr>
            <p:extLst>
              <p:ext uri="{D42A27DB-BD31-4B8C-83A1-F6EECF244321}">
                <p14:modId xmlns:p14="http://schemas.microsoft.com/office/powerpoint/2010/main" val="3799229625"/>
              </p:ext>
            </p:extLst>
          </p:nvPr>
        </p:nvGraphicFramePr>
        <p:xfrm>
          <a:off x="3187817" y="5101542"/>
          <a:ext cx="5485486" cy="615864"/>
        </p:xfrm>
        <a:graphic>
          <a:graphicData uri="http://schemas.openxmlformats.org/presentationml/2006/ole">
            <mc:AlternateContent xmlns:mc="http://schemas.openxmlformats.org/markup-compatibility/2006">
              <mc:Choice xmlns:v="urn:schemas-microsoft-com:vml" Requires="v">
                <p:oleObj spid="_x0000_s118788" name="Visio" r:id="rId4" imgW="3646763" imgH="406789" progId="Visio.Drawing.11">
                  <p:embed/>
                </p:oleObj>
              </mc:Choice>
              <mc:Fallback>
                <p:oleObj name="Visio" r:id="rId4" imgW="3646763" imgH="40678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7817" y="5101542"/>
                        <a:ext cx="5485486" cy="615864"/>
                      </a:xfrm>
                      <a:prstGeom prst="rect">
                        <a:avLst/>
                      </a:prstGeom>
                      <a:noFill/>
                    </p:spPr>
                  </p:pic>
                </p:oleObj>
              </mc:Fallback>
            </mc:AlternateContent>
          </a:graphicData>
        </a:graphic>
      </p:graphicFrame>
    </p:spTree>
    <p:extLst>
      <p:ext uri="{BB962C8B-B14F-4D97-AF65-F5344CB8AC3E}">
        <p14:creationId xmlns:p14="http://schemas.microsoft.com/office/powerpoint/2010/main" val="1355985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06274" y="991626"/>
            <a:ext cx="11229359" cy="1106682"/>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Let’s generate all the almost prime numbers in the range from 1 to 100.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First write the powers of 2 not greater than 100. Then the powers of 3, 5 and 7. The square of 11 is greater than 100, so there are no powers of 11 among the almost primes in the range [1..100].</a:t>
            </a:r>
            <a:endParaRPr lang="ru-RU" sz="2000" dirty="0">
              <a:effectLst/>
              <a:latin typeface="Times New Roman" panose="02020603050405020304" pitchFamily="18" charset="0"/>
              <a:ea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ru-RU" sz="2400" b="1" u="sng" dirty="0">
                <a:solidFill>
                  <a:srgbClr val="0000FF"/>
                </a:solidFill>
                <a:latin typeface="Times New Roman" panose="02020603050405020304" pitchFamily="18" charset="0"/>
                <a:ea typeface="Times New Roman" panose="02020603050405020304" pitchFamily="18" charset="0"/>
                <a:hlinkClick r:id="rId3"/>
              </a:rPr>
              <a:t>1302</a:t>
            </a:r>
            <a:r>
              <a:rPr lang="en-US" sz="2400" b="1" u="sng" dirty="0">
                <a:solidFill>
                  <a:srgbClr val="0000FF"/>
                </a:solidFill>
                <a:latin typeface="Times New Roman" panose="02020603050405020304" pitchFamily="18" charset="0"/>
                <a:ea typeface="Times New Roman" panose="02020603050405020304" pitchFamily="18" charset="0"/>
                <a:hlinkClick r:id="rId3"/>
              </a:rPr>
              <a:t>. Almost prime numbers</a:t>
            </a:r>
            <a:endParaRPr lang="ru-RU" sz="7200" b="1" dirty="0">
              <a:latin typeface="Times New Roman" panose="02020603050405020304" pitchFamily="18" charset="0"/>
              <a:cs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87B26BFC-46C6-4A19-AE60-63CB55543E49}"/>
              </a:ext>
            </a:extLst>
          </p:cNvPr>
          <p:cNvGraphicFramePr>
            <a:graphicFrameLocks noChangeAspect="1"/>
          </p:cNvGraphicFramePr>
          <p:nvPr>
            <p:extLst>
              <p:ext uri="{D42A27DB-BD31-4B8C-83A1-F6EECF244321}">
                <p14:modId xmlns:p14="http://schemas.microsoft.com/office/powerpoint/2010/main" val="4114035104"/>
              </p:ext>
            </p:extLst>
          </p:nvPr>
        </p:nvGraphicFramePr>
        <p:xfrm>
          <a:off x="2839453" y="3600001"/>
          <a:ext cx="5485486" cy="615864"/>
        </p:xfrm>
        <a:graphic>
          <a:graphicData uri="http://schemas.openxmlformats.org/presentationml/2006/ole">
            <mc:AlternateContent xmlns:mc="http://schemas.openxmlformats.org/markup-compatibility/2006">
              <mc:Choice xmlns:v="urn:schemas-microsoft-com:vml" Requires="v">
                <p:oleObj spid="_x0000_s119813" name="Visio" r:id="rId4" imgW="3646763" imgH="406789" progId="Visio.Drawing.11">
                  <p:embed/>
                </p:oleObj>
              </mc:Choice>
              <mc:Fallback>
                <p:oleObj name="Visio" r:id="rId4" imgW="3646763" imgH="406789" progId="Visio.Drawing.11">
                  <p:embed/>
                  <p:pic>
                    <p:nvPicPr>
                      <p:cNvPr id="4" name="Объект 3">
                        <a:extLst>
                          <a:ext uri="{FF2B5EF4-FFF2-40B4-BE49-F238E27FC236}">
                            <a16:creationId xmlns:a16="http://schemas.microsoft.com/office/drawing/2014/main" id="{87B26BFC-46C6-4A19-AE60-63CB55543E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453" y="3600001"/>
                        <a:ext cx="5485486" cy="615864"/>
                      </a:xfrm>
                      <a:prstGeom prst="rect">
                        <a:avLst/>
                      </a:prstGeom>
                      <a:noFill/>
                    </p:spPr>
                  </p:pic>
                </p:oleObj>
              </mc:Fallback>
            </mc:AlternateContent>
          </a:graphicData>
        </a:graphic>
      </p:graphicFrame>
      <p:graphicFrame>
        <p:nvGraphicFramePr>
          <p:cNvPr id="5" name="Объект 4">
            <a:extLst>
              <a:ext uri="{FF2B5EF4-FFF2-40B4-BE49-F238E27FC236}">
                <a16:creationId xmlns:a16="http://schemas.microsoft.com/office/drawing/2014/main" id="{E6D60EDF-8D7A-4EF0-93E8-268C6594A09A}"/>
              </a:ext>
            </a:extLst>
          </p:cNvPr>
          <p:cNvGraphicFramePr>
            <a:graphicFrameLocks noChangeAspect="1"/>
          </p:cNvGraphicFramePr>
          <p:nvPr>
            <p:extLst>
              <p:ext uri="{D42A27DB-BD31-4B8C-83A1-F6EECF244321}">
                <p14:modId xmlns:p14="http://schemas.microsoft.com/office/powerpoint/2010/main" val="2826304308"/>
              </p:ext>
            </p:extLst>
          </p:nvPr>
        </p:nvGraphicFramePr>
        <p:xfrm>
          <a:off x="2839453" y="2144806"/>
          <a:ext cx="5485486" cy="615864"/>
        </p:xfrm>
        <a:graphic>
          <a:graphicData uri="http://schemas.openxmlformats.org/presentationml/2006/ole">
            <mc:AlternateContent xmlns:mc="http://schemas.openxmlformats.org/markup-compatibility/2006">
              <mc:Choice xmlns:v="urn:schemas-microsoft-com:vml" Requires="v">
                <p:oleObj spid="_x0000_s119814" name="Visio" r:id="rId6" imgW="3646763" imgH="406789" progId="Visio.Drawing.11">
                  <p:embed/>
                </p:oleObj>
              </mc:Choice>
              <mc:Fallback>
                <p:oleObj name="Visio" r:id="rId6" imgW="3646763" imgH="406789" progId="Visio.Drawing.11">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453" y="2144806"/>
                        <a:ext cx="5485486" cy="615864"/>
                      </a:xfrm>
                      <a:prstGeom prst="rect">
                        <a:avLst/>
                      </a:prstGeom>
                      <a:noFill/>
                    </p:spPr>
                  </p:pic>
                </p:oleObj>
              </mc:Fallback>
            </mc:AlternateContent>
          </a:graphicData>
        </a:graphic>
      </p:graphicFrame>
      <p:sp>
        <p:nvSpPr>
          <p:cNvPr id="9" name="TextBox 8">
            <a:extLst>
              <a:ext uri="{FF2B5EF4-FFF2-40B4-BE49-F238E27FC236}">
                <a16:creationId xmlns:a16="http://schemas.microsoft.com/office/drawing/2014/main" id="{A46F6326-63B5-49DE-AD35-6B84D612ACD8}"/>
              </a:ext>
            </a:extLst>
          </p:cNvPr>
          <p:cNvSpPr txBox="1"/>
          <p:nvPr/>
        </p:nvSpPr>
        <p:spPr>
          <a:xfrm>
            <a:off x="892743" y="3044218"/>
            <a:ext cx="6097604" cy="400110"/>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Sort the array:</a:t>
            </a:r>
            <a:endParaRPr lang="ru-RU"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A119F9C6-4788-42E3-82C9-9F057A60C5D2}"/>
              </a:ext>
            </a:extLst>
          </p:cNvPr>
          <p:cNvSpPr txBox="1"/>
          <p:nvPr/>
        </p:nvSpPr>
        <p:spPr>
          <a:xfrm>
            <a:off x="2654166" y="4879289"/>
            <a:ext cx="5883442" cy="707886"/>
          </a:xfrm>
          <a:prstGeom prst="rect">
            <a:avLst/>
          </a:prstGeom>
          <a:noFill/>
        </p:spPr>
        <p:txBody>
          <a:bodyPr wrap="square">
            <a:spAutoFit/>
          </a:bodyPr>
          <a:lstStyle/>
          <a:p>
            <a:pPr algn="ctr"/>
            <a:r>
              <a:rPr lang="en-US" sz="2000" b="1" dirty="0">
                <a:solidFill>
                  <a:srgbClr val="7030A0"/>
                </a:solidFill>
                <a:effectLst/>
                <a:latin typeface="Times New Roman" panose="02020603050405020304" pitchFamily="18" charset="0"/>
                <a:ea typeface="Times New Roman" panose="02020603050405020304" pitchFamily="18" charset="0"/>
              </a:rPr>
              <a:t>Consider the second test case. In the range from 1 to 20 there are 4 almost prime numbers: 4, 8, 9, 16.</a:t>
            </a:r>
            <a:endParaRPr lang="ru-RU"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7144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7329. Construction</a:t>
            </a:r>
            <a:endParaRPr lang="ru-RU" sz="7200" b="1" dirty="0">
              <a:latin typeface="Times New Roman" panose="02020603050405020304" pitchFamily="18" charset="0"/>
              <a:cs typeface="Times New Roman" panose="02020603050405020304" pitchFamily="18" charset="0"/>
            </a:endParaRPr>
          </a:p>
        </p:txBody>
      </p:sp>
      <p:sp>
        <p:nvSpPr>
          <p:cNvPr id="11" name="Подзаголовок 2">
            <a:extLst>
              <a:ext uri="{FF2B5EF4-FFF2-40B4-BE49-F238E27FC236}">
                <a16:creationId xmlns:a16="http://schemas.microsoft.com/office/drawing/2014/main" id="{656A3909-0459-4B0A-8A7C-6B7D48E4DB0B}"/>
              </a:ext>
            </a:extLst>
          </p:cNvPr>
          <p:cNvSpPr>
            <a:spLocks noGrp="1"/>
          </p:cNvSpPr>
          <p:nvPr>
            <p:ph type="subTitle" idx="1"/>
          </p:nvPr>
        </p:nvSpPr>
        <p:spPr>
          <a:xfrm>
            <a:off x="706274" y="991625"/>
            <a:ext cx="11229359" cy="3220047"/>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After finishing his chalet construction, Stepan still has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wooden boards, with lengths </a:t>
            </a:r>
            <a:r>
              <a:rPr lang="en-US" sz="2000" i="1" dirty="0">
                <a:effectLst/>
                <a:latin typeface="Times New Roman" panose="02020603050405020304" pitchFamily="18" charset="0"/>
                <a:ea typeface="Times New Roman" panose="02020603050405020304" pitchFamily="18" charset="0"/>
              </a:rPr>
              <a:t>l</a:t>
            </a:r>
            <a:r>
              <a:rPr lang="en-US" sz="2000" baseline="-25000" dirty="0">
                <a:effectLst/>
                <a:latin typeface="Times New Roman" panose="02020603050405020304" pitchFamily="18" charset="0"/>
                <a:ea typeface="Times New Roman" panose="02020603050405020304" pitchFamily="18" charset="0"/>
              </a:rPr>
              <a:t>1</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l</a:t>
            </a:r>
            <a:r>
              <a:rPr lang="en-US" sz="2000" i="1" baseline="-25000"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He decided to build a fishing deck on a lake using these boards.</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Stepan believes that the longer deck is, the more fish he will catch!</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Moreover, Stepan, as all fishermen, is very superstitious and trusts all omens. One of it – the deck can be build using whole boards only (boards can be cut but not joined). Now Stepan is interested what maximum deck length </a:t>
            </a:r>
            <a:r>
              <a:rPr lang="en-US" sz="2000" i="1" dirty="0">
                <a:effectLst/>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 can be obtained, if needs to use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boards.</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Contains integers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l</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(1 ≤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10000, 1 ≤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l</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 2 *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 – number of available boards, number of boards to be used to build the deck and the lengths of available boards.</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 </a:t>
            </a:r>
            <a:r>
              <a:rPr lang="en-US" sz="2000" dirty="0">
                <a:effectLst/>
                <a:latin typeface="Times New Roman" panose="02020603050405020304" pitchFamily="18" charset="0"/>
                <a:ea typeface="Times New Roman" panose="02020603050405020304" pitchFamily="18" charset="0"/>
              </a:rPr>
              <a:t>Print one integer </a:t>
            </a:r>
            <a:r>
              <a:rPr lang="en-US" sz="2000" i="1" dirty="0">
                <a:effectLst/>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 – the maximum possible length of the deck or 0 (zero).</a:t>
            </a:r>
            <a:endParaRPr lang="ru-RU" sz="2000" dirty="0">
              <a:effectLst/>
              <a:latin typeface="Times New Roman" panose="02020603050405020304" pitchFamily="18" charset="0"/>
              <a:ea typeface="Times New Roman" panose="02020603050405020304" pitchFamily="18" charset="0"/>
            </a:endParaRPr>
          </a:p>
        </p:txBody>
      </p:sp>
      <p:sp>
        <p:nvSpPr>
          <p:cNvPr id="12" name="Подзаголовок 2">
            <a:extLst>
              <a:ext uri="{FF2B5EF4-FFF2-40B4-BE49-F238E27FC236}">
                <a16:creationId xmlns:a16="http://schemas.microsoft.com/office/drawing/2014/main" id="{A575929B-649E-4829-B70E-AB8A05E32C43}"/>
              </a:ext>
            </a:extLst>
          </p:cNvPr>
          <p:cNvSpPr txBox="1">
            <a:spLocks/>
          </p:cNvSpPr>
          <p:nvPr/>
        </p:nvSpPr>
        <p:spPr>
          <a:xfrm>
            <a:off x="706274" y="4211672"/>
            <a:ext cx="2045315" cy="188712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222222"/>
                </a:solidFill>
                <a:effectLst/>
                <a:latin typeface="Courier New" panose="02070309020205020404" pitchFamily="49" charset="0"/>
                <a:ea typeface="Times New Roman" panose="02020603050405020304" pitchFamily="18" charset="0"/>
              </a:rPr>
              <a:t>4</a:t>
            </a:r>
            <a:r>
              <a:rPr lang="en-US" sz="2000" dirty="0">
                <a:solidFill>
                  <a:srgbClr val="222222"/>
                </a:solidFill>
                <a:effectLst/>
                <a:latin typeface="Courier New" panose="02070309020205020404" pitchFamily="49" charset="0"/>
                <a:ea typeface="Times New Roman" panose="02020603050405020304" pitchFamily="18" charset="0"/>
              </a:rPr>
              <a:t> 6</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16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12</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20</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10</a:t>
            </a:r>
            <a:endParaRPr lang="ru-RU" sz="2800" dirty="0">
              <a:effectLst/>
              <a:latin typeface="Times New Roman" panose="02020603050405020304" pitchFamily="18" charset="0"/>
              <a:ea typeface="Times New Roman" panose="02020603050405020304" pitchFamily="18" charset="0"/>
            </a:endParaRPr>
          </a:p>
        </p:txBody>
      </p:sp>
      <p:sp>
        <p:nvSpPr>
          <p:cNvPr id="13" name="Подзаголовок 2">
            <a:extLst>
              <a:ext uri="{FF2B5EF4-FFF2-40B4-BE49-F238E27FC236}">
                <a16:creationId xmlns:a16="http://schemas.microsoft.com/office/drawing/2014/main" id="{98D1074A-7807-490A-A677-3EB17945C43D}"/>
              </a:ext>
            </a:extLst>
          </p:cNvPr>
          <p:cNvSpPr txBox="1">
            <a:spLocks/>
          </p:cNvSpPr>
          <p:nvPr/>
        </p:nvSpPr>
        <p:spPr>
          <a:xfrm>
            <a:off x="3779940" y="4211672"/>
            <a:ext cx="2199604" cy="12843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8</a:t>
            </a:r>
            <a:endParaRPr lang="en-US" sz="2000" dirty="0">
              <a:solidFill>
                <a:srgbClr val="222222"/>
              </a:solidFill>
              <a:effectLst/>
              <a:latin typeface="Courier New" panose="02070309020205020404" pitchFamily="49" charset="0"/>
              <a:ea typeface="Times New Roman" panose="02020603050405020304" pitchFamily="18" charset="0"/>
            </a:endParaRPr>
          </a:p>
        </p:txBody>
      </p:sp>
      <p:sp>
        <p:nvSpPr>
          <p:cNvPr id="15" name="TextBox 14">
            <a:extLst>
              <a:ext uri="{FF2B5EF4-FFF2-40B4-BE49-F238E27FC236}">
                <a16:creationId xmlns:a16="http://schemas.microsoft.com/office/drawing/2014/main" id="{869627E8-337F-4207-92B2-A0AE67F1F66B}"/>
              </a:ext>
            </a:extLst>
          </p:cNvPr>
          <p:cNvSpPr txBox="1"/>
          <p:nvPr/>
        </p:nvSpPr>
        <p:spPr>
          <a:xfrm>
            <a:off x="1524000" y="5155234"/>
            <a:ext cx="5411804" cy="1015663"/>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If the length of the deck will be 8, then the existing boards can be cut as follows, getting 16/8 + 12/8 + 20/8 + 10/8 = 6 boards of length 8.</a:t>
            </a:r>
            <a:endParaRPr lang="en-US" b="1" dirty="0">
              <a:solidFill>
                <a:srgbClr val="7030A0"/>
              </a:solidFill>
              <a:effectLst/>
              <a:latin typeface="Times New Roman" panose="02020603050405020304" pitchFamily="18" charset="0"/>
              <a:ea typeface="Times New Roman" panose="02020603050405020304" pitchFamily="18" charset="0"/>
            </a:endParaRPr>
          </a:p>
        </p:txBody>
      </p:sp>
      <p:sp>
        <p:nvSpPr>
          <p:cNvPr id="16" name="Rectangle 2">
            <a:extLst>
              <a:ext uri="{FF2B5EF4-FFF2-40B4-BE49-F238E27FC236}">
                <a16:creationId xmlns:a16="http://schemas.microsoft.com/office/drawing/2014/main" id="{838D661C-EACD-429E-B501-8AFB9DC83FC8}"/>
              </a:ext>
            </a:extLst>
          </p:cNvPr>
          <p:cNvSpPr>
            <a:spLocks noChangeArrowheads="1"/>
          </p:cNvSpPr>
          <p:nvPr/>
        </p:nvSpPr>
        <p:spPr bwMode="auto">
          <a:xfrm>
            <a:off x="5592278" y="421167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19" name="Рисунок 18">
            <a:extLst>
              <a:ext uri="{FF2B5EF4-FFF2-40B4-BE49-F238E27FC236}">
                <a16:creationId xmlns:a16="http://schemas.microsoft.com/office/drawing/2014/main" id="{99945BBB-3CB0-4056-B7A1-09BA97A668C8}"/>
              </a:ext>
            </a:extLst>
          </p:cNvPr>
          <p:cNvPicPr>
            <a:picLocks noChangeAspect="1"/>
          </p:cNvPicPr>
          <p:nvPr/>
        </p:nvPicPr>
        <p:blipFill>
          <a:blip r:embed="rId3"/>
          <a:stretch>
            <a:fillRect/>
          </a:stretch>
        </p:blipFill>
        <p:spPr>
          <a:xfrm>
            <a:off x="7239130" y="4489500"/>
            <a:ext cx="4868278" cy="1901671"/>
          </a:xfrm>
          <a:prstGeom prst="rect">
            <a:avLst/>
          </a:prstGeom>
        </p:spPr>
      </p:pic>
    </p:spTree>
    <p:extLst>
      <p:ext uri="{BB962C8B-B14F-4D97-AF65-F5344CB8AC3E}">
        <p14:creationId xmlns:p14="http://schemas.microsoft.com/office/powerpoint/2010/main" val="868159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16940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7329. Construction</a:t>
            </a:r>
            <a:endParaRPr lang="ru-RU" sz="7200" b="1" dirty="0">
              <a:latin typeface="Times New Roman" panose="02020603050405020304" pitchFamily="18" charset="0"/>
              <a:cs typeface="Times New Roman" panose="02020603050405020304" pitchFamily="18" charset="0"/>
            </a:endParaRPr>
          </a:p>
        </p:txBody>
      </p:sp>
      <p:sp>
        <p:nvSpPr>
          <p:cNvPr id="11" name="Подзаголовок 2">
            <a:extLst>
              <a:ext uri="{FF2B5EF4-FFF2-40B4-BE49-F238E27FC236}">
                <a16:creationId xmlns:a16="http://schemas.microsoft.com/office/drawing/2014/main" id="{656A3909-0459-4B0A-8A7C-6B7D48E4DB0B}"/>
              </a:ext>
            </a:extLst>
          </p:cNvPr>
          <p:cNvSpPr>
            <a:spLocks noGrp="1"/>
          </p:cNvSpPr>
          <p:nvPr>
            <p:ph type="subTitle" idx="1"/>
          </p:nvPr>
        </p:nvSpPr>
        <p:spPr>
          <a:xfrm>
            <a:off x="706274" y="1078253"/>
            <a:ext cx="6329793" cy="1000801"/>
          </a:xfrm>
        </p:spPr>
        <p:txBody>
          <a:bodyPr>
            <a:no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If the length of the deck will be 9, then we can get only 16/9 + 12/9 + 20/9 + 10/9 = 5 boards of length 9, which is less than the required 6.</a:t>
            </a:r>
          </a:p>
        </p:txBody>
      </p:sp>
      <p:pic>
        <p:nvPicPr>
          <p:cNvPr id="3" name="Рисунок 2">
            <a:extLst>
              <a:ext uri="{FF2B5EF4-FFF2-40B4-BE49-F238E27FC236}">
                <a16:creationId xmlns:a16="http://schemas.microsoft.com/office/drawing/2014/main" id="{A692CFA7-D217-4D4A-A860-941BD2B9D715}"/>
              </a:ext>
            </a:extLst>
          </p:cNvPr>
          <p:cNvPicPr>
            <a:picLocks noChangeAspect="1"/>
          </p:cNvPicPr>
          <p:nvPr/>
        </p:nvPicPr>
        <p:blipFill>
          <a:blip r:embed="rId4"/>
          <a:stretch>
            <a:fillRect/>
          </a:stretch>
        </p:blipFill>
        <p:spPr>
          <a:xfrm>
            <a:off x="7626266" y="991625"/>
            <a:ext cx="4039553" cy="1771734"/>
          </a:xfrm>
          <a:prstGeom prst="rect">
            <a:avLst/>
          </a:prstGeom>
        </p:spPr>
      </p:pic>
      <p:sp>
        <p:nvSpPr>
          <p:cNvPr id="14" name="TextBox 13">
            <a:extLst>
              <a:ext uri="{FF2B5EF4-FFF2-40B4-BE49-F238E27FC236}">
                <a16:creationId xmlns:a16="http://schemas.microsoft.com/office/drawing/2014/main" id="{B4B1D656-B5D9-4A8A-ABE5-8039990DB4B6}"/>
              </a:ext>
            </a:extLst>
          </p:cNvPr>
          <p:cNvSpPr txBox="1"/>
          <p:nvPr/>
        </p:nvSpPr>
        <p:spPr>
          <a:xfrm>
            <a:off x="575108" y="2865997"/>
            <a:ext cx="11263965" cy="1938992"/>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Let’s find the length of the deck </a:t>
            </a:r>
            <a:r>
              <a:rPr lang="en-US" sz="2000" i="1" dirty="0">
                <a:effectLst/>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 with binary search. Initially let </a:t>
            </a:r>
            <a:r>
              <a:rPr lang="en-US" sz="2000" i="1" dirty="0">
                <a:effectLst/>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Left</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Right</a:t>
            </a:r>
            <a:r>
              <a:rPr lang="en-US" sz="2000" dirty="0">
                <a:effectLst/>
                <a:latin typeface="Times New Roman" panose="02020603050405020304" pitchFamily="18" charset="0"/>
                <a:ea typeface="Times New Roman" panose="02020603050405020304" pitchFamily="18" charset="0"/>
              </a:rPr>
              <a:t>] = [0; INF].</a:t>
            </a:r>
          </a:p>
          <a:p>
            <a:r>
              <a:rPr lang="en-US" sz="2000" dirty="0">
                <a:effectLst/>
                <a:latin typeface="Times New Roman" panose="02020603050405020304" pitchFamily="18" charset="0"/>
                <a:ea typeface="Times New Roman" panose="02020603050405020304" pitchFamily="18" charset="0"/>
              </a:rPr>
              <a:t>Consider the next subtask: is it possible to construct the required bridge with length exactly </a:t>
            </a:r>
          </a:p>
          <a:p>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Left</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Right</a:t>
            </a:r>
            <a:r>
              <a:rPr lang="en-US" sz="2000" dirty="0">
                <a:effectLst/>
                <a:latin typeface="Times New Roman" panose="02020603050405020304" pitchFamily="18" charset="0"/>
                <a:ea typeface="Times New Roman" panose="02020603050405020304" pitchFamily="18" charset="0"/>
              </a:rPr>
              <a:t>) / 2 ? </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To do this, count how many boards of length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we can get. From the board of length </a:t>
            </a:r>
            <a:r>
              <a:rPr lang="en-US" sz="2000" i="1" dirty="0">
                <a:effectLst/>
                <a:latin typeface="Times New Roman" panose="02020603050405020304" pitchFamily="18" charset="0"/>
                <a:ea typeface="Times New Roman" panose="02020603050405020304" pitchFamily="18" charset="0"/>
              </a:rPr>
              <a:t>l</a:t>
            </a:r>
            <a:r>
              <a:rPr lang="en-US" sz="2000" i="1" baseline="-25000" dirty="0">
                <a:effectLst/>
                <a:latin typeface="Times New Roman" panose="02020603050405020304" pitchFamily="18" charset="0"/>
                <a:ea typeface="Times New Roman" panose="02020603050405020304" pitchFamily="18" charset="0"/>
              </a:rPr>
              <a:t>i</a:t>
            </a:r>
            <a:r>
              <a:rPr lang="en-US" sz="2000" dirty="0">
                <a:effectLst/>
                <a:latin typeface="Times New Roman" panose="02020603050405020304" pitchFamily="18" charset="0"/>
                <a:ea typeface="Times New Roman" panose="02020603050405020304" pitchFamily="18" charset="0"/>
              </a:rPr>
              <a:t> we can get </a:t>
            </a:r>
          </a:p>
          <a:p>
            <a:r>
              <a:rPr lang="en-US" sz="2000" dirty="0">
                <a:effectLst/>
                <a:latin typeface="Times New Roman" panose="02020603050405020304" pitchFamily="18" charset="0"/>
                <a:ea typeface="Times New Roman" panose="02020603050405020304" pitchFamily="18" charset="0"/>
              </a:rPr>
              <a:t>such boards. By cutting you can get</a:t>
            </a:r>
            <a:endParaRPr lang="en-US" sz="2400" dirty="0"/>
          </a:p>
        </p:txBody>
      </p:sp>
      <p:graphicFrame>
        <p:nvGraphicFramePr>
          <p:cNvPr id="6" name="Объект 5">
            <a:extLst>
              <a:ext uri="{FF2B5EF4-FFF2-40B4-BE49-F238E27FC236}">
                <a16:creationId xmlns:a16="http://schemas.microsoft.com/office/drawing/2014/main" id="{A8BEAC7C-9CB2-4E42-80ED-9A1301338276}"/>
              </a:ext>
            </a:extLst>
          </p:cNvPr>
          <p:cNvGraphicFramePr>
            <a:graphicFrameLocks noChangeAspect="1"/>
          </p:cNvGraphicFramePr>
          <p:nvPr>
            <p:extLst>
              <p:ext uri="{D42A27DB-BD31-4B8C-83A1-F6EECF244321}">
                <p14:modId xmlns:p14="http://schemas.microsoft.com/office/powerpoint/2010/main" val="1828456470"/>
              </p:ext>
            </p:extLst>
          </p:nvPr>
        </p:nvGraphicFramePr>
        <p:xfrm>
          <a:off x="10940715" y="4158114"/>
          <a:ext cx="898358" cy="336885"/>
        </p:xfrm>
        <a:graphic>
          <a:graphicData uri="http://schemas.openxmlformats.org/presentationml/2006/ole">
            <mc:AlternateContent xmlns:mc="http://schemas.openxmlformats.org/markup-compatibility/2006">
              <mc:Choice xmlns:v="urn:schemas-microsoft-com:vml" Requires="v">
                <p:oleObj spid="_x0000_s121861" name="Формула" r:id="rId5" imgW="609600" imgH="228600" progId="Equation.3">
                  <p:embed/>
                </p:oleObj>
              </mc:Choice>
              <mc:Fallback>
                <p:oleObj name="Формула" r:id="rId5" imgW="609600" imgH="228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40715" y="4158114"/>
                        <a:ext cx="898358" cy="336885"/>
                      </a:xfrm>
                      <a:prstGeom prst="rect">
                        <a:avLst/>
                      </a:prstGeom>
                      <a:noFill/>
                    </p:spPr>
                  </p:pic>
                </p:oleObj>
              </mc:Fallback>
            </mc:AlternateContent>
          </a:graphicData>
        </a:graphic>
      </p:graphicFrame>
      <p:graphicFrame>
        <p:nvGraphicFramePr>
          <p:cNvPr id="9" name="Объект 8">
            <a:extLst>
              <a:ext uri="{FF2B5EF4-FFF2-40B4-BE49-F238E27FC236}">
                <a16:creationId xmlns:a16="http://schemas.microsoft.com/office/drawing/2014/main" id="{92C0B2AD-8487-4CE3-85C3-F6AB8F4F0ABF}"/>
              </a:ext>
            </a:extLst>
          </p:cNvPr>
          <p:cNvGraphicFramePr>
            <a:graphicFrameLocks noChangeAspect="1"/>
          </p:cNvGraphicFramePr>
          <p:nvPr>
            <p:extLst>
              <p:ext uri="{D42A27DB-BD31-4B8C-83A1-F6EECF244321}">
                <p14:modId xmlns:p14="http://schemas.microsoft.com/office/powerpoint/2010/main" val="453929309"/>
              </p:ext>
            </p:extLst>
          </p:nvPr>
        </p:nvGraphicFramePr>
        <p:xfrm>
          <a:off x="5024387" y="4804989"/>
          <a:ext cx="1071613" cy="580995"/>
        </p:xfrm>
        <a:graphic>
          <a:graphicData uri="http://schemas.openxmlformats.org/presentationml/2006/ole">
            <mc:AlternateContent xmlns:mc="http://schemas.openxmlformats.org/markup-compatibility/2006">
              <mc:Choice xmlns:v="urn:schemas-microsoft-com:vml" Requires="v">
                <p:oleObj spid="_x0000_s121862" name="Формула" r:id="rId7" imgW="787400" imgH="431800" progId="Equation.3">
                  <p:embed/>
                </p:oleObj>
              </mc:Choice>
              <mc:Fallback>
                <p:oleObj name="Формула" r:id="rId7" imgW="787400" imgH="4318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4387" y="4804989"/>
                        <a:ext cx="1071613" cy="580995"/>
                      </a:xfrm>
                      <a:prstGeom prst="rect">
                        <a:avLst/>
                      </a:prstGeom>
                      <a:noFill/>
                    </p:spPr>
                  </p:pic>
                </p:oleObj>
              </mc:Fallback>
            </mc:AlternateContent>
          </a:graphicData>
        </a:graphic>
      </p:graphicFrame>
      <p:sp>
        <p:nvSpPr>
          <p:cNvPr id="18" name="TextBox 17">
            <a:extLst>
              <a:ext uri="{FF2B5EF4-FFF2-40B4-BE49-F238E27FC236}">
                <a16:creationId xmlns:a16="http://schemas.microsoft.com/office/drawing/2014/main" id="{DBDBA644-6DD0-4E42-8A74-D4640DB0CA0A}"/>
              </a:ext>
            </a:extLst>
          </p:cNvPr>
          <p:cNvSpPr txBox="1"/>
          <p:nvPr/>
        </p:nvSpPr>
        <p:spPr>
          <a:xfrm>
            <a:off x="706273" y="5385984"/>
            <a:ext cx="11132799" cy="707886"/>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boards of length </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If in total we can get </a:t>
            </a:r>
            <a:r>
              <a:rPr lang="en-US" sz="2000" i="1" dirty="0">
                <a:effectLst/>
                <a:latin typeface="Times New Roman" panose="02020603050405020304" pitchFamily="18" charset="0"/>
                <a:ea typeface="Times New Roman" panose="02020603050405020304" pitchFamily="18" charset="0"/>
              </a:rPr>
              <a:t>m</a:t>
            </a:r>
            <a:r>
              <a:rPr lang="en-US" sz="2000" dirty="0">
                <a:effectLst/>
                <a:latin typeface="Times New Roman" panose="02020603050405020304" pitchFamily="18" charset="0"/>
                <a:ea typeface="Times New Roman" panose="02020603050405020304" pitchFamily="18" charset="0"/>
              </a:rPr>
              <a:t> boards, set </a:t>
            </a:r>
            <a:r>
              <a:rPr lang="en-US" sz="2000" i="1" dirty="0">
                <a:effectLst/>
                <a:latin typeface="Times New Roman" panose="02020603050405020304" pitchFamily="18" charset="0"/>
                <a:ea typeface="Times New Roman" panose="02020603050405020304" pitchFamily="18" charset="0"/>
              </a:rPr>
              <a:t>Left</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+ 1. Otherwise set </a:t>
            </a:r>
            <a:r>
              <a:rPr lang="en-US" sz="2000" i="1" dirty="0">
                <a:effectLst/>
                <a:latin typeface="Times New Roman" panose="02020603050405020304" pitchFamily="18" charset="0"/>
                <a:ea typeface="Times New Roman" panose="02020603050405020304" pitchFamily="18" charset="0"/>
              </a:rPr>
              <a:t>Right</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 </a:t>
            </a:r>
          </a:p>
          <a:p>
            <a:pPr algn="just"/>
            <a:r>
              <a:rPr lang="en-US" sz="2000" dirty="0">
                <a:effectLst/>
                <a:latin typeface="Times New Roman" panose="02020603050405020304" pitchFamily="18" charset="0"/>
                <a:ea typeface="Times New Roman" panose="02020603050405020304" pitchFamily="18" charset="0"/>
              </a:rPr>
              <a:t>The answer will be the value of </a:t>
            </a:r>
            <a:r>
              <a:rPr lang="en-US" sz="2000" i="1" dirty="0">
                <a:effectLst/>
                <a:latin typeface="Times New Roman" panose="02020603050405020304" pitchFamily="18" charset="0"/>
                <a:ea typeface="Times New Roman" panose="02020603050405020304" pitchFamily="18" charset="0"/>
              </a:rPr>
              <a:t>Left</a:t>
            </a:r>
            <a:r>
              <a:rPr lang="en-US" sz="2000" dirty="0">
                <a:effectLst/>
                <a:latin typeface="Times New Roman" panose="02020603050405020304" pitchFamily="18" charset="0"/>
                <a:ea typeface="Times New Roman" panose="02020603050405020304" pitchFamily="18" charset="0"/>
              </a:rPr>
              <a:t> – 1.</a:t>
            </a:r>
            <a:endParaRPr lang="ru-R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35676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Binary search in geometry</a:t>
            </a:r>
            <a:endParaRPr lang="ru-RU" b="1" dirty="0">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3532. Interesting polygon</a:t>
            </a:r>
            <a:endParaRPr lang="ru-RU" sz="7200" b="1" dirty="0">
              <a:latin typeface="Times New Roman" panose="02020603050405020304" pitchFamily="18" charset="0"/>
              <a:cs typeface="Times New Roman" panose="02020603050405020304" pitchFamily="18" charset="0"/>
            </a:endParaRPr>
          </a:p>
        </p:txBody>
      </p:sp>
      <p:sp>
        <p:nvSpPr>
          <p:cNvPr id="9" name="Подзаголовок 2">
            <a:extLst>
              <a:ext uri="{FF2B5EF4-FFF2-40B4-BE49-F238E27FC236}">
                <a16:creationId xmlns:a16="http://schemas.microsoft.com/office/drawing/2014/main" id="{DF18F53A-CC1B-48B2-80A0-68D252F0DA51}"/>
              </a:ext>
            </a:extLst>
          </p:cNvPr>
          <p:cNvSpPr>
            <a:spLocks noGrp="1"/>
          </p:cNvSpPr>
          <p:nvPr>
            <p:ph type="subTitle" idx="1"/>
          </p:nvPr>
        </p:nvSpPr>
        <p:spPr>
          <a:xfrm>
            <a:off x="696649" y="1272937"/>
            <a:ext cx="11229359" cy="173014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Vasya drew a convex polygon with sides of length 1, 2, 3, ...,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(4 ≤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 30), and then built the circle around it. Find the radius r of the circle drawn around the polygon by Vasya.</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Number of sides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 a polygon.</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Print radius </a:t>
            </a:r>
            <a:r>
              <a:rPr lang="en-US" sz="2000" i="1" dirty="0">
                <a:effectLst/>
                <a:latin typeface="Times New Roman" panose="02020603050405020304" pitchFamily="18" charset="0"/>
                <a:ea typeface="Times New Roman" panose="02020603050405020304" pitchFamily="18" charset="0"/>
              </a:rPr>
              <a:t>r</a:t>
            </a:r>
            <a:r>
              <a:rPr lang="en-US" sz="2000" dirty="0">
                <a:effectLst/>
                <a:latin typeface="Times New Roman" panose="02020603050405020304" pitchFamily="18" charset="0"/>
                <a:ea typeface="Times New Roman" panose="02020603050405020304" pitchFamily="18" charset="0"/>
              </a:rPr>
              <a:t> of a circle with 8 digits after the decimal point.</a:t>
            </a:r>
            <a:endParaRPr lang="ru-RU" sz="2000" dirty="0">
              <a:effectLst/>
              <a:latin typeface="Times New Roman" panose="02020603050405020304" pitchFamily="18" charset="0"/>
              <a:ea typeface="Times New Roman" panose="02020603050405020304" pitchFamily="18" charset="0"/>
            </a:endParaRPr>
          </a:p>
        </p:txBody>
      </p:sp>
      <p:sp>
        <p:nvSpPr>
          <p:cNvPr id="10" name="Подзаголовок 2">
            <a:extLst>
              <a:ext uri="{FF2B5EF4-FFF2-40B4-BE49-F238E27FC236}">
                <a16:creationId xmlns:a16="http://schemas.microsoft.com/office/drawing/2014/main" id="{CD534560-86C1-488B-95E0-26AC2D1E1A3E}"/>
              </a:ext>
            </a:extLst>
          </p:cNvPr>
          <p:cNvSpPr txBox="1">
            <a:spLocks/>
          </p:cNvSpPr>
          <p:nvPr/>
        </p:nvSpPr>
        <p:spPr>
          <a:xfrm>
            <a:off x="696649" y="3003083"/>
            <a:ext cx="2045315" cy="6400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5</a:t>
            </a:r>
            <a:endParaRPr lang="ru-RU" sz="2800" dirty="0">
              <a:effectLst/>
              <a:latin typeface="Times New Roman" panose="02020603050405020304" pitchFamily="18" charset="0"/>
              <a:ea typeface="Times New Roman" panose="02020603050405020304" pitchFamily="18" charset="0"/>
            </a:endParaRPr>
          </a:p>
        </p:txBody>
      </p:sp>
      <p:sp>
        <p:nvSpPr>
          <p:cNvPr id="11" name="Подзаголовок 2">
            <a:extLst>
              <a:ext uri="{FF2B5EF4-FFF2-40B4-BE49-F238E27FC236}">
                <a16:creationId xmlns:a16="http://schemas.microsoft.com/office/drawing/2014/main" id="{30CD7731-A7EB-4219-BFDA-3DEEC67D147D}"/>
              </a:ext>
            </a:extLst>
          </p:cNvPr>
          <p:cNvSpPr txBox="1">
            <a:spLocks/>
          </p:cNvSpPr>
          <p:nvPr/>
        </p:nvSpPr>
        <p:spPr>
          <a:xfrm>
            <a:off x="3770315" y="3003083"/>
            <a:ext cx="2199604" cy="7122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effectLst/>
                <a:latin typeface="Courier New" panose="02070309020205020404" pitchFamily="49" charset="0"/>
                <a:ea typeface="Times New Roman" panose="02020603050405020304" pitchFamily="18" charset="0"/>
              </a:rPr>
              <a:t>2.71756723</a:t>
            </a:r>
            <a:endParaRPr lang="en-US" dirty="0">
              <a:solidFill>
                <a:srgbClr val="222222"/>
              </a:solidFill>
              <a:effectLst/>
              <a:latin typeface="Courier New" panose="02070309020205020404" pitchFamily="49" charset="0"/>
              <a:ea typeface="Times New Roman" panose="02020603050405020304" pitchFamily="18" charset="0"/>
            </a:endParaRPr>
          </a:p>
        </p:txBody>
      </p:sp>
      <p:graphicFrame>
        <p:nvGraphicFramePr>
          <p:cNvPr id="15" name="Объект 14">
            <a:extLst>
              <a:ext uri="{FF2B5EF4-FFF2-40B4-BE49-F238E27FC236}">
                <a16:creationId xmlns:a16="http://schemas.microsoft.com/office/drawing/2014/main" id="{2CDC6E90-5F60-4A7D-8C2E-5541CFB19965}"/>
              </a:ext>
            </a:extLst>
          </p:cNvPr>
          <p:cNvGraphicFramePr>
            <a:graphicFrameLocks noChangeAspect="1"/>
          </p:cNvGraphicFramePr>
          <p:nvPr>
            <p:extLst>
              <p:ext uri="{D42A27DB-BD31-4B8C-83A1-F6EECF244321}">
                <p14:modId xmlns:p14="http://schemas.microsoft.com/office/powerpoint/2010/main" val="1520555345"/>
              </p:ext>
            </p:extLst>
          </p:nvPr>
        </p:nvGraphicFramePr>
        <p:xfrm>
          <a:off x="9307936" y="1612222"/>
          <a:ext cx="2598821" cy="2665801"/>
        </p:xfrm>
        <a:graphic>
          <a:graphicData uri="http://schemas.openxmlformats.org/presentationml/2006/ole">
            <mc:AlternateContent xmlns:mc="http://schemas.openxmlformats.org/markup-compatibility/2006">
              <mc:Choice xmlns:v="urn:schemas-microsoft-com:vml" Requires="v">
                <p:oleObj spid="_x0000_s122883" name="Visio" r:id="rId4" imgW="1709749" imgH="1857425" progId="Visio.Drawing.11">
                  <p:embed/>
                </p:oleObj>
              </mc:Choice>
              <mc:Fallback>
                <p:oleObj name="Visio" r:id="rId4" imgW="1709749" imgH="185742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7936" y="1612222"/>
                        <a:ext cx="2598821" cy="2665801"/>
                      </a:xfrm>
                      <a:prstGeom prst="rect">
                        <a:avLst/>
                      </a:prstGeom>
                      <a:noFill/>
                    </p:spPr>
                  </p:pic>
                </p:oleObj>
              </mc:Fallback>
            </mc:AlternateContent>
          </a:graphicData>
        </a:graphic>
      </p:graphicFrame>
      <p:sp>
        <p:nvSpPr>
          <p:cNvPr id="17" name="TextBox 16">
            <a:extLst>
              <a:ext uri="{FF2B5EF4-FFF2-40B4-BE49-F238E27FC236}">
                <a16:creationId xmlns:a16="http://schemas.microsoft.com/office/drawing/2014/main" id="{4AF4BF60-2CB2-4646-A6D4-5F500A6D6A30}"/>
              </a:ext>
            </a:extLst>
          </p:cNvPr>
          <p:cNvSpPr txBox="1"/>
          <p:nvPr/>
        </p:nvSpPr>
        <p:spPr>
          <a:xfrm>
            <a:off x="590769" y="3942138"/>
            <a:ext cx="11229359" cy="2862322"/>
          </a:xfrm>
          <a:prstGeom prst="rect">
            <a:avLst/>
          </a:prstGeom>
          <a:noFill/>
        </p:spPr>
        <p:txBody>
          <a:bodyPr wrap="square">
            <a:spAutoFit/>
          </a:bodyPr>
          <a:lstStyle/>
          <a:p>
            <a:r>
              <a:rPr lang="en-US" sz="2000" b="1" dirty="0">
                <a:solidFill>
                  <a:srgbClr val="7030A0"/>
                </a:solidFill>
                <a:effectLst/>
                <a:latin typeface="Times New Roman" panose="02020603050405020304" pitchFamily="18" charset="0"/>
                <a:ea typeface="Times New Roman" panose="02020603050405020304" pitchFamily="18" charset="0"/>
              </a:rPr>
              <a:t>We’ll search for the radius by binary search. It's obvious that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&gt;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 2 and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&lt;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a:t>
            </a:r>
          </a:p>
          <a:p>
            <a:pPr algn="just"/>
            <a:r>
              <a:rPr lang="en-US" sz="2000" b="1" dirty="0">
                <a:solidFill>
                  <a:srgbClr val="7030A0"/>
                </a:solidFill>
                <a:effectLst/>
                <a:latin typeface="Times New Roman" panose="02020603050405020304" pitchFamily="18" charset="0"/>
                <a:ea typeface="Times New Roman" panose="02020603050405020304" pitchFamily="18" charset="0"/>
              </a:rPr>
              <a:t>Let the length of the side AB be equal to </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dirty="0">
                <a:solidFill>
                  <a:srgbClr val="7030A0"/>
                </a:solidFill>
                <a:effectLst/>
                <a:latin typeface="Times New Roman" panose="02020603050405020304" pitchFamily="18" charset="0"/>
                <a:ea typeface="Times New Roman" panose="02020603050405020304" pitchFamily="18" charset="0"/>
              </a:rPr>
              <a:t>. Write the cosine theorem for triangle AOB:</a:t>
            </a:r>
          </a:p>
          <a:p>
            <a:pPr indent="457200" algn="ct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 *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dirty="0">
                <a:solidFill>
                  <a:srgbClr val="7030A0"/>
                </a:solidFill>
                <a:effectLst/>
                <a:latin typeface="Times New Roman" panose="02020603050405020304" pitchFamily="18" charset="0"/>
                <a:ea typeface="Times New Roman" panose="02020603050405020304" pitchFamily="18" charset="0"/>
              </a:rPr>
              <a:t> * cos φ </a:t>
            </a:r>
          </a:p>
          <a:p>
            <a:pPr algn="just"/>
            <a:endParaRPr lang="en-US" sz="2000" b="1" dirty="0">
              <a:solidFill>
                <a:srgbClr val="7030A0"/>
              </a:solidFill>
              <a:effectLst/>
              <a:latin typeface="Times New Roman" panose="02020603050405020304" pitchFamily="18" charset="0"/>
              <a:ea typeface="Times New Roman" panose="02020603050405020304" pitchFamily="18" charset="0"/>
            </a:endParaRPr>
          </a:p>
          <a:p>
            <a:pPr algn="just"/>
            <a:r>
              <a:rPr lang="en-US" sz="2000" b="1" dirty="0">
                <a:solidFill>
                  <a:srgbClr val="7030A0"/>
                </a:solidFill>
                <a:effectLst/>
                <a:latin typeface="Times New Roman" panose="02020603050405020304" pitchFamily="18" charset="0"/>
                <a:ea typeface="Times New Roman" panose="02020603050405020304" pitchFamily="18" charset="0"/>
              </a:rPr>
              <a:t>Or the same as </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cosφ, whence cos φ = (2</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i</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a:t>
            </a:r>
            <a:r>
              <a:rPr lang="en-US" sz="2000" b="1" i="1" dirty="0">
                <a:solidFill>
                  <a:srgbClr val="7030A0"/>
                </a:solidFill>
                <a:effectLst/>
                <a:latin typeface="Times New Roman" panose="02020603050405020304" pitchFamily="18" charset="0"/>
                <a:ea typeface="Times New Roman" panose="02020603050405020304" pitchFamily="18" charset="0"/>
              </a:rPr>
              <a:t>r</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Compute the sum of angles subtending the sides of the polygon with lengths 1, 2, 3,…, </a:t>
            </a:r>
            <a:r>
              <a:rPr lang="en-US" sz="2000" b="1" i="1" dirty="0">
                <a:solidFill>
                  <a:srgbClr val="7030A0"/>
                </a:solidFill>
                <a:effectLst/>
                <a:latin typeface="Times New Roman" panose="02020603050405020304" pitchFamily="18" charset="0"/>
                <a:ea typeface="Times New Roman" panose="02020603050405020304" pitchFamily="18" charset="0"/>
              </a:rPr>
              <a:t>n</a:t>
            </a:r>
            <a:r>
              <a:rPr lang="en-US" sz="2000" b="1" dirty="0">
                <a:solidFill>
                  <a:srgbClr val="7030A0"/>
                </a:solidFill>
                <a:effectLst/>
                <a:latin typeface="Times New Roman" panose="02020603050405020304" pitchFamily="18" charset="0"/>
                <a:ea typeface="Times New Roman" panose="02020603050405020304" pitchFamily="18" charset="0"/>
              </a:rPr>
              <a:t>. If the resulting sum of angles is greater than 2π, then the radius should be decreased. Otherwise, the radius should be increased. Find the value of the radius, for example, with an accuracy of 10</a:t>
            </a:r>
            <a:r>
              <a:rPr lang="en-US" sz="2000" b="1" baseline="30000" dirty="0">
                <a:solidFill>
                  <a:srgbClr val="7030A0"/>
                </a:solidFill>
                <a:effectLst/>
                <a:latin typeface="Times New Roman" panose="02020603050405020304" pitchFamily="18" charset="0"/>
                <a:ea typeface="Times New Roman" panose="02020603050405020304" pitchFamily="18" charset="0"/>
              </a:rPr>
              <a:t>-11</a:t>
            </a:r>
            <a:r>
              <a:rPr lang="en-US" sz="2000" b="1" dirty="0">
                <a:solidFill>
                  <a:srgbClr val="7030A0"/>
                </a:solidFill>
                <a:effectLst/>
                <a:latin typeface="Times New Roman" panose="02020603050405020304" pitchFamily="18" charset="0"/>
                <a:ea typeface="Times New Roman" panose="02020603050405020304" pitchFamily="18" charset="0"/>
              </a:rPr>
              <a:t>.</a:t>
            </a:r>
          </a:p>
          <a:p>
            <a:endParaRPr lang="en-US" sz="2000" b="1" dirty="0">
              <a:solidFill>
                <a:srgbClr val="7030A0"/>
              </a:solidFill>
            </a:endParaRPr>
          </a:p>
        </p:txBody>
      </p:sp>
    </p:spTree>
    <p:extLst>
      <p:ext uri="{BB962C8B-B14F-4D97-AF65-F5344CB8AC3E}">
        <p14:creationId xmlns:p14="http://schemas.microsoft.com/office/powerpoint/2010/main" val="2183397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Binary search in geometry</a:t>
            </a:r>
            <a:endParaRPr lang="ru-RU" b="1" dirty="0">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2"/>
              </a:rPr>
              <a:t>1506. Crossed ladders</a:t>
            </a:r>
            <a:endParaRPr lang="ru-RU" sz="7200" b="1" dirty="0">
              <a:latin typeface="Times New Roman" panose="02020603050405020304" pitchFamily="18" charset="0"/>
              <a:cs typeface="Times New Roman" panose="02020603050405020304" pitchFamily="18" charset="0"/>
            </a:endParaRPr>
          </a:p>
        </p:txBody>
      </p:sp>
      <p:sp>
        <p:nvSpPr>
          <p:cNvPr id="9" name="Подзаголовок 2">
            <a:extLst>
              <a:ext uri="{FF2B5EF4-FFF2-40B4-BE49-F238E27FC236}">
                <a16:creationId xmlns:a16="http://schemas.microsoft.com/office/drawing/2014/main" id="{DF18F53A-CC1B-48B2-80A0-68D252F0DA51}"/>
              </a:ext>
            </a:extLst>
          </p:cNvPr>
          <p:cNvSpPr>
            <a:spLocks noGrp="1"/>
          </p:cNvSpPr>
          <p:nvPr>
            <p:ph type="subTitle" idx="1"/>
          </p:nvPr>
        </p:nvSpPr>
        <p:spPr>
          <a:xfrm>
            <a:off x="696649" y="1352351"/>
            <a:ext cx="7609953" cy="3539695"/>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A narrow street is lined with tall buildings. An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foot long ladder is rested at the base of the building on the right side of the street and leans on the building on the left side. An </a:t>
            </a:r>
            <a:r>
              <a:rPr lang="en-US" sz="2000" i="1"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foot long ladder is rested at the base of the building on the left side of the street and leans on the building on the right side. The point where the two ladders cross is exactly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 feet from the ground. How wide is the street?</a:t>
            </a:r>
          </a:p>
          <a:p>
            <a:pPr algn="just">
              <a:lnSpc>
                <a:spcPct val="100000"/>
              </a:lnSpc>
              <a:spcBef>
                <a:spcPts val="0"/>
              </a:spcBef>
            </a:pPr>
            <a:endParaRPr lang="en-US" sz="2000" b="1"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Each line contains three positive real numbers giving the values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c</a:t>
            </a:r>
            <a:r>
              <a:rPr lang="en-US" sz="2000" dirty="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 each test case print one line with a real number giving the width of the street in feet, with three digits after the decimal point.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endParaRPr lang="ru-RU" sz="2000" dirty="0">
              <a:effectLst/>
              <a:latin typeface="Times New Roman" panose="02020603050405020304" pitchFamily="18" charset="0"/>
              <a:ea typeface="Times New Roman" panose="02020603050405020304" pitchFamily="18" charset="0"/>
            </a:endParaRPr>
          </a:p>
        </p:txBody>
      </p:sp>
      <p:sp>
        <p:nvSpPr>
          <p:cNvPr id="10" name="Подзаголовок 2">
            <a:extLst>
              <a:ext uri="{FF2B5EF4-FFF2-40B4-BE49-F238E27FC236}">
                <a16:creationId xmlns:a16="http://schemas.microsoft.com/office/drawing/2014/main" id="{CD534560-86C1-488B-95E0-26AC2D1E1A3E}"/>
              </a:ext>
            </a:extLst>
          </p:cNvPr>
          <p:cNvSpPr txBox="1">
            <a:spLocks/>
          </p:cNvSpPr>
          <p:nvPr/>
        </p:nvSpPr>
        <p:spPr>
          <a:xfrm>
            <a:off x="696649" y="4793380"/>
            <a:ext cx="2045315" cy="6400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30 40 10</a:t>
            </a:r>
            <a:endParaRPr lang="ru-RU" sz="2800" dirty="0">
              <a:effectLst/>
              <a:latin typeface="Times New Roman" panose="02020603050405020304" pitchFamily="18" charset="0"/>
              <a:ea typeface="Times New Roman" panose="02020603050405020304" pitchFamily="18" charset="0"/>
            </a:endParaRPr>
          </a:p>
        </p:txBody>
      </p:sp>
      <p:sp>
        <p:nvSpPr>
          <p:cNvPr id="11" name="Подзаголовок 2">
            <a:extLst>
              <a:ext uri="{FF2B5EF4-FFF2-40B4-BE49-F238E27FC236}">
                <a16:creationId xmlns:a16="http://schemas.microsoft.com/office/drawing/2014/main" id="{30CD7731-A7EB-4219-BFDA-3DEEC67D147D}"/>
              </a:ext>
            </a:extLst>
          </p:cNvPr>
          <p:cNvSpPr txBox="1">
            <a:spLocks/>
          </p:cNvSpPr>
          <p:nvPr/>
        </p:nvSpPr>
        <p:spPr>
          <a:xfrm>
            <a:off x="3770315" y="4793380"/>
            <a:ext cx="2199604" cy="7122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effectLst/>
                <a:latin typeface="Courier New" panose="02070309020205020404" pitchFamily="49" charset="0"/>
                <a:ea typeface="Times New Roman" panose="02020603050405020304" pitchFamily="18" charset="0"/>
              </a:rPr>
              <a:t>2</a:t>
            </a:r>
            <a:r>
              <a:rPr lang="en-US" sz="2000" dirty="0">
                <a:effectLst/>
                <a:latin typeface="Courier New" panose="02070309020205020404" pitchFamily="49" charset="0"/>
                <a:ea typeface="Times New Roman" panose="02020603050405020304" pitchFamily="18" charset="0"/>
              </a:rPr>
              <a:t>6</a:t>
            </a:r>
            <a:r>
              <a:rPr lang="ru-RU" sz="2000" dirty="0">
                <a:effectLst/>
                <a:latin typeface="Courier New" panose="02070309020205020404" pitchFamily="49" charset="0"/>
                <a:ea typeface="Times New Roman" panose="02020603050405020304" pitchFamily="18" charset="0"/>
              </a:rPr>
              <a:t>.</a:t>
            </a:r>
            <a:r>
              <a:rPr lang="en-US" sz="2000" dirty="0">
                <a:effectLst/>
                <a:latin typeface="Courier New" panose="02070309020205020404" pitchFamily="49" charset="0"/>
                <a:ea typeface="Times New Roman" panose="02020603050405020304" pitchFamily="18" charset="0"/>
              </a:rPr>
              <a:t>03</a:t>
            </a:r>
            <a:r>
              <a:rPr lang="ru-RU" sz="2000" dirty="0">
                <a:effectLst/>
                <a:latin typeface="Courier New" panose="02070309020205020404" pitchFamily="49" charset="0"/>
                <a:ea typeface="Times New Roman" panose="02020603050405020304" pitchFamily="18" charset="0"/>
              </a:rPr>
              <a:t>3</a:t>
            </a:r>
            <a:endParaRPr lang="en-US" dirty="0">
              <a:solidFill>
                <a:srgbClr val="222222"/>
              </a:solidFill>
              <a:effectLst/>
              <a:latin typeface="Courier New" panose="02070309020205020404" pitchFamily="49" charset="0"/>
              <a:ea typeface="Times New Roman" panose="02020603050405020304" pitchFamily="18" charset="0"/>
            </a:endParaRPr>
          </a:p>
        </p:txBody>
      </p:sp>
      <p:pic>
        <p:nvPicPr>
          <p:cNvPr id="123906" name="Picture 2">
            <a:extLst>
              <a:ext uri="{FF2B5EF4-FFF2-40B4-BE49-F238E27FC236}">
                <a16:creationId xmlns:a16="http://schemas.microsoft.com/office/drawing/2014/main" id="{4A9710FE-86BA-4C09-90FF-288053E59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683" y="1179044"/>
            <a:ext cx="3727887" cy="306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1943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Binary search in geometry</a:t>
            </a:r>
            <a:endParaRPr lang="ru-RU" b="1" dirty="0">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25A40D76-4AC4-416F-AEFE-F69F3DCF8A96}"/>
              </a:ext>
            </a:extLst>
          </p:cNvPr>
          <p:cNvSpPr txBox="1">
            <a:spLocks/>
          </p:cNvSpPr>
          <p:nvPr/>
        </p:nvSpPr>
        <p:spPr>
          <a:xfrm>
            <a:off x="1524000" y="632867"/>
            <a:ext cx="9144000" cy="6785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00FF"/>
                </a:solidFill>
                <a:latin typeface="Times New Roman" panose="02020603050405020304" pitchFamily="18" charset="0"/>
                <a:ea typeface="Times New Roman" panose="02020603050405020304" pitchFamily="18" charset="0"/>
              </a:rPr>
              <a:t>E-OLYMP </a:t>
            </a:r>
            <a:r>
              <a:rPr lang="en-US" sz="2400" b="1" u="sng" dirty="0">
                <a:solidFill>
                  <a:srgbClr val="0000FF"/>
                </a:solidFill>
                <a:latin typeface="Times New Roman" panose="02020603050405020304" pitchFamily="18" charset="0"/>
                <a:ea typeface="Times New Roman" panose="02020603050405020304" pitchFamily="18" charset="0"/>
                <a:hlinkClick r:id="rId3"/>
              </a:rPr>
              <a:t>1506. Crossed ladders</a:t>
            </a:r>
            <a:endParaRPr lang="ru-RU" sz="7200" b="1" dirty="0">
              <a:latin typeface="Times New Roman" panose="02020603050405020304" pitchFamily="18" charset="0"/>
              <a:cs typeface="Times New Roman" panose="02020603050405020304" pitchFamily="18" charset="0"/>
            </a:endParaRPr>
          </a:p>
        </p:txBody>
      </p:sp>
      <p:sp>
        <p:nvSpPr>
          <p:cNvPr id="9" name="Подзаголовок 2">
            <a:extLst>
              <a:ext uri="{FF2B5EF4-FFF2-40B4-BE49-F238E27FC236}">
                <a16:creationId xmlns:a16="http://schemas.microsoft.com/office/drawing/2014/main" id="{DF18F53A-CC1B-48B2-80A0-68D252F0DA51}"/>
              </a:ext>
            </a:extLst>
          </p:cNvPr>
          <p:cNvSpPr>
            <a:spLocks noGrp="1"/>
          </p:cNvSpPr>
          <p:nvPr>
            <p:ph type="subTitle" idx="1"/>
          </p:nvPr>
        </p:nvSpPr>
        <p:spPr>
          <a:xfrm>
            <a:off x="696649" y="1493308"/>
            <a:ext cx="7609953" cy="1025089"/>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Triangles</a:t>
            </a:r>
            <a:r>
              <a:rPr lang="ru-RU" sz="2000" dirty="0">
                <a:effectLst/>
                <a:latin typeface="Times New Roman" panose="02020603050405020304" pitchFamily="18" charset="0"/>
                <a:ea typeface="Times New Roman" panose="02020603050405020304" pitchFamily="18" charset="0"/>
              </a:rPr>
              <a:t> AOP </a:t>
            </a:r>
            <a:r>
              <a:rPr lang="en-US" sz="2000" dirty="0">
                <a:effectLst/>
                <a:latin typeface="Times New Roman" panose="02020603050405020304" pitchFamily="18" charset="0"/>
                <a:ea typeface="Times New Roman" panose="02020603050405020304" pitchFamily="18" charset="0"/>
              </a:rPr>
              <a:t>and</a:t>
            </a:r>
            <a:r>
              <a:rPr lang="ru-RU" sz="2000" dirty="0">
                <a:effectLst/>
                <a:latin typeface="Times New Roman" panose="02020603050405020304" pitchFamily="18" charset="0"/>
                <a:ea typeface="Times New Roman" panose="02020603050405020304" pitchFamily="18" charset="0"/>
              </a:rPr>
              <a:t> ADC </a:t>
            </a:r>
            <a:r>
              <a:rPr lang="en-US" sz="2000" dirty="0">
                <a:effectLst/>
                <a:latin typeface="Times New Roman" panose="02020603050405020304" pitchFamily="18" charset="0"/>
                <a:ea typeface="Times New Roman" panose="02020603050405020304" pitchFamily="18" charset="0"/>
              </a:rPr>
              <a:t>are similar</a:t>
            </a:r>
            <a:r>
              <a:rPr lang="ru-RU" sz="2000" dirty="0">
                <a:effectLst/>
                <a:latin typeface="Times New Roman" panose="02020603050405020304" pitchFamily="18"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Triangles</a:t>
            </a:r>
            <a:r>
              <a:rPr lang="ru-RU" sz="2000" dirty="0">
                <a:effectLst/>
                <a:latin typeface="Times New Roman" panose="02020603050405020304" pitchFamily="18" charset="0"/>
                <a:ea typeface="Times New Roman" panose="02020603050405020304" pitchFamily="18" charset="0"/>
              </a:rPr>
              <a:t> COP </a:t>
            </a:r>
            <a:r>
              <a:rPr lang="en-US" sz="2000" dirty="0">
                <a:effectLst/>
                <a:latin typeface="Times New Roman" panose="02020603050405020304" pitchFamily="18" charset="0"/>
                <a:ea typeface="Times New Roman" panose="02020603050405020304" pitchFamily="18" charset="0"/>
              </a:rPr>
              <a:t>and</a:t>
            </a:r>
            <a:r>
              <a:rPr lang="ru-RU" sz="2000" dirty="0">
                <a:effectLst/>
                <a:latin typeface="Times New Roman" panose="02020603050405020304" pitchFamily="18" charset="0"/>
                <a:ea typeface="Times New Roman" panose="02020603050405020304" pitchFamily="18" charset="0"/>
              </a:rPr>
              <a:t> CBA </a:t>
            </a:r>
            <a:r>
              <a:rPr lang="en-US" sz="2000" dirty="0">
                <a:effectLst/>
                <a:latin typeface="Times New Roman" panose="02020603050405020304" pitchFamily="18" charset="0"/>
                <a:ea typeface="Times New Roman" panose="02020603050405020304" pitchFamily="18" charset="0"/>
              </a:rPr>
              <a:t>are similar</a:t>
            </a:r>
            <a:r>
              <a:rPr lang="ru-RU" sz="2000" dirty="0">
                <a:effectLst/>
                <a:latin typeface="Times New Roman" panose="02020603050405020304" pitchFamily="18" charset="0"/>
                <a:ea typeface="Times New Roman" panose="02020603050405020304" pitchFamily="18" charset="0"/>
              </a:rPr>
              <a:t>:</a:t>
            </a:r>
            <a:endParaRPr lang="ru-RU" dirty="0">
              <a:effectLst/>
              <a:latin typeface="Times New Roman" panose="02020603050405020304" pitchFamily="18" charset="0"/>
              <a:ea typeface="Times New Roman" panose="02020603050405020304" pitchFamily="18" charset="0"/>
            </a:endParaRPr>
          </a:p>
        </p:txBody>
      </p:sp>
      <p:graphicFrame>
        <p:nvGraphicFramePr>
          <p:cNvPr id="4" name="Объект 3">
            <a:extLst>
              <a:ext uri="{FF2B5EF4-FFF2-40B4-BE49-F238E27FC236}">
                <a16:creationId xmlns:a16="http://schemas.microsoft.com/office/drawing/2014/main" id="{4DA8FB5D-97A3-465B-84B4-E0FE21683010}"/>
              </a:ext>
            </a:extLst>
          </p:cNvPr>
          <p:cNvGraphicFramePr>
            <a:graphicFrameLocks noChangeAspect="1"/>
          </p:cNvGraphicFramePr>
          <p:nvPr>
            <p:extLst>
              <p:ext uri="{D42A27DB-BD31-4B8C-83A1-F6EECF244321}">
                <p14:modId xmlns:p14="http://schemas.microsoft.com/office/powerpoint/2010/main" val="3554583283"/>
              </p:ext>
            </p:extLst>
          </p:nvPr>
        </p:nvGraphicFramePr>
        <p:xfrm>
          <a:off x="8396016" y="1311437"/>
          <a:ext cx="3099335" cy="2758260"/>
        </p:xfrm>
        <a:graphic>
          <a:graphicData uri="http://schemas.openxmlformats.org/presentationml/2006/ole">
            <mc:AlternateContent xmlns:mc="http://schemas.openxmlformats.org/markup-compatibility/2006">
              <mc:Choice xmlns:v="urn:schemas-microsoft-com:vml" Requires="v">
                <p:oleObj spid="_x0000_s124941" name="Visio" r:id="rId4" imgW="1991009" imgH="1774879" progId="Visio.Drawing.11">
                  <p:embed/>
                </p:oleObj>
              </mc:Choice>
              <mc:Fallback>
                <p:oleObj name="Visio" r:id="rId4" imgW="1991009" imgH="177487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6016" y="1311437"/>
                        <a:ext cx="3099335" cy="2758260"/>
                      </a:xfrm>
                      <a:prstGeom prst="rect">
                        <a:avLst/>
                      </a:prstGeom>
                      <a:noFill/>
                    </p:spPr>
                  </p:pic>
                </p:oleObj>
              </mc:Fallback>
            </mc:AlternateContent>
          </a:graphicData>
        </a:graphic>
      </p:graphicFrame>
      <p:graphicFrame>
        <p:nvGraphicFramePr>
          <p:cNvPr id="6" name="Объект 5">
            <a:extLst>
              <a:ext uri="{FF2B5EF4-FFF2-40B4-BE49-F238E27FC236}">
                <a16:creationId xmlns:a16="http://schemas.microsoft.com/office/drawing/2014/main" id="{E9CC9148-2273-4B3B-BB87-D2B4E6889EA1}"/>
              </a:ext>
            </a:extLst>
          </p:cNvPr>
          <p:cNvGraphicFramePr>
            <a:graphicFrameLocks noChangeAspect="1"/>
          </p:cNvGraphicFramePr>
          <p:nvPr>
            <p:extLst>
              <p:ext uri="{D42A27DB-BD31-4B8C-83A1-F6EECF244321}">
                <p14:modId xmlns:p14="http://schemas.microsoft.com/office/powerpoint/2010/main" val="1709988316"/>
              </p:ext>
            </p:extLst>
          </p:nvPr>
        </p:nvGraphicFramePr>
        <p:xfrm>
          <a:off x="4677878" y="1380358"/>
          <a:ext cx="847023" cy="625494"/>
        </p:xfrm>
        <a:graphic>
          <a:graphicData uri="http://schemas.openxmlformats.org/presentationml/2006/ole">
            <mc:AlternateContent xmlns:mc="http://schemas.openxmlformats.org/markup-compatibility/2006">
              <mc:Choice xmlns:v="urn:schemas-microsoft-com:vml" Requires="v">
                <p:oleObj spid="_x0000_s124942" name="Формула" r:id="rId6" imgW="622300" imgH="457200" progId="Equation.3">
                  <p:embed/>
                </p:oleObj>
              </mc:Choice>
              <mc:Fallback>
                <p:oleObj name="Формула" r:id="rId6" imgW="622300" imgH="457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7878" y="1380358"/>
                        <a:ext cx="847023" cy="625494"/>
                      </a:xfrm>
                      <a:prstGeom prst="rect">
                        <a:avLst/>
                      </a:prstGeom>
                      <a:noFill/>
                    </p:spPr>
                  </p:pic>
                </p:oleObj>
              </mc:Fallback>
            </mc:AlternateContent>
          </a:graphicData>
        </a:graphic>
      </p:graphicFrame>
      <p:graphicFrame>
        <p:nvGraphicFramePr>
          <p:cNvPr id="12" name="Объект 11">
            <a:extLst>
              <a:ext uri="{FF2B5EF4-FFF2-40B4-BE49-F238E27FC236}">
                <a16:creationId xmlns:a16="http://schemas.microsoft.com/office/drawing/2014/main" id="{7BF83BF9-88C9-4505-BB95-BCE8B67357FF}"/>
              </a:ext>
            </a:extLst>
          </p:cNvPr>
          <p:cNvGraphicFramePr>
            <a:graphicFrameLocks noChangeAspect="1"/>
          </p:cNvGraphicFramePr>
          <p:nvPr>
            <p:extLst>
              <p:ext uri="{D42A27DB-BD31-4B8C-83A1-F6EECF244321}">
                <p14:modId xmlns:p14="http://schemas.microsoft.com/office/powerpoint/2010/main" val="3602992658"/>
              </p:ext>
            </p:extLst>
          </p:nvPr>
        </p:nvGraphicFramePr>
        <p:xfrm>
          <a:off x="4677877" y="1985996"/>
          <a:ext cx="847023" cy="645351"/>
        </p:xfrm>
        <a:graphic>
          <a:graphicData uri="http://schemas.openxmlformats.org/presentationml/2006/ole">
            <mc:AlternateContent xmlns:mc="http://schemas.openxmlformats.org/markup-compatibility/2006">
              <mc:Choice xmlns:v="urn:schemas-microsoft-com:vml" Requires="v">
                <p:oleObj spid="_x0000_s124943" name="Формула" r:id="rId8" imgW="596900" imgH="457200" progId="Equation.3">
                  <p:embed/>
                </p:oleObj>
              </mc:Choice>
              <mc:Fallback>
                <p:oleObj name="Формула" r:id="rId8" imgW="596900" imgH="457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7877" y="1985996"/>
                        <a:ext cx="847023" cy="645351"/>
                      </a:xfrm>
                      <a:prstGeom prst="rect">
                        <a:avLst/>
                      </a:prstGeom>
                      <a:noFill/>
                    </p:spPr>
                  </p:pic>
                </p:oleObj>
              </mc:Fallback>
            </mc:AlternateContent>
          </a:graphicData>
        </a:graphic>
      </p:graphicFrame>
      <p:graphicFrame>
        <p:nvGraphicFramePr>
          <p:cNvPr id="14" name="Объект 13">
            <a:extLst>
              <a:ext uri="{FF2B5EF4-FFF2-40B4-BE49-F238E27FC236}">
                <a16:creationId xmlns:a16="http://schemas.microsoft.com/office/drawing/2014/main" id="{E59829BB-9C59-4CF7-B18B-80DBD744F669}"/>
              </a:ext>
            </a:extLst>
          </p:cNvPr>
          <p:cNvGraphicFramePr>
            <a:graphicFrameLocks noChangeAspect="1"/>
          </p:cNvGraphicFramePr>
          <p:nvPr>
            <p:extLst>
              <p:ext uri="{D42A27DB-BD31-4B8C-83A1-F6EECF244321}">
                <p14:modId xmlns:p14="http://schemas.microsoft.com/office/powerpoint/2010/main" val="3876192290"/>
              </p:ext>
            </p:extLst>
          </p:nvPr>
        </p:nvGraphicFramePr>
        <p:xfrm>
          <a:off x="3638348" y="2700268"/>
          <a:ext cx="2926080" cy="665649"/>
        </p:xfrm>
        <a:graphic>
          <a:graphicData uri="http://schemas.openxmlformats.org/presentationml/2006/ole">
            <mc:AlternateContent xmlns:mc="http://schemas.openxmlformats.org/markup-compatibility/2006">
              <mc:Choice xmlns:v="urn:schemas-microsoft-com:vml" Requires="v">
                <p:oleObj spid="_x0000_s124944" name="Формула" r:id="rId10" imgW="2006600" imgH="457200" progId="Equation.3">
                  <p:embed/>
                </p:oleObj>
              </mc:Choice>
              <mc:Fallback>
                <p:oleObj name="Формула" r:id="rId10" imgW="2006600" imgH="4572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8348" y="2700268"/>
                        <a:ext cx="2926080" cy="665649"/>
                      </a:xfrm>
                      <a:prstGeom prst="rect">
                        <a:avLst/>
                      </a:prstGeom>
                      <a:noFill/>
                    </p:spPr>
                  </p:pic>
                </p:oleObj>
              </mc:Fallback>
            </mc:AlternateContent>
          </a:graphicData>
        </a:graphic>
      </p:graphicFrame>
      <p:sp>
        <p:nvSpPr>
          <p:cNvPr id="17" name="TextBox 16">
            <a:extLst>
              <a:ext uri="{FF2B5EF4-FFF2-40B4-BE49-F238E27FC236}">
                <a16:creationId xmlns:a16="http://schemas.microsoft.com/office/drawing/2014/main" id="{B9BD41EF-9F4D-4AFF-A654-7DB48B0A62FD}"/>
              </a:ext>
            </a:extLst>
          </p:cNvPr>
          <p:cNvSpPr txBox="1"/>
          <p:nvPr/>
        </p:nvSpPr>
        <p:spPr>
          <a:xfrm>
            <a:off x="696649" y="3663549"/>
            <a:ext cx="1257279" cy="400110"/>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Whence</a:t>
            </a:r>
            <a:endParaRPr lang="ru-RU" sz="2000" dirty="0"/>
          </a:p>
        </p:txBody>
      </p:sp>
      <p:graphicFrame>
        <p:nvGraphicFramePr>
          <p:cNvPr id="18" name="Объект 17">
            <a:extLst>
              <a:ext uri="{FF2B5EF4-FFF2-40B4-BE49-F238E27FC236}">
                <a16:creationId xmlns:a16="http://schemas.microsoft.com/office/drawing/2014/main" id="{388D5A80-5D54-4112-89D5-43D689392CA5}"/>
              </a:ext>
            </a:extLst>
          </p:cNvPr>
          <p:cNvGraphicFramePr>
            <a:graphicFrameLocks noChangeAspect="1"/>
          </p:cNvGraphicFramePr>
          <p:nvPr>
            <p:extLst>
              <p:ext uri="{D42A27DB-BD31-4B8C-83A1-F6EECF244321}">
                <p14:modId xmlns:p14="http://schemas.microsoft.com/office/powerpoint/2010/main" val="2037398024"/>
              </p:ext>
            </p:extLst>
          </p:nvPr>
        </p:nvGraphicFramePr>
        <p:xfrm>
          <a:off x="1870088" y="3496794"/>
          <a:ext cx="1354376" cy="733620"/>
        </p:xfrm>
        <a:graphic>
          <a:graphicData uri="http://schemas.openxmlformats.org/presentationml/2006/ole">
            <mc:AlternateContent xmlns:mc="http://schemas.openxmlformats.org/markup-compatibility/2006">
              <mc:Choice xmlns:v="urn:schemas-microsoft-com:vml" Requires="v">
                <p:oleObj spid="_x0000_s124945" name="Формула" r:id="rId12" imgW="914400" imgH="495300" progId="Equation.3">
                  <p:embed/>
                </p:oleObj>
              </mc:Choice>
              <mc:Fallback>
                <p:oleObj name="Формула" r:id="rId12" imgW="914400" imgH="4953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0088" y="3496794"/>
                        <a:ext cx="1354376" cy="733620"/>
                      </a:xfrm>
                      <a:prstGeom prst="rect">
                        <a:avLst/>
                      </a:prstGeom>
                      <a:noFill/>
                    </p:spPr>
                  </p:pic>
                </p:oleObj>
              </mc:Fallback>
            </mc:AlternateContent>
          </a:graphicData>
        </a:graphic>
      </p:graphicFrame>
      <p:sp>
        <p:nvSpPr>
          <p:cNvPr id="20" name="TextBox 19">
            <a:extLst>
              <a:ext uri="{FF2B5EF4-FFF2-40B4-BE49-F238E27FC236}">
                <a16:creationId xmlns:a16="http://schemas.microsoft.com/office/drawing/2014/main" id="{8EDA0140-6FBB-480F-9435-DACF52EB0B92}"/>
              </a:ext>
            </a:extLst>
          </p:cNvPr>
          <p:cNvSpPr txBox="1"/>
          <p:nvPr/>
        </p:nvSpPr>
        <p:spPr>
          <a:xfrm>
            <a:off x="3288634" y="3663549"/>
            <a:ext cx="482107" cy="400110"/>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or</a:t>
            </a:r>
            <a:endParaRPr lang="ru-RU" sz="2000" dirty="0"/>
          </a:p>
        </p:txBody>
      </p:sp>
      <p:graphicFrame>
        <p:nvGraphicFramePr>
          <p:cNvPr id="21" name="Объект 20">
            <a:extLst>
              <a:ext uri="{FF2B5EF4-FFF2-40B4-BE49-F238E27FC236}">
                <a16:creationId xmlns:a16="http://schemas.microsoft.com/office/drawing/2014/main" id="{CC00DD83-0DDD-4F39-AF07-43BEA84EBB34}"/>
              </a:ext>
            </a:extLst>
          </p:cNvPr>
          <p:cNvGraphicFramePr>
            <a:graphicFrameLocks noChangeAspect="1"/>
          </p:cNvGraphicFramePr>
          <p:nvPr>
            <p:extLst>
              <p:ext uri="{D42A27DB-BD31-4B8C-83A1-F6EECF244321}">
                <p14:modId xmlns:p14="http://schemas.microsoft.com/office/powerpoint/2010/main" val="58937088"/>
              </p:ext>
            </p:extLst>
          </p:nvPr>
        </p:nvGraphicFramePr>
        <p:xfrm>
          <a:off x="3785516" y="3492084"/>
          <a:ext cx="1921422" cy="1033492"/>
        </p:xfrm>
        <a:graphic>
          <a:graphicData uri="http://schemas.openxmlformats.org/presentationml/2006/ole">
            <mc:AlternateContent xmlns:mc="http://schemas.openxmlformats.org/markup-compatibility/2006">
              <mc:Choice xmlns:v="urn:schemas-microsoft-com:vml" Requires="v">
                <p:oleObj spid="_x0000_s124946" name="Формула" r:id="rId14" imgW="1256755" imgH="672808" progId="Equation.3">
                  <p:embed/>
                </p:oleObj>
              </mc:Choice>
              <mc:Fallback>
                <p:oleObj name="Формула" r:id="rId14" imgW="1256755" imgH="672808"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85516" y="3492084"/>
                        <a:ext cx="1921422" cy="1033492"/>
                      </a:xfrm>
                      <a:prstGeom prst="rect">
                        <a:avLst/>
                      </a:prstGeom>
                      <a:noFill/>
                    </p:spPr>
                  </p:pic>
                </p:oleObj>
              </mc:Fallback>
            </mc:AlternateContent>
          </a:graphicData>
        </a:graphic>
      </p:graphicFrame>
      <p:sp>
        <p:nvSpPr>
          <p:cNvPr id="24" name="TextBox 23">
            <a:extLst>
              <a:ext uri="{FF2B5EF4-FFF2-40B4-BE49-F238E27FC236}">
                <a16:creationId xmlns:a16="http://schemas.microsoft.com/office/drawing/2014/main" id="{D75D54FA-512C-4833-85AE-F2835ED4CB94}"/>
              </a:ext>
            </a:extLst>
          </p:cNvPr>
          <p:cNvSpPr txBox="1"/>
          <p:nvPr/>
        </p:nvSpPr>
        <p:spPr>
          <a:xfrm>
            <a:off x="721938" y="4764527"/>
            <a:ext cx="8142929" cy="1015663"/>
          </a:xfrm>
          <a:prstGeom prst="rect">
            <a:avLst/>
          </a:prstGeom>
          <a:noFill/>
        </p:spPr>
        <p:txBody>
          <a:bodyPr wrap="square">
            <a:spAutoFit/>
          </a:bodyPr>
          <a:lstStyle/>
          <a:p>
            <a:pPr algn="just">
              <a:tabLst>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We’ll search for the required street width </a:t>
            </a:r>
            <a:r>
              <a:rPr lang="en-US" sz="2000" b="1" i="1" dirty="0">
                <a:solidFill>
                  <a:srgbClr val="7030A0"/>
                </a:solidFill>
                <a:effectLst/>
                <a:latin typeface="Times New Roman" panose="02020603050405020304" pitchFamily="18" charset="0"/>
                <a:ea typeface="Times New Roman" panose="02020603050405020304" pitchFamily="18" charset="0"/>
              </a:rPr>
              <a:t>d</a:t>
            </a:r>
            <a:r>
              <a:rPr lang="en-US" sz="2000" b="1" dirty="0">
                <a:solidFill>
                  <a:srgbClr val="7030A0"/>
                </a:solidFill>
                <a:effectLst/>
                <a:latin typeface="Times New Roman" panose="02020603050405020304" pitchFamily="18" charset="0"/>
                <a:ea typeface="Times New Roman" panose="02020603050405020304" pitchFamily="18" charset="0"/>
              </a:rPr>
              <a:t> = AC with </a:t>
            </a:r>
            <a:r>
              <a:rPr lang="en-US" sz="2000" b="1" i="1" dirty="0">
                <a:solidFill>
                  <a:srgbClr val="7030A0"/>
                </a:solidFill>
                <a:effectLst/>
                <a:latin typeface="Times New Roman" panose="02020603050405020304" pitchFamily="18" charset="0"/>
                <a:ea typeface="Times New Roman" panose="02020603050405020304" pitchFamily="18" charset="0"/>
              </a:rPr>
              <a:t>binary search</a:t>
            </a:r>
            <a:r>
              <a:rPr lang="en-US" sz="2000" b="1" dirty="0">
                <a:solidFill>
                  <a:srgbClr val="7030A0"/>
                </a:solidFill>
                <a:effectLst/>
                <a:latin typeface="Times New Roman" panose="02020603050405020304" pitchFamily="18" charset="0"/>
                <a:ea typeface="Times New Roman" panose="02020603050405020304" pitchFamily="18" charset="0"/>
              </a:rPr>
              <a:t>.</a:t>
            </a:r>
          </a:p>
          <a:p>
            <a:pPr algn="just">
              <a:tabLst>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Initially set 0 ≤ </a:t>
            </a:r>
            <a:r>
              <a:rPr lang="en-US" sz="2000" b="1" i="1" dirty="0">
                <a:solidFill>
                  <a:srgbClr val="7030A0"/>
                </a:solidFill>
                <a:effectLst/>
                <a:latin typeface="Times New Roman" panose="02020603050405020304" pitchFamily="18" charset="0"/>
                <a:ea typeface="Times New Roman" panose="02020603050405020304" pitchFamily="18" charset="0"/>
              </a:rPr>
              <a:t>d</a:t>
            </a:r>
            <a:r>
              <a:rPr lang="en-US" sz="2000" b="1" dirty="0">
                <a:solidFill>
                  <a:srgbClr val="7030A0"/>
                </a:solidFill>
                <a:effectLst/>
                <a:latin typeface="Times New Roman" panose="02020603050405020304" pitchFamily="18" charset="0"/>
                <a:ea typeface="Times New Roman" panose="02020603050405020304" pitchFamily="18" charset="0"/>
              </a:rPr>
              <a:t> ≤ min(</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a:t>
            </a:r>
          </a:p>
          <a:p>
            <a:pPr algn="just">
              <a:tabLst>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Given </a:t>
            </a:r>
            <a:r>
              <a:rPr lang="en-US" sz="2000" b="1" i="1" dirty="0">
                <a:solidFill>
                  <a:srgbClr val="7030A0"/>
                </a:solidFill>
                <a:effectLst/>
                <a:latin typeface="Times New Roman" panose="02020603050405020304" pitchFamily="18" charset="0"/>
                <a:ea typeface="Times New Roman" panose="02020603050405020304" pitchFamily="18" charset="0"/>
              </a:rPr>
              <a:t>d</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find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and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The larger </a:t>
            </a:r>
            <a:r>
              <a:rPr lang="en-US" sz="2000" b="1" i="1" dirty="0">
                <a:solidFill>
                  <a:srgbClr val="7030A0"/>
                </a:solidFill>
                <a:effectLst/>
                <a:latin typeface="Times New Roman" panose="02020603050405020304" pitchFamily="18" charset="0"/>
                <a:ea typeface="Times New Roman" panose="02020603050405020304" pitchFamily="18" charset="0"/>
              </a:rPr>
              <a:t>d</a:t>
            </a:r>
            <a:r>
              <a:rPr lang="en-US" sz="2000" b="1" dirty="0">
                <a:solidFill>
                  <a:srgbClr val="7030A0"/>
                </a:solidFill>
                <a:effectLst/>
                <a:latin typeface="Times New Roman" panose="02020603050405020304" pitchFamily="18" charset="0"/>
                <a:ea typeface="Times New Roman" panose="02020603050405020304" pitchFamily="18" charset="0"/>
              </a:rPr>
              <a:t> (with fixed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y</a:t>
            </a:r>
            <a:r>
              <a:rPr lang="en-US" sz="2000" b="1" dirty="0">
                <a:solidFill>
                  <a:srgbClr val="7030A0"/>
                </a:solidFill>
                <a:effectLst/>
                <a:latin typeface="Times New Roman" panose="02020603050405020304" pitchFamily="18" charset="0"/>
                <a:ea typeface="Times New Roman" panose="02020603050405020304" pitchFamily="18" charset="0"/>
              </a:rPr>
              <a:t>), the smaller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190403551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3207</TotalTime>
  <Words>5344</Words>
  <Application>Microsoft Office PowerPoint</Application>
  <PresentationFormat>Широкоэкранный</PresentationFormat>
  <Paragraphs>434</Paragraphs>
  <Slides>32</Slides>
  <Notes>0</Notes>
  <HiddenSlides>0</HiddenSlides>
  <MMClips>0</MMClips>
  <ScaleCrop>false</ScaleCrop>
  <HeadingPairs>
    <vt:vector size="8" baseType="variant">
      <vt:variant>
        <vt:lpstr>Использованные шрифты</vt:lpstr>
      </vt:variant>
      <vt:variant>
        <vt:i4>8</vt:i4>
      </vt:variant>
      <vt:variant>
        <vt:lpstr>Тема</vt:lpstr>
      </vt:variant>
      <vt:variant>
        <vt:i4>1</vt:i4>
      </vt:variant>
      <vt:variant>
        <vt:lpstr>Внедренные серверы OLE</vt:lpstr>
      </vt:variant>
      <vt:variant>
        <vt:i4>3</vt:i4>
      </vt:variant>
      <vt:variant>
        <vt:lpstr>Заголовки слайдов</vt:lpstr>
      </vt:variant>
      <vt:variant>
        <vt:i4>32</vt:i4>
      </vt:variant>
    </vt:vector>
  </HeadingPairs>
  <TitlesOfParts>
    <vt:vector size="44" baseType="lpstr">
      <vt:lpstr>Arial</vt:lpstr>
      <vt:lpstr>Calibri</vt:lpstr>
      <vt:lpstr>Calibri Light</vt:lpstr>
      <vt:lpstr>Cambria Math</vt:lpstr>
      <vt:lpstr>Courier New</vt:lpstr>
      <vt:lpstr>Symbol</vt:lpstr>
      <vt:lpstr>Times New Roman</vt:lpstr>
      <vt:lpstr>Times New Roman CYR</vt:lpstr>
      <vt:lpstr>Тема Office</vt:lpstr>
      <vt:lpstr>Visio</vt:lpstr>
      <vt:lpstr>Microsoft Equation 3.0</vt:lpstr>
      <vt:lpstr>Документ Microsoft Office Visio</vt:lpstr>
      <vt:lpstr>Dichotomy</vt:lpstr>
      <vt:lpstr>E-OLYMP 3968. Square root</vt:lpstr>
      <vt:lpstr>E-OLYMP 3968. Square root</vt:lpstr>
      <vt:lpstr>E-OLYMP 4420. The root of a cubic equation</vt:lpstr>
      <vt:lpstr>Discrete binary search</vt:lpstr>
      <vt:lpstr>Discrete binary search</vt:lpstr>
      <vt:lpstr>Discrete binary search</vt:lpstr>
      <vt:lpstr>Discrete binary search</vt:lpstr>
      <vt:lpstr>Discrete binary search</vt:lpstr>
      <vt:lpstr>Discrete binary search</vt:lpstr>
      <vt:lpstr>Discrete binary search</vt:lpstr>
      <vt:lpstr>Discrete binary search</vt:lpstr>
      <vt:lpstr>Discrete binary search</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Binary search in geometry</vt:lpstr>
      <vt:lpstr>Binary search in geometry</vt:lpstr>
      <vt:lpstr>Binary search in geometry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Mykhailo Medvediev</dc:creator>
  <cp:lastModifiedBy>Mykhailo Medvediev</cp:lastModifiedBy>
  <cp:revision>101</cp:revision>
  <dcterms:created xsi:type="dcterms:W3CDTF">2021-09-06T11:36:46Z</dcterms:created>
  <dcterms:modified xsi:type="dcterms:W3CDTF">2021-10-26T18:46:24Z</dcterms:modified>
</cp:coreProperties>
</file>