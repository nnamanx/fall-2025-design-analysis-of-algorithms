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2" r:id="rId2"/>
    <p:sldId id="269" r:id="rId3"/>
    <p:sldId id="273" r:id="rId4"/>
    <p:sldId id="278" r:id="rId5"/>
    <p:sldId id="279" r:id="rId6"/>
    <p:sldId id="275" r:id="rId7"/>
    <p:sldId id="276" r:id="rId8"/>
    <p:sldId id="277" r:id="rId9"/>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72" autoAdjust="0"/>
    <p:restoredTop sz="96357" autoAdjust="0"/>
  </p:normalViewPr>
  <p:slideViewPr>
    <p:cSldViewPr snapToGrid="0">
      <p:cViewPr varScale="1">
        <p:scale>
          <a:sx n="99" d="100"/>
          <a:sy n="99" d="100"/>
        </p:scale>
        <p:origin x="78" y="414"/>
      </p:cViewPr>
      <p:guideLst/>
    </p:cSldViewPr>
  </p:slideViewPr>
  <p:outlineViewPr>
    <p:cViewPr>
      <p:scale>
        <a:sx n="33" d="100"/>
        <a:sy n="33" d="100"/>
      </p:scale>
      <p:origin x="0" y="0"/>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s>
</file>

<file path=ppt/drawings/_rels/vmlDrawing1.vml.rels><?xml version="1.0" encoding="UTF-8" standalone="yes"?>
<Relationships xmlns="http://schemas.openxmlformats.org/package/2006/relationships"><Relationship Id="rId1" Type="http://schemas.openxmlformats.org/officeDocument/2006/relationships/image" Target="../media/image1.e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2.e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4.vml.rels><?xml version="1.0" encoding="UTF-8" standalone="yes"?>
<Relationships xmlns="http://schemas.openxmlformats.org/package/2006/relationships"><Relationship Id="rId1" Type="http://schemas.openxmlformats.org/officeDocument/2006/relationships/image" Target="../media/image3.e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emf"/></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831DED5-4EED-4622-B5D2-50BB1B8591CC}"/>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CC0B725C-1E63-40A2-8681-A95E31E2EA5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56B54B33-C986-421E-82DE-ADCCDDE1B020}"/>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25D44601-EC16-49FF-B7E9-BD8ED75FE20B}"/>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8C3F98B-DF93-49EA-AC8E-E8C38F2F9694}"/>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03177913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33AE0BA-8D5A-4CFF-B780-433AF7104B97}"/>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7B0DB154-9F37-40C8-A14D-45BD294B95C5}"/>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DF542E20-FC54-4919-B881-FC6E795C9B3C}"/>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3301C222-3B9F-4F81-803D-4B7F9423B4D3}"/>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9B9CD27C-54F6-4264-95B2-4F9124E43B47}"/>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13494566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716B98E0-9BA1-4853-A7E7-BBEEAF68912D}"/>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2C72161C-96C9-4AEF-BBB4-2DD1034864E8}"/>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486577D2-F49F-449B-BA62-548D4A57E4A6}"/>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C7077228-BAEE-4556-8154-9F9DAA847E5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43E8CDE4-C468-4804-8795-84BEF5641923}"/>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355567337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7B12690-FA9F-4609-BDB4-EBF900C14E01}"/>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9B1A7F0B-F6C7-4AF1-A86B-D9F2C4B45CAF}"/>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1A865DD3-A24F-45B8-A6DB-71B864924B1C}"/>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9DDC57FA-51AC-4999-A48D-3207A96FB7F0}"/>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6" name="Нижний колонтитул 5">
            <a:extLst>
              <a:ext uri="{FF2B5EF4-FFF2-40B4-BE49-F238E27FC236}">
                <a16:creationId xmlns:a16="http://schemas.microsoft.com/office/drawing/2014/main" id="{E34EB41A-EC94-4F80-818E-092FA93B85F4}"/>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07F068EB-E730-477C-8C2E-3F375ED3C240}"/>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71506164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B14A982-A901-4B82-AF09-6FF7467828D0}"/>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35D256E8-55B5-49CE-8CCD-4526712EAE7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B7886E1E-DFB2-4980-86F0-5569D3B895AA}"/>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9A5FD8C1-D5E3-4271-897F-D63E8712304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A77B5BB2-4309-4741-97EB-FF74C38A3052}"/>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E98249D8-941C-4288-A05C-4F8378BDE65E}"/>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8" name="Нижний колонтитул 7">
            <a:extLst>
              <a:ext uri="{FF2B5EF4-FFF2-40B4-BE49-F238E27FC236}">
                <a16:creationId xmlns:a16="http://schemas.microsoft.com/office/drawing/2014/main" id="{BE8C6BA9-3797-4362-B3EE-B3363851A87D}"/>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B1D1C1C8-67F0-44B8-9E13-CB6DF0B0A030}"/>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84265373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0E059D8D-6B97-4E57-AD18-7030A156CB85}"/>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B049DF1A-BE00-4427-9C24-05298523EC97}"/>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4" name="Нижний колонтитул 3">
            <a:extLst>
              <a:ext uri="{FF2B5EF4-FFF2-40B4-BE49-F238E27FC236}">
                <a16:creationId xmlns:a16="http://schemas.microsoft.com/office/drawing/2014/main" id="{7BE2C30B-E21C-4377-BECA-067C09B27C7D}"/>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C584CD34-5C99-42C0-9B18-6CA540A364B3}"/>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68339845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122A0301-F28E-4212-B76B-3A3C04B73724}"/>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3" name="Нижний колонтитул 2">
            <a:extLst>
              <a:ext uri="{FF2B5EF4-FFF2-40B4-BE49-F238E27FC236}">
                <a16:creationId xmlns:a16="http://schemas.microsoft.com/office/drawing/2014/main" id="{93232B55-BAEB-430B-AD19-4B8533BECA6E}"/>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F25E67FF-2221-4FC6-8100-8F09CDD5202D}"/>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415524285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78740EC-4505-4DE6-A05D-F153D07E6C02}"/>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3D975EBC-539E-43EF-A4B0-0441E1E00CA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CB8CA841-9EE3-40A3-9687-D17ECCDD2BB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D1BB9F7-BDEB-482D-A977-E26368D696E0}"/>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6" name="Нижний колонтитул 5">
            <a:extLst>
              <a:ext uri="{FF2B5EF4-FFF2-40B4-BE49-F238E27FC236}">
                <a16:creationId xmlns:a16="http://schemas.microsoft.com/office/drawing/2014/main" id="{9A9BE4D0-BA77-48D7-A311-3DBC6AE11875}"/>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CA7BAF0C-1FAF-481C-9E0B-1B1C3560DE2C}"/>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91550197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5BD636E-6D74-4DEA-AB8D-9B6EAE7D522D}"/>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BC2B02F4-B18C-4F12-B3C7-1BF982E372F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9532B20D-CBD7-46F5-9D13-EA2070E2F98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8D8ECBE4-BA7D-4F73-BC33-7DA8E5127382}"/>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6" name="Нижний колонтитул 5">
            <a:extLst>
              <a:ext uri="{FF2B5EF4-FFF2-40B4-BE49-F238E27FC236}">
                <a16:creationId xmlns:a16="http://schemas.microsoft.com/office/drawing/2014/main" id="{0E124270-20FB-4B0E-9B1D-B142C6AB803A}"/>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24BA85F5-35FF-45A0-9A44-7B7B93E70AF1}"/>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14731205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11393CB-F52F-4547-827C-477047452730}"/>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C31EF9F7-B7C8-47B9-92D1-FE9F69346913}"/>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7172876F-8D0E-42A5-9422-000EC207BF16}"/>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0159F252-FD75-4C8E-A333-1C0870119449}"/>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ABB88EE0-1157-43D5-8C15-CF09CEFFF241}"/>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20309453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9025146F-6B57-4569-9D63-1C02AC9C26AA}"/>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835FE119-0A15-4013-8529-8EF1B22C4735}"/>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898074DB-8E8F-48FB-A18D-58A88796299E}"/>
              </a:ext>
            </a:extLst>
          </p:cNvPr>
          <p:cNvSpPr>
            <a:spLocks noGrp="1"/>
          </p:cNvSpPr>
          <p:nvPr>
            <p:ph type="dt" sz="half" idx="10"/>
          </p:nvPr>
        </p:nvSpPr>
        <p:spPr/>
        <p:txBody>
          <a:body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6C197BA9-C29C-4A9A-A032-CC3763C8CD3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B872A629-1C8F-4E5A-9D4F-1A2795A3EFFD}"/>
              </a:ext>
            </a:extLst>
          </p:cNvPr>
          <p:cNvSpPr>
            <a:spLocks noGrp="1"/>
          </p:cNvSpPr>
          <p:nvPr>
            <p:ph type="sldNum" sz="quarter" idx="12"/>
          </p:nvPr>
        </p:nvSpPr>
        <p:spPr/>
        <p:txBody>
          <a:bodyPr/>
          <a:lstStyle/>
          <a:p>
            <a:fld id="{2A09506E-D0E7-4FC6-B51F-795CE2F3E674}" type="slidenum">
              <a:rPr lang="ru-RU" smtClean="0"/>
              <a:t>‹#›</a:t>
            </a:fld>
            <a:endParaRPr lang="ru-RU"/>
          </a:p>
        </p:txBody>
      </p:sp>
    </p:spTree>
    <p:extLst>
      <p:ext uri="{BB962C8B-B14F-4D97-AF65-F5344CB8AC3E}">
        <p14:creationId xmlns:p14="http://schemas.microsoft.com/office/powerpoint/2010/main" val="359629749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BC256CF0-3DC0-4731-AF6E-8DF3431CDA1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78A40EEC-831D-4265-9F95-A5106D2F3F0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67662F55-419B-4976-B438-044095DDB1B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F7BB27D0-5327-42F8-A98F-4D324E2C0DCB}" type="datetimeFigureOut">
              <a:rPr lang="ru-RU" smtClean="0"/>
              <a:t>27.10.2021</a:t>
            </a:fld>
            <a:endParaRPr lang="ru-RU"/>
          </a:p>
        </p:txBody>
      </p:sp>
      <p:sp>
        <p:nvSpPr>
          <p:cNvPr id="5" name="Нижний колонтитул 4">
            <a:extLst>
              <a:ext uri="{FF2B5EF4-FFF2-40B4-BE49-F238E27FC236}">
                <a16:creationId xmlns:a16="http://schemas.microsoft.com/office/drawing/2014/main" id="{F11761C6-EFAA-4F17-94ED-2EF53FFD6C2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6D4CE264-6131-4EE3-A6FE-E2360B52558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A09506E-D0E7-4FC6-B51F-795CE2F3E674}" type="slidenum">
              <a:rPr lang="ru-RU" smtClean="0"/>
              <a:t>‹#›</a:t>
            </a:fld>
            <a:endParaRPr lang="ru-RU"/>
          </a:p>
        </p:txBody>
      </p:sp>
    </p:spTree>
    <p:extLst>
      <p:ext uri="{BB962C8B-B14F-4D97-AF65-F5344CB8AC3E}">
        <p14:creationId xmlns:p14="http://schemas.microsoft.com/office/powerpoint/2010/main" val="375645226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1.xml"/><Relationship Id="rId1" Type="http://schemas.openxmlformats.org/officeDocument/2006/relationships/vmlDrawing" Target="../drawings/vmlDrawing1.vml"/><Relationship Id="rId4" Type="http://schemas.openxmlformats.org/officeDocument/2006/relationships/image" Target="../media/image1.emf"/></Relationships>
</file>

<file path=ppt/slides/_rels/slide2.xml.rels><?xml version="1.0" encoding="UTF-8" standalone="yes"?>
<Relationships xmlns="http://schemas.openxmlformats.org/package/2006/relationships"><Relationship Id="rId2" Type="http://schemas.openxmlformats.org/officeDocument/2006/relationships/hyperlink" Target="https://www.e-olymp.com/en/problems/10169" TargetMode="Externa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hyperlink" Target="https://www.e-olymp.com/en/problems/10169" TargetMode="Externa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hyperlink" Target="https://www.e-olymp.com/en/problems/10866" TargetMode="Externa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hyperlink" Target="https://www.e-olymp.com/en/problems/10866" TargetMode="External"/><Relationship Id="rId2" Type="http://schemas.openxmlformats.org/officeDocument/2006/relationships/slideLayout" Target="../slideLayouts/slideLayout1.xml"/><Relationship Id="rId1" Type="http://schemas.openxmlformats.org/officeDocument/2006/relationships/vmlDrawing" Target="../drawings/vmlDrawing2.vml"/><Relationship Id="rId5" Type="http://schemas.openxmlformats.org/officeDocument/2006/relationships/image" Target="../media/image2.emf"/><Relationship Id="rId4" Type="http://schemas.openxmlformats.org/officeDocument/2006/relationships/oleObject" Target="../embeddings/oleObject2.bin"/></Relationships>
</file>

<file path=ppt/slides/_rels/slide6.xml.rels><?xml version="1.0" encoding="UTF-8" standalone="yes"?>
<Relationships xmlns="http://schemas.openxmlformats.org/package/2006/relationships"><Relationship Id="rId3" Type="http://schemas.openxmlformats.org/officeDocument/2006/relationships/hyperlink" Target="https://www.e-olymp.com/en/problems/4419" TargetMode="External"/><Relationship Id="rId2" Type="http://schemas.openxmlformats.org/officeDocument/2006/relationships/slideLayout" Target="../slideLayouts/slideLayout1.xml"/><Relationship Id="rId1" Type="http://schemas.openxmlformats.org/officeDocument/2006/relationships/vmlDrawing" Target="../drawings/vmlDrawing3.vml"/><Relationship Id="rId5" Type="http://schemas.openxmlformats.org/officeDocument/2006/relationships/image" Target="../media/image3.emf"/><Relationship Id="rId4" Type="http://schemas.openxmlformats.org/officeDocument/2006/relationships/oleObject" Target="../embeddings/oleObject3.bin"/></Relationships>
</file>

<file path=ppt/slides/_rels/slide7.xml.rels><?xml version="1.0" encoding="UTF-8" standalone="yes"?>
<Relationships xmlns="http://schemas.openxmlformats.org/package/2006/relationships"><Relationship Id="rId3" Type="http://schemas.openxmlformats.org/officeDocument/2006/relationships/hyperlink" Target="https://www.e-olymp.com/en/problems/4419" TargetMode="External"/><Relationship Id="rId2" Type="http://schemas.openxmlformats.org/officeDocument/2006/relationships/slideLayout" Target="../slideLayouts/slideLayout1.xml"/><Relationship Id="rId1" Type="http://schemas.openxmlformats.org/officeDocument/2006/relationships/vmlDrawing" Target="../drawings/vmlDrawing4.vml"/><Relationship Id="rId5" Type="http://schemas.openxmlformats.org/officeDocument/2006/relationships/image" Target="../media/image3.emf"/><Relationship Id="rId4" Type="http://schemas.openxmlformats.org/officeDocument/2006/relationships/oleObject" Target="../embeddings/oleObject4.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7.bin"/><Relationship Id="rId3" Type="http://schemas.openxmlformats.org/officeDocument/2006/relationships/hyperlink" Target="https://www.e-olymp.com/en/problems/4419" TargetMode="External"/><Relationship Id="rId7" Type="http://schemas.openxmlformats.org/officeDocument/2006/relationships/image" Target="../media/image4.wmf"/><Relationship Id="rId2" Type="http://schemas.openxmlformats.org/officeDocument/2006/relationships/slideLayout" Target="../slideLayouts/slideLayout1.xml"/><Relationship Id="rId1" Type="http://schemas.openxmlformats.org/officeDocument/2006/relationships/vmlDrawing" Target="../drawings/vmlDrawing5.vml"/><Relationship Id="rId6" Type="http://schemas.openxmlformats.org/officeDocument/2006/relationships/oleObject" Target="../embeddings/oleObject6.bin"/><Relationship Id="rId5" Type="http://schemas.openxmlformats.org/officeDocument/2006/relationships/image" Target="../media/image3.emf"/><Relationship Id="rId10" Type="http://schemas.openxmlformats.org/officeDocument/2006/relationships/image" Target="../media/image6.png"/><Relationship Id="rId4" Type="http://schemas.openxmlformats.org/officeDocument/2006/relationships/oleObject" Target="../embeddings/oleObject5.bin"/><Relationship Id="rId9" Type="http://schemas.openxmlformats.org/officeDocument/2006/relationships/image" Target="../media/image5.wmf"/></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1"/>
            <a:ext cx="9144000" cy="860441"/>
          </a:xfrm>
        </p:spPr>
        <p:txBody>
          <a:bodyPr>
            <a:normAutofit fontScale="90000"/>
          </a:bodyPr>
          <a:lstStyle/>
          <a:p>
            <a:r>
              <a:rPr lang="en-US" b="1" dirty="0">
                <a:latin typeface="Times New Roman" panose="02020603050405020304" pitchFamily="18" charset="0"/>
                <a:cs typeface="Times New Roman" panose="02020603050405020304" pitchFamily="18" charset="0"/>
              </a:rPr>
              <a:t>Ternary search</a:t>
            </a:r>
            <a:endParaRPr lang="ru-RU"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639162" y="1402372"/>
            <a:ext cx="11229359" cy="728432"/>
          </a:xfrm>
        </p:spPr>
        <p:txBody>
          <a:bodyPr>
            <a:noAutofit/>
          </a:bodyPr>
          <a:lstStyle/>
          <a:p>
            <a:pPr algn="just"/>
            <a:r>
              <a:rPr lang="en-US" sz="2000" dirty="0">
                <a:effectLst/>
                <a:latin typeface="Times New Roman" panose="02020603050405020304" pitchFamily="18" charset="0"/>
                <a:ea typeface="Times New Roman" panose="02020603050405020304" pitchFamily="18" charset="0"/>
              </a:rPr>
              <a:t>Let f(</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be a continuous concave function that has a local minimum on segment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Ternary search allows you to find the minimum point.</a:t>
            </a:r>
          </a:p>
        </p:txBody>
      </p:sp>
      <p:graphicFrame>
        <p:nvGraphicFramePr>
          <p:cNvPr id="5" name="Объект 4">
            <a:extLst>
              <a:ext uri="{FF2B5EF4-FFF2-40B4-BE49-F238E27FC236}">
                <a16:creationId xmlns:a16="http://schemas.microsoft.com/office/drawing/2014/main" id="{50296608-AC88-469C-A82A-127C4EC211F1}"/>
              </a:ext>
            </a:extLst>
          </p:cNvPr>
          <p:cNvGraphicFramePr>
            <a:graphicFrameLocks noChangeAspect="1"/>
          </p:cNvGraphicFramePr>
          <p:nvPr>
            <p:extLst>
              <p:ext uri="{D42A27DB-BD31-4B8C-83A1-F6EECF244321}">
                <p14:modId xmlns:p14="http://schemas.microsoft.com/office/powerpoint/2010/main" val="135988718"/>
              </p:ext>
            </p:extLst>
          </p:nvPr>
        </p:nvGraphicFramePr>
        <p:xfrm>
          <a:off x="3313651" y="2130804"/>
          <a:ext cx="3802913" cy="2164359"/>
        </p:xfrm>
        <a:graphic>
          <a:graphicData uri="http://schemas.openxmlformats.org/presentationml/2006/ole">
            <mc:AlternateContent xmlns:mc="http://schemas.openxmlformats.org/markup-compatibility/2006">
              <mc:Choice xmlns:v="urn:schemas-microsoft-com:vml" Requires="v">
                <p:oleObj spid="_x0000_s120836" name="Visio" r:id="rId3" imgW="2962684" imgH="1681742" progId="Visio.Drawing.11">
                  <p:embed/>
                </p:oleObj>
              </mc:Choice>
              <mc:Fallback>
                <p:oleObj name="Visio" r:id="rId3" imgW="2962684" imgH="1681742" progId="Visio.Drawing.11">
                  <p:embed/>
                  <p:pic>
                    <p:nvPicPr>
                      <p:cNvPr id="0" name="Object 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13651" y="2130804"/>
                        <a:ext cx="3802913" cy="2164359"/>
                      </a:xfrm>
                      <a:prstGeom prst="rect">
                        <a:avLst/>
                      </a:prstGeom>
                      <a:noFill/>
                    </p:spPr>
                  </p:pic>
                </p:oleObj>
              </mc:Fallback>
            </mc:AlternateContent>
          </a:graphicData>
        </a:graphic>
      </p:graphicFrame>
      <p:sp>
        <p:nvSpPr>
          <p:cNvPr id="13" name="TextBox 12">
            <a:extLst>
              <a:ext uri="{FF2B5EF4-FFF2-40B4-BE49-F238E27FC236}">
                <a16:creationId xmlns:a16="http://schemas.microsoft.com/office/drawing/2014/main" id="{885E039C-5818-4A94-B2E6-B618EC6E16BA}"/>
              </a:ext>
            </a:extLst>
          </p:cNvPr>
          <p:cNvSpPr txBox="1"/>
          <p:nvPr/>
        </p:nvSpPr>
        <p:spPr>
          <a:xfrm>
            <a:off x="941664" y="4295163"/>
            <a:ext cx="9964023" cy="2246769"/>
          </a:xfrm>
          <a:prstGeom prst="rect">
            <a:avLst/>
          </a:prstGeom>
          <a:noFill/>
        </p:spPr>
        <p:txBody>
          <a:bodyPr wrap="square">
            <a:spAutoFit/>
          </a:bodyPr>
          <a:lstStyle/>
          <a:p>
            <a:pPr algn="just"/>
            <a:r>
              <a:rPr lang="en-US" sz="2000" dirty="0">
                <a:effectLst/>
                <a:latin typeface="Times New Roman" panose="02020603050405020304" pitchFamily="18" charset="0"/>
                <a:ea typeface="Times New Roman" panose="02020603050405020304" pitchFamily="18" charset="0"/>
              </a:rPr>
              <a:t>Let </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3, </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+ 2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3. </a:t>
            </a:r>
          </a:p>
          <a:p>
            <a:pPr algn="just"/>
            <a:r>
              <a:rPr lang="en-US" sz="2000" dirty="0">
                <a:effectLst/>
                <a:latin typeface="Times New Roman" panose="02020603050405020304" pitchFamily="18" charset="0"/>
                <a:ea typeface="Times New Roman" panose="02020603050405020304" pitchFamily="18" charset="0"/>
              </a:rPr>
              <a:t>Points </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divide a segment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into three equal parts (hence the name – </a:t>
            </a:r>
            <a:r>
              <a:rPr lang="en-US" sz="2000" b="1" i="1" dirty="0">
                <a:effectLst/>
                <a:latin typeface="Times New Roman" panose="02020603050405020304" pitchFamily="18" charset="0"/>
                <a:ea typeface="Times New Roman" panose="02020603050405020304" pitchFamily="18" charset="0"/>
              </a:rPr>
              <a:t>ternary search</a:t>
            </a:r>
            <a:r>
              <a:rPr lang="en-US" sz="2000" dirty="0">
                <a:effectLst/>
                <a:latin typeface="Times New Roman" panose="02020603050405020304" pitchFamily="18" charset="0"/>
                <a:ea typeface="Times New Roman" panose="02020603050405020304" pitchFamily="18" charset="0"/>
              </a:rPr>
              <a:t>). </a:t>
            </a:r>
          </a:p>
          <a:p>
            <a:pPr algn="just"/>
            <a:endParaRPr lang="en-US" sz="2000" dirty="0">
              <a:latin typeface="Times New Roman" panose="02020603050405020304" pitchFamily="18" charset="0"/>
              <a:ea typeface="Times New Roman" panose="02020603050405020304" pitchFamily="18" charset="0"/>
            </a:endParaRPr>
          </a:p>
          <a:p>
            <a:pPr algn="just"/>
            <a:r>
              <a:rPr lang="en-US" sz="2000" dirty="0">
                <a:effectLst/>
                <a:latin typeface="Times New Roman" panose="02020603050405020304" pitchFamily="18" charset="0"/>
                <a:ea typeface="Times New Roman" panose="02020603050405020304" pitchFamily="18" charset="0"/>
              </a:rPr>
              <a:t>Compute f(</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and f(</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a:t>
            </a:r>
          </a:p>
          <a:p>
            <a:pPr marL="342900" lvl="0" indent="-342900" algn="just">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If f(</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a:t>
            </a:r>
            <a:r>
              <a:rPr lang="en-US" sz="2000" dirty="0">
                <a:effectLst/>
                <a:latin typeface="Symbol" panose="05050102010706020507" pitchFamily="18" charset="2"/>
                <a:ea typeface="Times New Roman" panose="02020603050405020304" pitchFamily="18" charset="0"/>
                <a:cs typeface="Symbol" panose="05050102010706020507" pitchFamily="18" charset="2"/>
              </a:rPr>
              <a:t>£</a:t>
            </a:r>
            <a:r>
              <a:rPr lang="en-US" sz="2000" dirty="0">
                <a:effectLst/>
                <a:latin typeface="Times New Roman" panose="02020603050405020304" pitchFamily="18" charset="0"/>
                <a:ea typeface="Times New Roman" panose="02020603050405020304" pitchFamily="18" charset="0"/>
              </a:rPr>
              <a:t> f(</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then the minimum point of the function f lies on the segment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set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a:t>
            </a:r>
          </a:p>
          <a:p>
            <a:pPr marL="342900" lvl="0" indent="-342900" algn="just">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If f(</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&gt; f(</a:t>
            </a:r>
            <a:r>
              <a:rPr lang="en-US" sz="2000" i="1" dirty="0">
                <a:effectLst/>
                <a:latin typeface="Times New Roman" panose="02020603050405020304" pitchFamily="18" charset="0"/>
                <a:ea typeface="Times New Roman" panose="02020603050405020304" pitchFamily="18" charset="0"/>
              </a:rPr>
              <a:t>h</a:t>
            </a:r>
            <a:r>
              <a:rPr lang="en-US" sz="2000" dirty="0">
                <a:effectLst/>
                <a:latin typeface="Times New Roman" panose="02020603050405020304" pitchFamily="18" charset="0"/>
                <a:ea typeface="Times New Roman" panose="02020603050405020304" pitchFamily="18" charset="0"/>
              </a:rPr>
              <a:t>), then the minimum point lies on the segment [</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set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g</a:t>
            </a:r>
            <a:r>
              <a:rPr lang="en-US" sz="2000" dirty="0">
                <a:effectLst/>
                <a:latin typeface="Times New Roman" panose="02020603050405020304" pitchFamily="18" charset="0"/>
                <a:ea typeface="Times New Roman" panose="02020603050405020304" pitchFamily="18" charset="0"/>
              </a:rPr>
              <a:t>. </a:t>
            </a:r>
          </a:p>
          <a:p>
            <a:pPr algn="just"/>
            <a:r>
              <a:rPr lang="en-US" sz="2000" dirty="0">
                <a:effectLst/>
                <a:latin typeface="Times New Roman" panose="02020603050405020304" pitchFamily="18" charset="0"/>
                <a:ea typeface="Times New Roman" panose="02020603050405020304" pitchFamily="18" charset="0"/>
              </a:rPr>
              <a:t>The search process continues while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&gt; </a:t>
            </a:r>
            <a:r>
              <a:rPr lang="en-US" sz="2000" dirty="0">
                <a:effectLst/>
                <a:latin typeface="Symbol" panose="05050102010706020507" pitchFamily="18" charset="2"/>
                <a:ea typeface="Times New Roman" panose="02020603050405020304" pitchFamily="18" charset="0"/>
                <a:cs typeface="Symbol" panose="05050102010706020507" pitchFamily="18" charset="2"/>
              </a:rPr>
              <a:t>e</a:t>
            </a:r>
            <a:r>
              <a:rPr lang="en-US" sz="2000" dirty="0">
                <a:effectLst/>
                <a:latin typeface="Times New Roman" panose="02020603050405020304" pitchFamily="18" charset="0"/>
                <a:ea typeface="Times New Roman" panose="02020603050405020304" pitchFamily="18" charset="0"/>
              </a:rPr>
              <a:t>.</a:t>
            </a:r>
          </a:p>
        </p:txBody>
      </p:sp>
    </p:spTree>
    <p:extLst>
      <p:ext uri="{BB962C8B-B14F-4D97-AF65-F5344CB8AC3E}">
        <p14:creationId xmlns:p14="http://schemas.microsoft.com/office/powerpoint/2010/main" val="326338960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2"/>
              </a:rPr>
              <a:t>10169. Ternary search</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3"/>
            <a:ext cx="10852715" cy="1743066"/>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Find the minimum of a function f(</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x</a:t>
            </a:r>
            <a:r>
              <a:rPr lang="en-US" sz="2000" baseline="30000" dirty="0">
                <a:effectLst/>
                <a:latin typeface="Times New Roman" panose="02020603050405020304" pitchFamily="18" charset="0"/>
                <a:ea typeface="Times New Roman" panose="02020603050405020304" pitchFamily="18" charset="0"/>
              </a:rPr>
              <a:t>2</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Two integers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b</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a:t>
            </a: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en-US" sz="2000" dirty="0">
                <a:effectLst/>
                <a:latin typeface="Times New Roman" panose="02020603050405020304" pitchFamily="18" charset="0"/>
                <a:ea typeface="Times New Roman" panose="02020603050405020304" pitchFamily="18" charset="0"/>
              </a:rPr>
              <a:t> Print the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where the function f(</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minimal. Print the answer with 2 decimal digits. It is known that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 100.</a:t>
            </a:r>
          </a:p>
        </p:txBody>
      </p:sp>
      <p:sp>
        <p:nvSpPr>
          <p:cNvPr id="15" name="Подзаголовок 2">
            <a:extLst>
              <a:ext uri="{FF2B5EF4-FFF2-40B4-BE49-F238E27FC236}">
                <a16:creationId xmlns:a16="http://schemas.microsoft.com/office/drawing/2014/main" id="{E05EB950-487E-4ACE-B60A-082647A658A4}"/>
              </a:ext>
            </a:extLst>
          </p:cNvPr>
          <p:cNvSpPr txBox="1">
            <a:spLocks/>
          </p:cNvSpPr>
          <p:nvPr/>
        </p:nvSpPr>
        <p:spPr>
          <a:xfrm>
            <a:off x="1053735" y="2805409"/>
            <a:ext cx="2842660" cy="10866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-2 -35</a:t>
            </a:r>
            <a:endParaRPr lang="ru-RU" dirty="0">
              <a:effectLst/>
              <a:latin typeface="Times New Roman" panose="02020603050405020304" pitchFamily="18" charset="0"/>
              <a:ea typeface="Times New Roman" panose="02020603050405020304" pitchFamily="18" charset="0"/>
            </a:endParaRPr>
          </a:p>
        </p:txBody>
      </p:sp>
      <p:sp>
        <p:nvSpPr>
          <p:cNvPr id="16" name="Подзаголовок 2">
            <a:extLst>
              <a:ext uri="{FF2B5EF4-FFF2-40B4-BE49-F238E27FC236}">
                <a16:creationId xmlns:a16="http://schemas.microsoft.com/office/drawing/2014/main" id="{917A8B3A-827D-491B-9C25-B2B57BABE9B1}"/>
              </a:ext>
            </a:extLst>
          </p:cNvPr>
          <p:cNvSpPr txBox="1">
            <a:spLocks/>
          </p:cNvSpPr>
          <p:nvPr/>
        </p:nvSpPr>
        <p:spPr>
          <a:xfrm>
            <a:off x="4127401" y="2805409"/>
            <a:ext cx="2199604" cy="8826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pPr>
            <a:r>
              <a:rPr lang="en-US" sz="2000" dirty="0">
                <a:solidFill>
                  <a:srgbClr val="606060"/>
                </a:solidFill>
                <a:latin typeface="Courier New" panose="02070309020205020404" pitchFamily="49" charset="0"/>
                <a:ea typeface="Times New Roman" panose="02020603050405020304" pitchFamily="18" charset="0"/>
              </a:rPr>
              <a:t>1.00</a:t>
            </a:r>
            <a:endParaRPr lang="ru-RU"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sp>
        <p:nvSpPr>
          <p:cNvPr id="11" name="TextBox 10">
            <a:extLst>
              <a:ext uri="{FF2B5EF4-FFF2-40B4-BE49-F238E27FC236}">
                <a16:creationId xmlns:a16="http://schemas.microsoft.com/office/drawing/2014/main" id="{24206F30-5FFD-4E8D-81F1-6BDFCC0673CF}"/>
              </a:ext>
            </a:extLst>
          </p:cNvPr>
          <p:cNvSpPr txBox="1"/>
          <p:nvPr/>
        </p:nvSpPr>
        <p:spPr>
          <a:xfrm>
            <a:off x="847592" y="3892071"/>
            <a:ext cx="10644971" cy="2554545"/>
          </a:xfrm>
          <a:prstGeom prst="rect">
            <a:avLst/>
          </a:prstGeom>
          <a:noFill/>
        </p:spPr>
        <p:txBody>
          <a:bodyPr wrap="square">
            <a:spAutoFit/>
          </a:bodyPr>
          <a:lstStyle/>
          <a:p>
            <a:pPr algn="just">
              <a:tabLst>
                <a:tab pos="6398260" algn="l"/>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In the sample given a function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35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7)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+ 5). </a:t>
            </a:r>
          </a:p>
          <a:p>
            <a:pPr algn="just">
              <a:tabLst>
                <a:tab pos="6398260" algn="l"/>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Its roots are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25000" dirty="0">
                <a:solidFill>
                  <a:srgbClr val="7030A0"/>
                </a:solidFill>
                <a:effectLst/>
                <a:latin typeface="Times New Roman" panose="02020603050405020304" pitchFamily="18" charset="0"/>
                <a:ea typeface="Times New Roman" panose="02020603050405020304" pitchFamily="18" charset="0"/>
              </a:rPr>
              <a:t>1</a:t>
            </a:r>
            <a:r>
              <a:rPr lang="en-US" sz="2000" b="1" dirty="0">
                <a:solidFill>
                  <a:srgbClr val="7030A0"/>
                </a:solidFill>
                <a:effectLst/>
                <a:latin typeface="Times New Roman" panose="02020603050405020304" pitchFamily="18" charset="0"/>
                <a:ea typeface="Times New Roman" panose="02020603050405020304" pitchFamily="18" charset="0"/>
              </a:rPr>
              <a:t> = -5,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25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7. </a:t>
            </a:r>
          </a:p>
          <a:p>
            <a:pPr algn="just">
              <a:tabLst>
                <a:tab pos="6398260" algn="l"/>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The minimum of the function is achieved at</a:t>
            </a:r>
          </a:p>
          <a:p>
            <a:pPr algn="ctr">
              <a:tabLst>
                <a:tab pos="6398260" algn="l"/>
                <a:tab pos="6979920" algn="l"/>
                <a:tab pos="7561580" algn="l"/>
                <a:tab pos="8143240" algn="l"/>
                <a:tab pos="8724900" algn="l"/>
                <a:tab pos="9306560" algn="l"/>
              </a:tabLst>
            </a:pP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25000" dirty="0">
                <a:solidFill>
                  <a:srgbClr val="7030A0"/>
                </a:solidFill>
                <a:effectLst/>
                <a:latin typeface="Times New Roman" panose="02020603050405020304" pitchFamily="18" charset="0"/>
                <a:ea typeface="Times New Roman" panose="02020603050405020304" pitchFamily="18" charset="0"/>
              </a:rPr>
              <a:t>1</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25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2 = (-5 + 7) / 2 = 1</a:t>
            </a:r>
          </a:p>
          <a:p>
            <a:pPr algn="just">
              <a:tabLst>
                <a:tab pos="6398260" algn="l"/>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 </a:t>
            </a:r>
          </a:p>
          <a:p>
            <a:pPr algn="just">
              <a:tabLst>
                <a:tab pos="6398260" algn="l"/>
                <a:tab pos="6979920" algn="l"/>
                <a:tab pos="7561580" algn="l"/>
                <a:tab pos="8143240" algn="l"/>
                <a:tab pos="8724900" algn="l"/>
                <a:tab pos="9306560" algn="l"/>
              </a:tabLst>
            </a:pPr>
            <a:r>
              <a:rPr lang="en-US" sz="2000" b="1" dirty="0">
                <a:solidFill>
                  <a:srgbClr val="7030A0"/>
                </a:solidFill>
                <a:effectLst/>
                <a:latin typeface="Times New Roman" panose="02020603050405020304" pitchFamily="18" charset="0"/>
                <a:ea typeface="Times New Roman" panose="02020603050405020304" pitchFamily="18" charset="0"/>
              </a:rPr>
              <a:t>The problem can be solved using a mathematical formula. It is known that the minimum of the function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ax</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c</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&gt; 0) is achieved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 (2</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Therefore, the minimum of the function f(</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baseline="30000" dirty="0">
                <a:solidFill>
                  <a:srgbClr val="7030A0"/>
                </a:solidFill>
                <a:effectLst/>
                <a:latin typeface="Times New Roman" panose="02020603050405020304" pitchFamily="18" charset="0"/>
                <a:ea typeface="Times New Roman" panose="02020603050405020304" pitchFamily="18" charset="0"/>
              </a:rPr>
              <a:t>2</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b</a:t>
            </a:r>
            <a:r>
              <a:rPr lang="en-US" sz="2000" b="1" dirty="0">
                <a:solidFill>
                  <a:srgbClr val="7030A0"/>
                </a:solidFill>
                <a:effectLst/>
                <a:latin typeface="Times New Roman" panose="02020603050405020304" pitchFamily="18" charset="0"/>
                <a:ea typeface="Times New Roman" panose="02020603050405020304" pitchFamily="18" charset="0"/>
              </a:rPr>
              <a:t> is achieved at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 -</a:t>
            </a:r>
            <a:r>
              <a:rPr lang="en-US" sz="2000" b="1" i="1" dirty="0">
                <a:solidFill>
                  <a:srgbClr val="7030A0"/>
                </a:solidFill>
                <a:effectLst/>
                <a:latin typeface="Times New Roman" panose="02020603050405020304" pitchFamily="18" charset="0"/>
                <a:ea typeface="Times New Roman" panose="02020603050405020304" pitchFamily="18" charset="0"/>
              </a:rPr>
              <a:t> a</a:t>
            </a:r>
            <a:r>
              <a:rPr lang="en-US" sz="2000" b="1" dirty="0">
                <a:solidFill>
                  <a:srgbClr val="7030A0"/>
                </a:solidFill>
                <a:effectLst/>
                <a:latin typeface="Times New Roman" panose="02020603050405020304" pitchFamily="18" charset="0"/>
                <a:ea typeface="Times New Roman" panose="02020603050405020304" pitchFamily="18" charset="0"/>
              </a:rPr>
              <a:t> / 2.</a:t>
            </a:r>
          </a:p>
        </p:txBody>
      </p:sp>
    </p:spTree>
    <p:extLst>
      <p:ext uri="{BB962C8B-B14F-4D97-AF65-F5344CB8AC3E}">
        <p14:creationId xmlns:p14="http://schemas.microsoft.com/office/powerpoint/2010/main" val="275447240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2"/>
              </a:rPr>
              <a:t>10169. Ternary search</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798897" y="1062343"/>
            <a:ext cx="8393229" cy="5242204"/>
          </a:xfrm>
        </p:spPr>
        <p:txBody>
          <a:bodyPr>
            <a:noAutofit/>
          </a:bodyPr>
          <a:lstStyle/>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f(</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  return</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 + a * </a:t>
            </a:r>
            <a:r>
              <a:rPr lang="en-US" sz="2000" dirty="0">
                <a:solidFill>
                  <a:srgbClr val="808080"/>
                </a:solidFill>
                <a:effectLst/>
                <a:latin typeface="Courier New" panose="02070309020205020404" pitchFamily="49" charset="0"/>
                <a:ea typeface="Times New Roman" panose="02020603050405020304" pitchFamily="18" charset="0"/>
              </a:rPr>
              <a:t>x</a:t>
            </a:r>
            <a:r>
              <a:rPr lang="en-US" sz="2000" dirty="0">
                <a:solidFill>
                  <a:srgbClr val="000000"/>
                </a:solidFill>
                <a:effectLst/>
                <a:latin typeface="Courier New" panose="02070309020205020404" pitchFamily="49" charset="0"/>
                <a:ea typeface="Times New Roman" panose="02020603050405020304" pitchFamily="18" charset="0"/>
              </a:rPr>
              <a:t> + b;</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triple(</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f</a:t>
            </a:r>
            <a:r>
              <a:rPr lang="en-US" sz="2000" dirty="0">
                <a:solidFill>
                  <a:srgbClr val="000000"/>
                </a:solidFill>
                <a:effectLst/>
                <a:latin typeface="Courier New" panose="02070309020205020404" pitchFamily="49" charset="0"/>
                <a:ea typeface="Times New Roman" panose="02020603050405020304" pitchFamily="18" charset="0"/>
              </a:rPr>
              <a:t>(</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x), </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double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  while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&gt; </a:t>
            </a:r>
            <a:r>
              <a:rPr lang="en-US" sz="2000" dirty="0">
                <a:solidFill>
                  <a:srgbClr val="6F008A"/>
                </a:solidFill>
                <a:effectLst/>
                <a:latin typeface="Courier New" panose="02070309020205020404" pitchFamily="49" charset="0"/>
                <a:ea typeface="Times New Roman" panose="02020603050405020304" pitchFamily="18" charset="0"/>
              </a:rPr>
              <a:t>EPS</a:t>
            </a:r>
            <a:r>
              <a:rPr lang="en-US" sz="2000" dirty="0">
                <a:solidFill>
                  <a:srgbClr val="000000"/>
                </a:solidFill>
                <a:effectLst/>
                <a:latin typeface="Courier New" panose="02070309020205020404" pitchFamily="49" charset="0"/>
                <a:ea typeface="Times New Roman" panose="02020603050405020304" pitchFamily="18" charset="0"/>
              </a:rPr>
              <a:t>)</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double </a:t>
            </a:r>
            <a:r>
              <a:rPr lang="en-US" sz="2000" dirty="0">
                <a:solidFill>
                  <a:srgbClr val="000000"/>
                </a:solidFill>
                <a:effectLst/>
                <a:latin typeface="Courier New" panose="02070309020205020404" pitchFamily="49" charset="0"/>
                <a:ea typeface="Times New Roman" panose="02020603050405020304" pitchFamily="18" charset="0"/>
              </a:rPr>
              <a:t>g =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3;</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0000FF"/>
                </a:solidFill>
                <a:effectLst/>
                <a:latin typeface="Courier New" panose="02070309020205020404" pitchFamily="49" charset="0"/>
                <a:ea typeface="Times New Roman" panose="02020603050405020304" pitchFamily="18" charset="0"/>
              </a:rPr>
              <a:t>double </a:t>
            </a:r>
            <a:r>
              <a:rPr lang="en-US" sz="2000" dirty="0">
                <a:solidFill>
                  <a:srgbClr val="000000"/>
                </a:solidFill>
                <a:effectLst/>
                <a:latin typeface="Courier New" panose="02070309020205020404" pitchFamily="49" charset="0"/>
                <a:ea typeface="Times New Roman" panose="02020603050405020304" pitchFamily="18" charset="0"/>
              </a:rPr>
              <a:t>h =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+ 2 *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3;</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    if</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f</a:t>
            </a:r>
            <a:r>
              <a:rPr lang="en-US" sz="2000" dirty="0">
                <a:solidFill>
                  <a:srgbClr val="000000"/>
                </a:solidFill>
                <a:effectLst/>
                <a:latin typeface="Courier New" panose="02070309020205020404" pitchFamily="49" charset="0"/>
                <a:ea typeface="Times New Roman" panose="02020603050405020304" pitchFamily="18" charset="0"/>
              </a:rPr>
              <a:t>(g) &lt;= </a:t>
            </a:r>
            <a:r>
              <a:rPr lang="en-US" sz="2000" dirty="0">
                <a:solidFill>
                  <a:srgbClr val="808080"/>
                </a:solidFill>
                <a:effectLst/>
                <a:latin typeface="Courier New" panose="02070309020205020404" pitchFamily="49" charset="0"/>
                <a:ea typeface="Times New Roman" panose="02020603050405020304" pitchFamily="18" charset="0"/>
              </a:rPr>
              <a:t>f</a:t>
            </a:r>
            <a:r>
              <a:rPr lang="en-US" sz="2000" dirty="0">
                <a:solidFill>
                  <a:srgbClr val="000000"/>
                </a:solidFill>
                <a:effectLst/>
                <a:latin typeface="Courier New" panose="02070309020205020404" pitchFamily="49" charset="0"/>
                <a:ea typeface="Times New Roman" panose="02020603050405020304" pitchFamily="18" charset="0"/>
              </a:rPr>
              <a:t>(h))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 = h; </a:t>
            </a:r>
            <a:r>
              <a:rPr lang="en-US" sz="2000" dirty="0">
                <a:solidFill>
                  <a:srgbClr val="0000FF"/>
                </a:solidFill>
                <a:effectLst/>
                <a:latin typeface="Courier New" panose="02070309020205020404" pitchFamily="49" charset="0"/>
                <a:ea typeface="Times New Roman" panose="02020603050405020304" pitchFamily="18" charset="0"/>
              </a:rPr>
              <a:t>else</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g;</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FF"/>
                </a:solidFill>
                <a:effectLst/>
                <a:latin typeface="Courier New" panose="02070309020205020404" pitchFamily="49" charset="0"/>
                <a:ea typeface="Times New Roman" panose="02020603050405020304" pitchFamily="18" charset="0"/>
              </a:rPr>
              <a:t>  return</a:t>
            </a:r>
            <a:r>
              <a:rPr lang="en-US" sz="2000" dirty="0">
                <a:solidFill>
                  <a:srgbClr val="000000"/>
                </a:solidFill>
                <a:effectLst/>
                <a:latin typeface="Courier New" panose="02070309020205020404" pitchFamily="49" charset="0"/>
                <a:ea typeface="Times New Roman" panose="02020603050405020304" pitchFamily="18" charset="0"/>
              </a:rPr>
              <a:t> (</a:t>
            </a:r>
            <a:r>
              <a:rPr lang="en-US" sz="2000" dirty="0">
                <a:solidFill>
                  <a:srgbClr val="808080"/>
                </a:solidFill>
                <a:effectLst/>
                <a:latin typeface="Courier New" panose="02070309020205020404" pitchFamily="49" charset="0"/>
                <a:ea typeface="Times New Roman" panose="02020603050405020304" pitchFamily="18" charset="0"/>
              </a:rPr>
              <a:t>a</a:t>
            </a:r>
            <a:r>
              <a:rPr lang="en-US" sz="2000" dirty="0">
                <a:solidFill>
                  <a:srgbClr val="000000"/>
                </a:solidFill>
                <a:effectLst/>
                <a:latin typeface="Courier New" panose="02070309020205020404" pitchFamily="49" charset="0"/>
                <a:ea typeface="Times New Roman" panose="02020603050405020304" pitchFamily="18" charset="0"/>
              </a:rPr>
              <a:t> + </a:t>
            </a:r>
            <a:r>
              <a:rPr lang="en-US" sz="2000" dirty="0">
                <a:solidFill>
                  <a:srgbClr val="808080"/>
                </a:solidFill>
                <a:effectLst/>
                <a:latin typeface="Courier New" panose="02070309020205020404" pitchFamily="49" charset="0"/>
                <a:ea typeface="Times New Roman" panose="02020603050405020304" pitchFamily="18" charset="0"/>
              </a:rPr>
              <a:t>b</a:t>
            </a:r>
            <a:r>
              <a:rPr lang="en-US" sz="2000" dirty="0">
                <a:solidFill>
                  <a:srgbClr val="000000"/>
                </a:solidFill>
                <a:effectLst/>
                <a:latin typeface="Courier New" panose="02070309020205020404" pitchFamily="49" charset="0"/>
                <a:ea typeface="Times New Roman" panose="02020603050405020304" pitchFamily="18" charset="0"/>
              </a:rPr>
              <a:t>) / 2;</a:t>
            </a:r>
            <a:endParaRPr lang="en-US"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Courier New" panose="02070309020205020404" pitchFamily="49" charset="0"/>
                <a:ea typeface="Times New Roman" panose="02020603050405020304" pitchFamily="18" charset="0"/>
              </a:rPr>
              <a:t>} </a:t>
            </a:r>
            <a:endParaRPr lang="en-US" sz="2000" dirty="0">
              <a:effectLst/>
              <a:latin typeface="Times New Roman" panose="02020603050405020304" pitchFamily="18" charset="0"/>
              <a:ea typeface="Times New Roman" panose="02020603050405020304" pitchFamily="18" charset="0"/>
            </a:endParaRPr>
          </a:p>
        </p:txBody>
      </p:sp>
      <p:sp>
        <p:nvSpPr>
          <p:cNvPr id="7" name="Подзаголовок 2">
            <a:extLst>
              <a:ext uri="{FF2B5EF4-FFF2-40B4-BE49-F238E27FC236}">
                <a16:creationId xmlns:a16="http://schemas.microsoft.com/office/drawing/2014/main" id="{2C4F18D4-689D-4202-B7E5-0DB7D79A54B9}"/>
              </a:ext>
            </a:extLst>
          </p:cNvPr>
          <p:cNvSpPr txBox="1">
            <a:spLocks/>
          </p:cNvSpPr>
          <p:nvPr/>
        </p:nvSpPr>
        <p:spPr>
          <a:xfrm>
            <a:off x="6420052" y="1062343"/>
            <a:ext cx="5534526" cy="514595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dirty="0">
                <a:latin typeface="Times New Roman" panose="02020603050405020304" pitchFamily="18" charset="0"/>
                <a:ea typeface="Times New Roman" panose="02020603050405020304" pitchFamily="18" charset="0"/>
              </a:rPr>
              <a:t>Declare a function </a:t>
            </a:r>
            <a:r>
              <a:rPr lang="en-US" sz="2000" b="1" i="1" dirty="0">
                <a:latin typeface="Times New Roman" panose="02020603050405020304" pitchFamily="18" charset="0"/>
                <a:ea typeface="Times New Roman" panose="02020603050405020304" pitchFamily="18" charset="0"/>
              </a:rPr>
              <a:t>f</a:t>
            </a:r>
            <a:r>
              <a:rPr lang="en-US" sz="2000" dirty="0">
                <a:latin typeface="Times New Roman" panose="02020603050405020304" pitchFamily="18" charset="0"/>
                <a:ea typeface="Times New Roman" panose="02020603050405020304" pitchFamily="18" charset="0"/>
              </a:rPr>
              <a:t>, the minimum of which we’ll compute.</a:t>
            </a:r>
          </a:p>
          <a:p>
            <a:pPr algn="just">
              <a:lnSpc>
                <a:spcPct val="100000"/>
              </a:lnSpc>
              <a:spcBef>
                <a:spcPts val="0"/>
              </a:spcBef>
            </a:pPr>
            <a:r>
              <a:rPr lang="en-US" sz="2000" dirty="0">
                <a:solidFill>
                  <a:srgbClr val="0000FF"/>
                </a:solidFill>
                <a:latin typeface="Courier New" panose="02070309020205020404" pitchFamily="49"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endParaRPr lang="en-US" sz="2000" dirty="0">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latin typeface="Times New Roman" panose="02020603050405020304" pitchFamily="18" charset="0"/>
                <a:ea typeface="Times New Roman" panose="02020603050405020304" pitchFamily="18" charset="0"/>
              </a:rPr>
              <a:t>Function </a:t>
            </a:r>
            <a:r>
              <a:rPr lang="en-US" sz="2000" b="1" i="1" dirty="0">
                <a:latin typeface="Times New Roman" panose="02020603050405020304" pitchFamily="18" charset="0"/>
                <a:ea typeface="Times New Roman" panose="02020603050405020304" pitchFamily="18" charset="0"/>
              </a:rPr>
              <a:t>triple</a:t>
            </a:r>
            <a:r>
              <a:rPr lang="en-US" sz="2000" dirty="0">
                <a:latin typeface="Times New Roman" panose="02020603050405020304" pitchFamily="18" charset="0"/>
                <a:ea typeface="Times New Roman" panose="02020603050405020304" pitchFamily="18" charset="0"/>
              </a:rPr>
              <a:t> finds the minimum of the function f(</a:t>
            </a:r>
            <a:r>
              <a:rPr lang="en-US" sz="2000" i="1" dirty="0">
                <a:latin typeface="Times New Roman" panose="02020603050405020304" pitchFamily="18" charset="0"/>
                <a:ea typeface="Times New Roman" panose="02020603050405020304" pitchFamily="18" charset="0"/>
              </a:rPr>
              <a:t>x</a:t>
            </a:r>
            <a:r>
              <a:rPr lang="en-US" sz="2000" dirty="0">
                <a:latin typeface="Times New Roman" panose="02020603050405020304" pitchFamily="18" charset="0"/>
                <a:ea typeface="Times New Roman" panose="02020603050405020304" pitchFamily="18" charset="0"/>
              </a:rPr>
              <a:t>) on a segment [</a:t>
            </a:r>
            <a:r>
              <a:rPr lang="en-US" sz="2000" i="1" dirty="0">
                <a:latin typeface="Times New Roman" panose="02020603050405020304" pitchFamily="18" charset="0"/>
                <a:ea typeface="Times New Roman" panose="02020603050405020304" pitchFamily="18" charset="0"/>
              </a:rPr>
              <a:t>a</a:t>
            </a:r>
            <a:r>
              <a:rPr lang="en-US" sz="2000" dirty="0">
                <a:latin typeface="Times New Roman" panose="02020603050405020304" pitchFamily="18" charset="0"/>
                <a:ea typeface="Times New Roman" panose="02020603050405020304" pitchFamily="18" charset="0"/>
              </a:rPr>
              <a:t>; </a:t>
            </a:r>
            <a:r>
              <a:rPr lang="en-US" sz="2000" i="1" dirty="0">
                <a:latin typeface="Times New Roman" panose="02020603050405020304" pitchFamily="18" charset="0"/>
                <a:ea typeface="Times New Roman" panose="02020603050405020304" pitchFamily="18" charset="0"/>
              </a:rPr>
              <a:t>b</a:t>
            </a:r>
            <a:r>
              <a:rPr lang="en-US" sz="2000" dirty="0">
                <a:latin typeface="Times New Roman" panose="02020603050405020304" pitchFamily="18" charset="0"/>
                <a:ea typeface="Times New Roman" panose="02020603050405020304" pitchFamily="18" charset="0"/>
              </a:rPr>
              <a:t>].</a:t>
            </a:r>
          </a:p>
          <a:p>
            <a:pPr algn="just">
              <a:lnSpc>
                <a:spcPct val="100000"/>
              </a:lnSpc>
              <a:spcBef>
                <a:spcPts val="0"/>
              </a:spcBef>
            </a:pPr>
            <a:r>
              <a:rPr lang="en-US" sz="2000" dirty="0">
                <a:solidFill>
                  <a:srgbClr val="0000FF"/>
                </a:solidFill>
                <a:latin typeface="Courier New" panose="02070309020205020404" pitchFamily="49" charset="0"/>
                <a:ea typeface="Times New Roman" panose="02020603050405020304" pitchFamily="18" charset="0"/>
              </a:rPr>
              <a:t> </a:t>
            </a:r>
            <a:endParaRPr lang="en-US" sz="2000" dirty="0">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16104773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2"/>
              </a:rPr>
              <a:t>10866. Ternary search in array</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2"/>
            <a:ext cx="10852715" cy="3224431"/>
          </a:xfrm>
        </p:spPr>
        <p:txBody>
          <a:bodyPr>
            <a:noAutofit/>
          </a:bodyPr>
          <a:lstStyle/>
          <a:p>
            <a:pPr algn="just">
              <a:lnSpc>
                <a:spcPct val="100000"/>
              </a:lnSpc>
              <a:spcBef>
                <a:spcPts val="0"/>
              </a:spcBef>
            </a:pPr>
            <a:r>
              <a:rPr lang="en-US" sz="2000" dirty="0">
                <a:solidFill>
                  <a:srgbClr val="222222"/>
                </a:solidFill>
                <a:effectLst/>
                <a:latin typeface="Times New Roman" panose="02020603050405020304" pitchFamily="18" charset="0"/>
                <a:ea typeface="Times New Roman" panose="02020603050405020304" pitchFamily="18" charset="0"/>
              </a:rPr>
              <a:t>Ternary search is a divide and conquer algorithm that can be used to find an element in an array. It is similar to binary search but in this algorithm, we divide the given array into three equal parts and determine which has the key (searched element).</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Sorted array of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is given. You must answer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queries: whether the given number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in the array.</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Input</a:t>
            </a:r>
            <a:r>
              <a:rPr lang="en-US" sz="2000" dirty="0">
                <a:effectLst/>
                <a:latin typeface="Times New Roman" panose="02020603050405020304" pitchFamily="18" charset="0"/>
                <a:ea typeface="Times New Roman" panose="02020603050405020304" pitchFamily="18" charset="0"/>
              </a:rPr>
              <a:t>. First line contains two numbers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and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 10</a:t>
            </a:r>
            <a:r>
              <a:rPr lang="en-US" sz="2000" baseline="30000" dirty="0">
                <a:effectLst/>
                <a:latin typeface="Times New Roman" panose="02020603050405020304" pitchFamily="18" charset="0"/>
                <a:ea typeface="Times New Roman" panose="02020603050405020304" pitchFamily="18" charset="0"/>
              </a:rPr>
              <a:t>6</a:t>
            </a:r>
            <a:r>
              <a:rPr lang="en-US" sz="2000" dirty="0">
                <a:effectLst/>
                <a:latin typeface="Times New Roman" panose="02020603050405020304" pitchFamily="18" charset="0"/>
                <a:ea typeface="Times New Roman" panose="02020603050405020304" pitchFamily="18" charset="0"/>
              </a:rPr>
              <a:t>). Second line contains </a:t>
            </a:r>
            <a:r>
              <a:rPr lang="en-US" sz="2000" i="1" dirty="0">
                <a:effectLst/>
                <a:latin typeface="Times New Roman" panose="02020603050405020304" pitchFamily="18" charset="0"/>
                <a:ea typeface="Times New Roman" panose="02020603050405020304" pitchFamily="18" charset="0"/>
              </a:rPr>
              <a:t>n</a:t>
            </a:r>
            <a:r>
              <a:rPr lang="en-US" sz="2000" dirty="0">
                <a:effectLst/>
                <a:latin typeface="Times New Roman" panose="02020603050405020304" pitchFamily="18" charset="0"/>
                <a:ea typeface="Times New Roman" panose="02020603050405020304" pitchFamily="18" charset="0"/>
              </a:rPr>
              <a:t> integers sorted in increasing order. Each of the next </a:t>
            </a:r>
            <a:r>
              <a:rPr lang="en-US" sz="2000" i="1" dirty="0">
                <a:effectLst/>
                <a:latin typeface="Times New Roman" panose="02020603050405020304" pitchFamily="18" charset="0"/>
                <a:ea typeface="Times New Roman" panose="02020603050405020304" pitchFamily="18" charset="0"/>
              </a:rPr>
              <a:t>q</a:t>
            </a:r>
            <a:r>
              <a:rPr lang="en-US" sz="2000" dirty="0">
                <a:effectLst/>
                <a:latin typeface="Times New Roman" panose="02020603050405020304" pitchFamily="18" charset="0"/>
                <a:ea typeface="Times New Roman" panose="02020603050405020304" pitchFamily="18" charset="0"/>
              </a:rPr>
              <a:t> lines contains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The numbers in array do not exceed 10</a:t>
            </a:r>
            <a:r>
              <a:rPr lang="en-US" sz="2000" baseline="30000" dirty="0">
                <a:effectLst/>
                <a:latin typeface="Times New Roman" panose="02020603050405020304" pitchFamily="18" charset="0"/>
                <a:ea typeface="Times New Roman" panose="02020603050405020304" pitchFamily="18" charset="0"/>
              </a:rPr>
              <a:t>9</a:t>
            </a:r>
            <a:r>
              <a:rPr lang="en-US" sz="2000" dirty="0">
                <a:effectLst/>
                <a:latin typeface="Times New Roman" panose="02020603050405020304" pitchFamily="18" charset="0"/>
                <a:ea typeface="Times New Roman" panose="02020603050405020304" pitchFamily="18" charset="0"/>
              </a:rPr>
              <a:t> by absolute value.</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For each value of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print on a separate line “YES” if </a:t>
            </a:r>
            <a:r>
              <a:rPr lang="en-US" sz="2000" i="1" dirty="0">
                <a:effectLst/>
                <a:latin typeface="Times New Roman" panose="02020603050405020304" pitchFamily="18" charset="0"/>
                <a:ea typeface="Times New Roman" panose="02020603050405020304" pitchFamily="18" charset="0"/>
              </a:rPr>
              <a:t>x</a:t>
            </a:r>
            <a:r>
              <a:rPr lang="en-US" sz="2000" dirty="0">
                <a:effectLst/>
                <a:latin typeface="Times New Roman" panose="02020603050405020304" pitchFamily="18" charset="0"/>
                <a:ea typeface="Times New Roman" panose="02020603050405020304" pitchFamily="18" charset="0"/>
              </a:rPr>
              <a:t> is present in array and “NO” otherwise.</a:t>
            </a:r>
            <a:endParaRPr lang="ru-RU" sz="2000" dirty="0">
              <a:effectLst/>
              <a:latin typeface="Times New Roman" panose="02020603050405020304" pitchFamily="18" charset="0"/>
              <a:ea typeface="Times New Roman" panose="02020603050405020304" pitchFamily="18" charset="0"/>
            </a:endParaRPr>
          </a:p>
        </p:txBody>
      </p:sp>
      <p:sp>
        <p:nvSpPr>
          <p:cNvPr id="15" name="Подзаголовок 2">
            <a:extLst>
              <a:ext uri="{FF2B5EF4-FFF2-40B4-BE49-F238E27FC236}">
                <a16:creationId xmlns:a16="http://schemas.microsoft.com/office/drawing/2014/main" id="{E05EB950-487E-4ACE-B60A-082647A658A4}"/>
              </a:ext>
            </a:extLst>
          </p:cNvPr>
          <p:cNvSpPr txBox="1">
            <a:spLocks/>
          </p:cNvSpPr>
          <p:nvPr/>
        </p:nvSpPr>
        <p:spPr>
          <a:xfrm>
            <a:off x="1053735" y="4286773"/>
            <a:ext cx="2842660" cy="2518564"/>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8 4</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-8 -8 -1 1 3 4 6 8</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4</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10</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-4</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-8</a:t>
            </a:r>
            <a:endParaRPr lang="ru-RU" sz="2800" dirty="0">
              <a:effectLst/>
              <a:latin typeface="Times New Roman" panose="02020603050405020304" pitchFamily="18" charset="0"/>
              <a:ea typeface="Times New Roman" panose="02020603050405020304" pitchFamily="18" charset="0"/>
            </a:endParaRPr>
          </a:p>
        </p:txBody>
      </p:sp>
      <p:sp>
        <p:nvSpPr>
          <p:cNvPr id="16" name="Подзаголовок 2">
            <a:extLst>
              <a:ext uri="{FF2B5EF4-FFF2-40B4-BE49-F238E27FC236}">
                <a16:creationId xmlns:a16="http://schemas.microsoft.com/office/drawing/2014/main" id="{917A8B3A-827D-491B-9C25-B2B57BABE9B1}"/>
              </a:ext>
            </a:extLst>
          </p:cNvPr>
          <p:cNvSpPr txBox="1">
            <a:spLocks/>
          </p:cNvSpPr>
          <p:nvPr/>
        </p:nvSpPr>
        <p:spPr>
          <a:xfrm>
            <a:off x="4127401" y="4286773"/>
            <a:ext cx="2199604" cy="1584638"/>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YES</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NO</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NO</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222222"/>
                </a:solidFill>
                <a:effectLst/>
                <a:latin typeface="Courier New" panose="02070309020205020404" pitchFamily="49" charset="0"/>
                <a:ea typeface="Times New Roman" panose="02020603050405020304" pitchFamily="18" charset="0"/>
              </a:rPr>
              <a:t>YES</a:t>
            </a:r>
            <a:endParaRPr lang="ru-RU"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14901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3"/>
              </a:rPr>
              <a:t>10866. Ternary search in array</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2"/>
            <a:ext cx="10804589" cy="3557784"/>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In this problem one must find a number in a sorted array. Let’s do it using ternary search.</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en-US" sz="2000" dirty="0">
                <a:solidFill>
                  <a:srgbClr val="000000"/>
                </a:solidFill>
                <a:effectLst/>
                <a:latin typeface="Times New Roman" panose="02020603050405020304" pitchFamily="18" charset="0"/>
                <a:ea typeface="Times New Roman" panose="02020603050405020304" pitchFamily="18" charset="0"/>
              </a:rPr>
              <a:t>Let the element </a:t>
            </a:r>
            <a:r>
              <a:rPr lang="en-US" sz="2000" i="1" dirty="0">
                <a:solidFill>
                  <a:srgbClr val="000000"/>
                </a:solidFill>
                <a:effectLst/>
                <a:latin typeface="Times New Roman" panose="02020603050405020304" pitchFamily="18" charset="0"/>
                <a:ea typeface="Times New Roman" panose="02020603050405020304" pitchFamily="18" charset="0"/>
              </a:rPr>
              <a:t>x</a:t>
            </a:r>
            <a:r>
              <a:rPr lang="en-US" sz="2000" dirty="0">
                <a:solidFill>
                  <a:srgbClr val="000000"/>
                </a:solidFill>
                <a:effectLst/>
                <a:latin typeface="Times New Roman" panose="02020603050405020304" pitchFamily="18" charset="0"/>
                <a:ea typeface="Times New Roman" panose="02020603050405020304" pitchFamily="18" charset="0"/>
              </a:rPr>
              <a:t> be searched in the array m in the interval [</a:t>
            </a:r>
            <a:r>
              <a:rPr lang="en-US" sz="2000" i="1" dirty="0">
                <a:solidFill>
                  <a:srgbClr val="000000"/>
                </a:solidFill>
                <a:effectLst/>
                <a:latin typeface="Times New Roman" panose="02020603050405020304" pitchFamily="18" charset="0"/>
                <a:ea typeface="Times New Roman" panose="02020603050405020304" pitchFamily="18" charset="0"/>
              </a:rPr>
              <a:t>start</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end</a:t>
            </a:r>
            <a:r>
              <a:rPr lang="en-US" sz="2000" dirty="0">
                <a:solidFill>
                  <a:srgbClr val="000000"/>
                </a:solidFill>
                <a:effectLst/>
                <a:latin typeface="Times New Roman" panose="02020603050405020304" pitchFamily="18" charset="0"/>
                <a:ea typeface="Times New Roman" panose="02020603050405020304" pitchFamily="18" charset="0"/>
              </a:rPr>
              <a:t>]. Divide the segment [</a:t>
            </a:r>
            <a:r>
              <a:rPr lang="en-US" sz="2000" i="1" dirty="0">
                <a:solidFill>
                  <a:srgbClr val="000000"/>
                </a:solidFill>
                <a:effectLst/>
                <a:latin typeface="Times New Roman" panose="02020603050405020304" pitchFamily="18" charset="0"/>
                <a:ea typeface="Times New Roman" panose="02020603050405020304" pitchFamily="18" charset="0"/>
              </a:rPr>
              <a:t>start</a:t>
            </a:r>
            <a:r>
              <a:rPr lang="en-US" sz="2000" dirty="0">
                <a:solidFill>
                  <a:srgbClr val="000000"/>
                </a:solidFill>
                <a:effectLst/>
                <a:latin typeface="Times New Roman" panose="02020603050405020304" pitchFamily="18" charset="0"/>
                <a:ea typeface="Times New Roman" panose="02020603050405020304" pitchFamily="18" charset="0"/>
              </a:rPr>
              <a:t>; </a:t>
            </a:r>
            <a:r>
              <a:rPr lang="en-US" sz="2000" i="1" dirty="0">
                <a:solidFill>
                  <a:srgbClr val="000000"/>
                </a:solidFill>
                <a:effectLst/>
                <a:latin typeface="Times New Roman" panose="02020603050405020304" pitchFamily="18" charset="0"/>
                <a:ea typeface="Times New Roman" panose="02020603050405020304" pitchFamily="18" charset="0"/>
              </a:rPr>
              <a:t>end</a:t>
            </a:r>
            <a:r>
              <a:rPr lang="en-US" sz="2000" dirty="0">
                <a:solidFill>
                  <a:srgbClr val="000000"/>
                </a:solidFill>
                <a:effectLst/>
                <a:latin typeface="Times New Roman" panose="02020603050405020304" pitchFamily="18" charset="0"/>
                <a:ea typeface="Times New Roman" panose="02020603050405020304" pitchFamily="18" charset="0"/>
              </a:rPr>
              <a:t>]</a:t>
            </a:r>
            <a:r>
              <a:rPr lang="en-US" sz="2000" dirty="0">
                <a:effectLst/>
                <a:latin typeface="Times New Roman" panose="02020603050405020304" pitchFamily="18" charset="0"/>
                <a:ea typeface="Times New Roman" panose="02020603050405020304" pitchFamily="18" charset="0"/>
              </a:rPr>
              <a:t> </a:t>
            </a:r>
            <a:r>
              <a:rPr lang="en-US" sz="2000" dirty="0">
                <a:solidFill>
                  <a:srgbClr val="000000"/>
                </a:solidFill>
                <a:effectLst/>
                <a:latin typeface="Times New Roman" panose="02020603050405020304" pitchFamily="18" charset="0"/>
                <a:ea typeface="Times New Roman" panose="02020603050405020304" pitchFamily="18" charset="0"/>
              </a:rPr>
              <a:t>into three equal parts. Let</a:t>
            </a:r>
            <a:endParaRPr lang="ru-RU" sz="2000" dirty="0">
              <a:effectLst/>
              <a:latin typeface="Times New Roman" panose="02020603050405020304" pitchFamily="18" charset="0"/>
              <a:ea typeface="Times New Roman" panose="02020603050405020304" pitchFamily="18" charset="0"/>
            </a:endParaRPr>
          </a:p>
          <a:p>
            <a:pPr marL="342900" lvl="0" indent="-342900" algn="just">
              <a:lnSpc>
                <a:spcPct val="100000"/>
              </a:lnSpc>
              <a:spcBef>
                <a:spcPts val="0"/>
              </a:spcBef>
              <a:buFont typeface="Symbol" panose="05050102010706020507" pitchFamily="18" charset="2"/>
              <a:buChar char=""/>
            </a:pP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1 =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 3;</a:t>
            </a:r>
            <a:endParaRPr lang="ru-RU" sz="2000" dirty="0">
              <a:effectLst/>
              <a:latin typeface="Times New Roman" panose="02020603050405020304" pitchFamily="18" charset="0"/>
              <a:ea typeface="Times New Roman" panose="02020603050405020304" pitchFamily="18" charset="0"/>
            </a:endParaRPr>
          </a:p>
          <a:p>
            <a:pPr marL="342900" lvl="0" indent="-342900" algn="just">
              <a:lnSpc>
                <a:spcPct val="100000"/>
              </a:lnSpc>
              <a:spcBef>
                <a:spcPts val="0"/>
              </a:spcBef>
              <a:buFont typeface="Symbol" panose="05050102010706020507" pitchFamily="18" charset="2"/>
              <a:buChar char=""/>
            </a:pPr>
            <a:r>
              <a:rPr lang="en-US"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2 =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end</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start</a:t>
            </a:r>
            <a:r>
              <a:rPr lang="en-US" sz="2000" dirty="0">
                <a:effectLst/>
                <a:latin typeface="Times New Roman" panose="02020603050405020304" pitchFamily="18" charset="0"/>
                <a:ea typeface="Times New Roman" panose="02020603050405020304" pitchFamily="18" charset="0"/>
              </a:rPr>
              <a:t>) / 3;</a:t>
            </a:r>
            <a:endParaRPr lang="ru-RU" sz="2000" dirty="0">
              <a:effectLst/>
              <a:latin typeface="Times New Roman" panose="02020603050405020304" pitchFamily="18" charset="0"/>
              <a:ea typeface="Times New Roman" panose="02020603050405020304" pitchFamily="18" charset="0"/>
            </a:endParaRPr>
          </a:p>
          <a:p>
            <a:pPr algn="just">
              <a:lnSpc>
                <a:spcPct val="100000"/>
              </a:lnSpc>
              <a:spcBef>
                <a:spcPts val="0"/>
              </a:spcBef>
            </a:pPr>
            <a:r>
              <a:rPr lang="ru-RU" sz="2000" dirty="0">
                <a:effectLst/>
                <a:latin typeface="Times New Roman" panose="02020603050405020304" pitchFamily="18" charset="0"/>
                <a:ea typeface="Times New Roman" panose="02020603050405020304" pitchFamily="18" charset="0"/>
              </a:rPr>
              <a:t> </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If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equals to </a:t>
            </a:r>
            <a:r>
              <a:rPr lang="ru-RU" sz="2000" dirty="0">
                <a:effectLst/>
                <a:latin typeface="Times New Roman" panose="02020603050405020304" pitchFamily="18" charset="0"/>
                <a:ea typeface="Times New Roman" panose="02020603050405020304" pitchFamily="18" charset="0"/>
              </a:rPr>
              <a:t>m[</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1] </a:t>
            </a:r>
            <a:r>
              <a:rPr lang="en-US" sz="2000" dirty="0">
                <a:effectLst/>
                <a:latin typeface="Times New Roman" panose="02020603050405020304" pitchFamily="18" charset="0"/>
                <a:ea typeface="Times New Roman" panose="02020603050405020304" pitchFamily="18" charset="0"/>
              </a:rPr>
              <a:t>or </a:t>
            </a:r>
            <a:r>
              <a:rPr lang="ru-RU" sz="2000" dirty="0">
                <a:effectLst/>
                <a:latin typeface="Times New Roman" panose="02020603050405020304" pitchFamily="18" charset="0"/>
                <a:ea typeface="Times New Roman" panose="02020603050405020304" pitchFamily="18" charset="0"/>
              </a:rPr>
              <a:t>m[</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2], </a:t>
            </a:r>
            <a:r>
              <a:rPr lang="en-US" sz="2000" dirty="0">
                <a:effectLst/>
                <a:latin typeface="Times New Roman" panose="02020603050405020304" pitchFamily="18" charset="0"/>
                <a:ea typeface="Times New Roman" panose="02020603050405020304" pitchFamily="18" charset="0"/>
              </a:rPr>
              <a:t>then number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is found, we return </a:t>
            </a:r>
            <a:r>
              <a:rPr lang="ru-RU" sz="2000" dirty="0">
                <a:effectLst/>
                <a:latin typeface="Times New Roman" panose="02020603050405020304" pitchFamily="18" charset="0"/>
                <a:ea typeface="Times New Roman" panose="02020603050405020304" pitchFamily="18" charset="0"/>
              </a:rPr>
              <a:t>1. </a:t>
            </a:r>
            <a:r>
              <a:rPr lang="en-US" sz="2000" dirty="0">
                <a:effectLst/>
                <a:latin typeface="Times New Roman" panose="02020603050405020304" pitchFamily="18" charset="0"/>
                <a:ea typeface="Times New Roman" panose="02020603050405020304" pitchFamily="18" charset="0"/>
              </a:rPr>
              <a:t>Otherwise, depending on the following conditions, we continue the search in one of the intervals:</a:t>
            </a:r>
            <a:endParaRPr lang="ru-RU" sz="2000" dirty="0">
              <a:effectLst/>
              <a:latin typeface="Times New Roman" panose="02020603050405020304" pitchFamily="18" charset="0"/>
              <a:ea typeface="Times New Roman" panose="02020603050405020304" pitchFamily="18" charset="0"/>
            </a:endParaRP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if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&lt;</a:t>
            </a:r>
            <a:r>
              <a:rPr lang="ru-RU" sz="2000" dirty="0">
                <a:effectLst/>
                <a:latin typeface="Times New Roman" panose="02020603050405020304" pitchFamily="18" charset="0"/>
                <a:ea typeface="Times New Roman" panose="02020603050405020304" pitchFamily="18" charset="0"/>
              </a:rPr>
              <a:t> m[</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1], </a:t>
            </a:r>
            <a:r>
              <a:rPr lang="en-US" sz="2000" dirty="0">
                <a:effectLst/>
                <a:latin typeface="Times New Roman" panose="02020603050405020304" pitchFamily="18" charset="0"/>
                <a:ea typeface="Times New Roman" panose="02020603050405020304" pitchFamily="18" charset="0"/>
              </a:rPr>
              <a:t>then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lies on segment </a:t>
            </a:r>
            <a:r>
              <a:rPr lang="ru-RU" sz="2000" dirty="0">
                <a:effectLst/>
                <a:latin typeface="Times New Roman" panose="02020603050405020304" pitchFamily="18" charset="0"/>
                <a:ea typeface="Times New Roman" panose="02020603050405020304" pitchFamily="18" charset="0"/>
              </a:rPr>
              <a:t>[</a:t>
            </a:r>
            <a:r>
              <a:rPr lang="ru-RU" sz="2000" i="1" dirty="0">
                <a:effectLst/>
                <a:latin typeface="Times New Roman" panose="02020603050405020304" pitchFamily="18" charset="0"/>
                <a:ea typeface="Times New Roman" panose="02020603050405020304" pitchFamily="18" charset="0"/>
              </a:rPr>
              <a:t>start</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1 </a:t>
            </a:r>
            <a:r>
              <a:rPr lang="en-US" sz="2000" dirty="0">
                <a:effectLst/>
                <a:latin typeface="Times New Roman" panose="02020603050405020304" pitchFamily="18" charset="0"/>
                <a:ea typeface="Times New Roman" panose="02020603050405020304" pitchFamily="18" charset="0"/>
              </a:rPr>
              <a:t>– 1</a:t>
            </a:r>
            <a:r>
              <a:rPr lang="ru-RU" sz="2000" dirty="0">
                <a:effectLst/>
                <a:latin typeface="Times New Roman" panose="02020603050405020304" pitchFamily="18" charset="0"/>
                <a:ea typeface="Times New Roman" panose="02020603050405020304" pitchFamily="18" charset="0"/>
              </a:rPr>
              <a:t>].</a:t>
            </a: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if </a:t>
            </a:r>
            <a:r>
              <a:rPr lang="ru-RU" sz="2000" dirty="0">
                <a:effectLst/>
                <a:latin typeface="Times New Roman" panose="02020603050405020304" pitchFamily="18" charset="0"/>
                <a:ea typeface="Times New Roman" panose="02020603050405020304" pitchFamily="18" charset="0"/>
              </a:rPr>
              <a:t>m[</a:t>
            </a:r>
            <a:r>
              <a:rPr lang="ru-RU" sz="2000" i="1" dirty="0">
                <a:effectLst/>
                <a:latin typeface="Times New Roman" panose="02020603050405020304" pitchFamily="18" charset="0"/>
                <a:ea typeface="Times New Roman" panose="02020603050405020304" pitchFamily="18" charset="0"/>
              </a:rPr>
              <a:t>mid</a:t>
            </a:r>
            <a:r>
              <a:rPr lang="ru-RU" sz="2000" dirty="0">
                <a:effectLst/>
                <a:latin typeface="Times New Roman" panose="02020603050405020304" pitchFamily="18" charset="0"/>
                <a:ea typeface="Times New Roman" panose="02020603050405020304" pitchFamily="18" charset="0"/>
              </a:rPr>
              <a:t>1] </a:t>
            </a:r>
            <a:r>
              <a:rPr lang="en-US" sz="2000" dirty="0">
                <a:effectLst/>
                <a:latin typeface="Times New Roman" panose="02020603050405020304" pitchFamily="18" charset="0"/>
                <a:ea typeface="Times New Roman" panose="02020603050405020304" pitchFamily="18" charset="0"/>
              </a:rPr>
              <a:t>&lt;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&lt;</a:t>
            </a:r>
            <a:r>
              <a:rPr lang="ru-RU" sz="2000" dirty="0">
                <a:effectLst/>
                <a:latin typeface="Times New Roman" panose="02020603050405020304" pitchFamily="18" charset="0"/>
                <a:ea typeface="Times New Roman" panose="02020603050405020304" pitchFamily="18" charset="0"/>
              </a:rPr>
              <a:t> m[</a:t>
            </a:r>
            <a:r>
              <a:rPr lang="ru-RU"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2</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then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lies on segment </a:t>
            </a:r>
            <a:r>
              <a:rPr lang="ru-RU" sz="2000" dirty="0">
                <a:effectLst/>
                <a:latin typeface="Times New Roman" panose="02020603050405020304" pitchFamily="18" charset="0"/>
                <a:ea typeface="Times New Roman" panose="02020603050405020304" pitchFamily="18" charset="0"/>
              </a:rPr>
              <a:t>[</a:t>
            </a:r>
            <a:r>
              <a:rPr lang="ru-RU"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1 + 1</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2 – 1</a:t>
            </a:r>
            <a:r>
              <a:rPr lang="ru-RU" sz="2000" dirty="0">
                <a:effectLst/>
                <a:latin typeface="Times New Roman" panose="02020603050405020304" pitchFamily="18" charset="0"/>
                <a:ea typeface="Times New Roman" panose="02020603050405020304" pitchFamily="18" charset="0"/>
              </a:rPr>
              <a:t>].</a:t>
            </a: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if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&gt;</a:t>
            </a:r>
            <a:r>
              <a:rPr lang="ru-RU" sz="2000" dirty="0">
                <a:effectLst/>
                <a:latin typeface="Times New Roman" panose="02020603050405020304" pitchFamily="18" charset="0"/>
                <a:ea typeface="Times New Roman" panose="02020603050405020304" pitchFamily="18" charset="0"/>
              </a:rPr>
              <a:t> m[</a:t>
            </a:r>
            <a:r>
              <a:rPr lang="ru-RU"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2</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then </a:t>
            </a:r>
            <a:r>
              <a:rPr lang="ru-RU" sz="2000" i="1" dirty="0">
                <a:solidFill>
                  <a:srgbClr val="000000"/>
                </a:solidFill>
                <a:effectLst/>
                <a:latin typeface="Times New Roman" panose="02020603050405020304" pitchFamily="18" charset="0"/>
                <a:ea typeface="Times New Roman" panose="02020603050405020304" pitchFamily="18" charset="0"/>
              </a:rPr>
              <a:t>x</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lies on segment </a:t>
            </a:r>
            <a:r>
              <a:rPr lang="ru-RU" sz="2000" dirty="0">
                <a:effectLst/>
                <a:latin typeface="Times New Roman" panose="02020603050405020304" pitchFamily="18" charset="0"/>
                <a:ea typeface="Times New Roman" panose="02020603050405020304" pitchFamily="18" charset="0"/>
              </a:rPr>
              <a:t>[</a:t>
            </a:r>
            <a:r>
              <a:rPr lang="ru-RU" sz="2000" i="1" dirty="0">
                <a:effectLst/>
                <a:latin typeface="Times New Roman" panose="02020603050405020304" pitchFamily="18" charset="0"/>
                <a:ea typeface="Times New Roman" panose="02020603050405020304" pitchFamily="18" charset="0"/>
              </a:rPr>
              <a:t>mid</a:t>
            </a:r>
            <a:r>
              <a:rPr lang="en-US" sz="2000" dirty="0">
                <a:effectLst/>
                <a:latin typeface="Times New Roman" panose="02020603050405020304" pitchFamily="18" charset="0"/>
                <a:ea typeface="Times New Roman" panose="02020603050405020304" pitchFamily="18" charset="0"/>
              </a:rPr>
              <a:t>2 + 1</a:t>
            </a:r>
            <a:r>
              <a:rPr lang="ru-RU" sz="2000" dirty="0">
                <a:effectLst/>
                <a:latin typeface="Times New Roman" panose="02020603050405020304" pitchFamily="18" charset="0"/>
                <a:ea typeface="Times New Roman" panose="02020603050405020304" pitchFamily="18" charset="0"/>
              </a:rPr>
              <a:t>; </a:t>
            </a:r>
            <a:r>
              <a:rPr lang="ru-RU" sz="2000" i="1" dirty="0">
                <a:effectLst/>
                <a:latin typeface="Times New Roman" panose="02020603050405020304" pitchFamily="18" charset="0"/>
                <a:ea typeface="Times New Roman" panose="02020603050405020304" pitchFamily="18" charset="0"/>
              </a:rPr>
              <a:t>end</a:t>
            </a:r>
            <a:r>
              <a:rPr lang="ru-RU" sz="2000" dirty="0">
                <a:effectLst/>
                <a:latin typeface="Times New Roman" panose="02020603050405020304" pitchFamily="18" charset="0"/>
                <a:ea typeface="Times New Roman" panose="02020603050405020304" pitchFamily="18" charset="0"/>
              </a:rPr>
              <a:t>].</a:t>
            </a:r>
          </a:p>
        </p:txBody>
      </p:sp>
      <p:graphicFrame>
        <p:nvGraphicFramePr>
          <p:cNvPr id="5" name="Объект 4">
            <a:extLst>
              <a:ext uri="{FF2B5EF4-FFF2-40B4-BE49-F238E27FC236}">
                <a16:creationId xmlns:a16="http://schemas.microsoft.com/office/drawing/2014/main" id="{03C9D00F-C131-48E9-8805-1E787C703E06}"/>
              </a:ext>
            </a:extLst>
          </p:cNvPr>
          <p:cNvGraphicFramePr>
            <a:graphicFrameLocks noChangeAspect="1"/>
          </p:cNvGraphicFramePr>
          <p:nvPr>
            <p:extLst>
              <p:ext uri="{D42A27DB-BD31-4B8C-83A1-F6EECF244321}">
                <p14:modId xmlns:p14="http://schemas.microsoft.com/office/powerpoint/2010/main" val="1149675006"/>
              </p:ext>
            </p:extLst>
          </p:nvPr>
        </p:nvGraphicFramePr>
        <p:xfrm>
          <a:off x="6915150" y="4109882"/>
          <a:ext cx="4452286" cy="2655551"/>
        </p:xfrm>
        <a:graphic>
          <a:graphicData uri="http://schemas.openxmlformats.org/presentationml/2006/ole">
            <mc:AlternateContent xmlns:mc="http://schemas.openxmlformats.org/markup-compatibility/2006">
              <mc:Choice xmlns:v="urn:schemas-microsoft-com:vml" Requires="v">
                <p:oleObj spid="_x0000_s128003" name="Visio" r:id="rId4" imgW="3754785" imgH="2243044" progId="Visio.Drawing.11">
                  <p:embed/>
                </p:oleObj>
              </mc:Choice>
              <mc:Fallback>
                <p:oleObj name="Visio" r:id="rId4" imgW="3754785" imgH="2243044" progId="Visio.Drawing.11">
                  <p:embed/>
                  <p:pic>
                    <p:nvPicPr>
                      <p:cNvPr id="0" name="Object 1"/>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915150" y="4109882"/>
                        <a:ext cx="4452286" cy="2655551"/>
                      </a:xfrm>
                      <a:prstGeom prst="rect">
                        <a:avLst/>
                      </a:prstGeom>
                      <a:noFill/>
                    </p:spPr>
                  </p:pic>
                </p:oleObj>
              </mc:Fallback>
            </mc:AlternateContent>
          </a:graphicData>
        </a:graphic>
      </p:graphicFrame>
    </p:spTree>
    <p:extLst>
      <p:ext uri="{BB962C8B-B14F-4D97-AF65-F5344CB8AC3E}">
        <p14:creationId xmlns:p14="http://schemas.microsoft.com/office/powerpoint/2010/main" val="40171737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3"/>
              </a:rPr>
              <a:t>4419. Dense forest</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3"/>
            <a:ext cx="10679461" cy="1392100"/>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To prevent the appearance of sanitary inspection in the camp, the LKSH administration dug the only road connecting the “Berendevy polyany” with Sudislavl, so now it is impossible to travel along it. However, the difficulties did not stop the inspection, for it remains only one possibility – to reach the camp on foot. As you know, Sudislavl is in the field, and “Berendevy polyany” are in the forest.</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p>
        </p:txBody>
      </p:sp>
      <p:graphicFrame>
        <p:nvGraphicFramePr>
          <p:cNvPr id="5" name="Объект 4">
            <a:extLst>
              <a:ext uri="{FF2B5EF4-FFF2-40B4-BE49-F238E27FC236}">
                <a16:creationId xmlns:a16="http://schemas.microsoft.com/office/drawing/2014/main" id="{8A3DA62F-8E91-446A-87CE-13E1AFF2C30C}"/>
              </a:ext>
            </a:extLst>
          </p:cNvPr>
          <p:cNvGraphicFramePr>
            <a:graphicFrameLocks noChangeAspect="1"/>
          </p:cNvGraphicFramePr>
          <p:nvPr>
            <p:extLst>
              <p:ext uri="{D42A27DB-BD31-4B8C-83A1-F6EECF244321}">
                <p14:modId xmlns:p14="http://schemas.microsoft.com/office/powerpoint/2010/main" val="1064025576"/>
              </p:ext>
            </p:extLst>
          </p:nvPr>
        </p:nvGraphicFramePr>
        <p:xfrm>
          <a:off x="7664344" y="2285815"/>
          <a:ext cx="4222857" cy="3859300"/>
        </p:xfrm>
        <a:graphic>
          <a:graphicData uri="http://schemas.openxmlformats.org/presentationml/2006/ole">
            <mc:AlternateContent xmlns:mc="http://schemas.openxmlformats.org/markup-compatibility/2006">
              <mc:Choice xmlns:v="urn:schemas-microsoft-com:vml" Requires="v">
                <p:oleObj spid="_x0000_s126978" name="Visio" r:id="rId4" imgW="2350706" imgH="2147803" progId="Visio.Drawing.11">
                  <p:embed/>
                </p:oleObj>
              </mc:Choice>
              <mc:Fallback>
                <p:oleObj name="Visio" r:id="rId4" imgW="2350706" imgH="2147803" progId="Visio.Drawing.11">
                  <p:embed/>
                  <p:pic>
                    <p:nvPicPr>
                      <p:cNvPr id="5" name="Объект 4">
                        <a:extLst>
                          <a:ext uri="{FF2B5EF4-FFF2-40B4-BE49-F238E27FC236}">
                            <a16:creationId xmlns:a16="http://schemas.microsoft.com/office/drawing/2014/main" id="{8A3DA62F-8E91-446A-87CE-13E1AFF2C3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664344" y="2285815"/>
                        <a:ext cx="4222857" cy="3859300"/>
                      </a:xfrm>
                      <a:prstGeom prst="rect">
                        <a:avLst/>
                      </a:prstGeom>
                      <a:noFill/>
                    </p:spPr>
                  </p:pic>
                </p:oleObj>
              </mc:Fallback>
            </mc:AlternateContent>
          </a:graphicData>
        </a:graphic>
      </p:graphicFrame>
      <p:sp>
        <p:nvSpPr>
          <p:cNvPr id="6" name="TextBox 5">
            <a:extLst>
              <a:ext uri="{FF2B5EF4-FFF2-40B4-BE49-F238E27FC236}">
                <a16:creationId xmlns:a16="http://schemas.microsoft.com/office/drawing/2014/main" id="{C891B8E1-FAE9-40FB-85E9-8EA2D4A4FA58}"/>
              </a:ext>
            </a:extLst>
          </p:cNvPr>
          <p:cNvSpPr txBox="1"/>
          <p:nvPr/>
        </p:nvSpPr>
        <p:spPr>
          <a:xfrm>
            <a:off x="1133373" y="2454443"/>
            <a:ext cx="6451333" cy="3785652"/>
          </a:xfrm>
          <a:prstGeom prst="rect">
            <a:avLst/>
          </a:prstGeom>
          <a:noFill/>
        </p:spPr>
        <p:txBody>
          <a:bodyPr wrap="square">
            <a:spAutoFit/>
          </a:bodyPr>
          <a:lstStyle/>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Sudislavl is located at the point with coordinates (0, 1).</a:t>
            </a: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“Berendevy polyany” are located at the point with coordinates (1, 0).</a:t>
            </a: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The border between the field and forest is a horizontal line </a:t>
            </a:r>
            <a:r>
              <a:rPr lang="en-US" sz="2000" i="1" dirty="0">
                <a:effectLst/>
                <a:latin typeface="Times New Roman" panose="02020603050405020304" pitchFamily="18" charset="0"/>
                <a:ea typeface="Times New Roman" panose="02020603050405020304" pitchFamily="18" charset="0"/>
              </a:rPr>
              <a:t>y</a:t>
            </a:r>
            <a:r>
              <a:rPr lang="en-US" sz="2000" dirty="0">
                <a:effectLst/>
                <a:latin typeface="Times New Roman" panose="02020603050405020304" pitchFamily="18" charset="0"/>
                <a:ea typeface="Times New Roman" panose="02020603050405020304" pitchFamily="18" charset="0"/>
              </a:rPr>
              <a:t>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where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is some number (0 ≤ </a:t>
            </a:r>
            <a:r>
              <a:rPr lang="en-US" sz="2000" i="1" dirty="0">
                <a:effectLst/>
                <a:latin typeface="Times New Roman" panose="02020603050405020304" pitchFamily="18" charset="0"/>
                <a:ea typeface="Times New Roman" panose="02020603050405020304" pitchFamily="18" charset="0"/>
              </a:rPr>
              <a:t>a</a:t>
            </a:r>
            <a:r>
              <a:rPr lang="en-US" sz="2000" dirty="0">
                <a:effectLst/>
                <a:latin typeface="Times New Roman" panose="02020603050405020304" pitchFamily="18" charset="0"/>
                <a:ea typeface="Times New Roman" panose="02020603050405020304" pitchFamily="18" charset="0"/>
              </a:rPr>
              <a:t> ≤ 1).</a:t>
            </a:r>
          </a:p>
          <a:p>
            <a:pPr marL="342900" lvl="0" indent="-342900" algn="just">
              <a:lnSpc>
                <a:spcPct val="100000"/>
              </a:lnSpc>
              <a:spcBef>
                <a:spcPts val="0"/>
              </a:spcBef>
              <a:buFont typeface="Symbol" panose="05050102010706020507" pitchFamily="18" charset="2"/>
              <a:buChar char=""/>
            </a:pPr>
            <a:r>
              <a:rPr lang="en-US" sz="2000" dirty="0">
                <a:effectLst/>
                <a:latin typeface="Times New Roman" panose="02020603050405020304" pitchFamily="18" charset="0"/>
                <a:ea typeface="Times New Roman" panose="02020603050405020304" pitchFamily="18" charset="0"/>
              </a:rPr>
              <a:t>The speed of sanitary inspection through the field is </a:t>
            </a:r>
            <a:r>
              <a:rPr lang="en-US" sz="2000" dirty="0" err="1">
                <a:effectLst/>
                <a:latin typeface="Times New Roman" panose="02020603050405020304" pitchFamily="18" charset="0"/>
                <a:ea typeface="Times New Roman" panose="02020603050405020304" pitchFamily="18" charset="0"/>
              </a:rPr>
              <a:t>V</a:t>
            </a:r>
            <a:r>
              <a:rPr lang="en-US" sz="2000" i="1" baseline="-25000" dirty="0" err="1">
                <a:effectLst/>
                <a:latin typeface="Times New Roman" panose="02020603050405020304" pitchFamily="18" charset="0"/>
                <a:ea typeface="Times New Roman" panose="02020603050405020304" pitchFamily="18" charset="0"/>
              </a:rPr>
              <a:t>p</a:t>
            </a:r>
            <a:r>
              <a:rPr lang="en-US" sz="2000" dirty="0">
                <a:effectLst/>
                <a:latin typeface="Times New Roman" panose="02020603050405020304" pitchFamily="18" charset="0"/>
                <a:ea typeface="Times New Roman" panose="02020603050405020304" pitchFamily="18" charset="0"/>
              </a:rPr>
              <a:t>, the speed through the forest is </a:t>
            </a:r>
            <a:r>
              <a:rPr lang="en-US" sz="2000" dirty="0" err="1">
                <a:effectLst/>
                <a:latin typeface="Times New Roman" panose="02020603050405020304" pitchFamily="18" charset="0"/>
                <a:ea typeface="Times New Roman" panose="02020603050405020304" pitchFamily="18" charset="0"/>
              </a:rPr>
              <a:t>V</a:t>
            </a:r>
            <a:r>
              <a:rPr lang="en-US" sz="2000" i="1" baseline="-25000" dirty="0" err="1">
                <a:effectLst/>
                <a:latin typeface="Times New Roman" panose="02020603050405020304" pitchFamily="18" charset="0"/>
                <a:ea typeface="Times New Roman" panose="02020603050405020304" pitchFamily="18" charset="0"/>
              </a:rPr>
              <a:t>f</a:t>
            </a:r>
            <a:r>
              <a:rPr lang="en-US" sz="2000" dirty="0">
                <a:effectLst/>
                <a:latin typeface="Times New Roman" panose="02020603050405020304" pitchFamily="18" charset="0"/>
                <a:ea typeface="Times New Roman" panose="02020603050405020304" pitchFamily="18" charset="0"/>
              </a:rPr>
              <a:t>. Along the border it is allowed to move either by forest or by field.</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The LKSH administration want to know how much time left to prepare for sanitary inspection visit. It asked you to find out at what point the sanitary inspection should enter into the forest to reach “Berendevy polyany” as fast as possible.</a:t>
            </a:r>
          </a:p>
        </p:txBody>
      </p:sp>
    </p:spTree>
    <p:extLst>
      <p:ext uri="{BB962C8B-B14F-4D97-AF65-F5344CB8AC3E}">
        <p14:creationId xmlns:p14="http://schemas.microsoft.com/office/powerpoint/2010/main" val="152315404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accent2">
            <a:lumMod val="20000"/>
            <a:lumOff val="8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3"/>
              </a:rPr>
              <a:t>4419. Dense forest</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3"/>
            <a:ext cx="10679461" cy="1392100"/>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To prevent the appearance of sanitary inspection in the camp, the LKSH administration dug the only road connecting the “Berendevy polyany” with Sudislavl, so now it is impossible to travel along it. However, the difficulties did not stop the inspection, for it remains only one possibility – to reach the camp on foot. As you know, Sudislavl is in the field, and “Berendevy polyany” are in the forest.</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p>
        </p:txBody>
      </p:sp>
      <p:graphicFrame>
        <p:nvGraphicFramePr>
          <p:cNvPr id="5" name="Объект 4">
            <a:extLst>
              <a:ext uri="{FF2B5EF4-FFF2-40B4-BE49-F238E27FC236}">
                <a16:creationId xmlns:a16="http://schemas.microsoft.com/office/drawing/2014/main" id="{8A3DA62F-8E91-446A-87CE-13E1AFF2C30C}"/>
              </a:ext>
            </a:extLst>
          </p:cNvPr>
          <p:cNvGraphicFramePr>
            <a:graphicFrameLocks noChangeAspect="1"/>
          </p:cNvGraphicFramePr>
          <p:nvPr>
            <p:extLst>
              <p:ext uri="{D42A27DB-BD31-4B8C-83A1-F6EECF244321}">
                <p14:modId xmlns:p14="http://schemas.microsoft.com/office/powerpoint/2010/main" val="1289792728"/>
              </p:ext>
            </p:extLst>
          </p:nvPr>
        </p:nvGraphicFramePr>
        <p:xfrm>
          <a:off x="7880680" y="2266564"/>
          <a:ext cx="4222857" cy="3859300"/>
        </p:xfrm>
        <a:graphic>
          <a:graphicData uri="http://schemas.openxmlformats.org/presentationml/2006/ole">
            <mc:AlternateContent xmlns:mc="http://schemas.openxmlformats.org/markup-compatibility/2006">
              <mc:Choice xmlns:v="urn:schemas-microsoft-com:vml" Requires="v">
                <p:oleObj spid="_x0000_s125954" name="Visio" r:id="rId4" imgW="2350706" imgH="2147803" progId="Visio.Drawing.11">
                  <p:embed/>
                </p:oleObj>
              </mc:Choice>
              <mc:Fallback>
                <p:oleObj name="Visio" r:id="rId4" imgW="2350706" imgH="2147803" progId="Visio.Drawing.11">
                  <p:embed/>
                  <p:pic>
                    <p:nvPicPr>
                      <p:cNvPr id="5" name="Объект 4">
                        <a:extLst>
                          <a:ext uri="{FF2B5EF4-FFF2-40B4-BE49-F238E27FC236}">
                            <a16:creationId xmlns:a16="http://schemas.microsoft.com/office/drawing/2014/main" id="{8A3DA62F-8E91-446A-87CE-13E1AFF2C3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0680" y="2266564"/>
                        <a:ext cx="4222857" cy="3859300"/>
                      </a:xfrm>
                      <a:prstGeom prst="rect">
                        <a:avLst/>
                      </a:prstGeom>
                      <a:noFill/>
                    </p:spPr>
                  </p:pic>
                </p:oleObj>
              </mc:Fallback>
            </mc:AlternateContent>
          </a:graphicData>
        </a:graphic>
      </p:graphicFrame>
      <p:sp>
        <p:nvSpPr>
          <p:cNvPr id="6" name="TextBox 5">
            <a:extLst>
              <a:ext uri="{FF2B5EF4-FFF2-40B4-BE49-F238E27FC236}">
                <a16:creationId xmlns:a16="http://schemas.microsoft.com/office/drawing/2014/main" id="{C891B8E1-FAE9-40FB-85E9-8EA2D4A4FA58}"/>
              </a:ext>
            </a:extLst>
          </p:cNvPr>
          <p:cNvSpPr txBox="1"/>
          <p:nvPr/>
        </p:nvSpPr>
        <p:spPr>
          <a:xfrm>
            <a:off x="683394" y="2454443"/>
            <a:ext cx="7940842" cy="2246769"/>
          </a:xfrm>
          <a:prstGeom prst="rect">
            <a:avLst/>
          </a:prstGeom>
          <a:noFill/>
        </p:spPr>
        <p:txBody>
          <a:bodyPr wrap="square">
            <a:spAutoFit/>
          </a:bodyPr>
          <a:lstStyle/>
          <a:p>
            <a:pPr algn="just"/>
            <a:r>
              <a:rPr lang="en-US" sz="2000" b="1" dirty="0">
                <a:effectLst/>
                <a:latin typeface="Times New Roman" panose="02020603050405020304" pitchFamily="18" charset="0"/>
                <a:ea typeface="Times New Roman" panose="02020603050405020304" pitchFamily="18" charset="0"/>
              </a:rPr>
              <a:t>Input</a:t>
            </a:r>
            <a:r>
              <a:rPr lang="ru-RU" sz="2000" b="1" dirty="0">
                <a:effectLst/>
                <a:latin typeface="Times New Roman" panose="02020603050405020304" pitchFamily="18" charset="0"/>
                <a:ea typeface="Times New Roman" panose="02020603050405020304" pitchFamily="18" charset="0"/>
              </a:rPr>
              <a:t>.</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First line contains two positive integers </a:t>
            </a:r>
            <a:r>
              <a:rPr lang="ru-RU" sz="2000" dirty="0">
                <a:effectLst/>
                <a:latin typeface="Times New Roman" panose="02020603050405020304" pitchFamily="18" charset="0"/>
                <a:ea typeface="Times New Roman" panose="02020603050405020304" pitchFamily="18" charset="0"/>
              </a:rPr>
              <a:t>V</a:t>
            </a:r>
            <a:r>
              <a:rPr lang="ru-RU" sz="2000" i="1" baseline="-25000" dirty="0">
                <a:effectLst/>
                <a:latin typeface="Times New Roman" panose="02020603050405020304" pitchFamily="18" charset="0"/>
                <a:ea typeface="Times New Roman" panose="02020603050405020304" pitchFamily="18" charset="0"/>
              </a:rPr>
              <a:t>p</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and</a:t>
            </a:r>
            <a:r>
              <a:rPr lang="ru-RU" sz="2000" dirty="0">
                <a:effectLst/>
                <a:latin typeface="Times New Roman" panose="02020603050405020304" pitchFamily="18" charset="0"/>
                <a:ea typeface="Times New Roman" panose="02020603050405020304" pitchFamily="18" charset="0"/>
              </a:rPr>
              <a:t> V</a:t>
            </a:r>
            <a:r>
              <a:rPr lang="ru-RU" sz="2000" i="1" baseline="-25000" dirty="0">
                <a:effectLst/>
                <a:latin typeface="Times New Roman" panose="02020603050405020304" pitchFamily="18" charset="0"/>
                <a:ea typeface="Times New Roman" panose="02020603050405020304" pitchFamily="18" charset="0"/>
              </a:rPr>
              <a:t>f</a:t>
            </a:r>
            <a:r>
              <a:rPr lang="ru-RU" sz="2000" dirty="0">
                <a:effectLst/>
                <a:latin typeface="Times New Roman" panose="02020603050405020304" pitchFamily="18" charset="0"/>
                <a:ea typeface="Times New Roman" panose="02020603050405020304" pitchFamily="18" charset="0"/>
              </a:rPr>
              <a:t> (1 ≤ V</a:t>
            </a:r>
            <a:r>
              <a:rPr lang="ru-RU" sz="2000" i="1" baseline="-25000" dirty="0">
                <a:effectLst/>
                <a:latin typeface="Times New Roman" panose="02020603050405020304" pitchFamily="18" charset="0"/>
                <a:ea typeface="Times New Roman" panose="02020603050405020304" pitchFamily="18" charset="0"/>
              </a:rPr>
              <a:t>p</a:t>
            </a:r>
            <a:r>
              <a:rPr lang="ru-RU" sz="2000" dirty="0">
                <a:effectLst/>
                <a:latin typeface="Times New Roman" panose="02020603050405020304" pitchFamily="18" charset="0"/>
                <a:ea typeface="Times New Roman" panose="02020603050405020304" pitchFamily="18" charset="0"/>
              </a:rPr>
              <a:t>, V</a:t>
            </a:r>
            <a:r>
              <a:rPr lang="ru-RU" sz="2000" i="1" baseline="-25000" dirty="0">
                <a:effectLst/>
                <a:latin typeface="Times New Roman" panose="02020603050405020304" pitchFamily="18" charset="0"/>
                <a:ea typeface="Times New Roman" panose="02020603050405020304" pitchFamily="18" charset="0"/>
              </a:rPr>
              <a:t>f</a:t>
            </a:r>
            <a:r>
              <a:rPr lang="ru-RU" sz="2000" dirty="0">
                <a:effectLst/>
                <a:latin typeface="Times New Roman" panose="02020603050405020304" pitchFamily="18" charset="0"/>
                <a:ea typeface="Times New Roman" panose="02020603050405020304" pitchFamily="18" charset="0"/>
              </a:rPr>
              <a:t> ≤ 10</a:t>
            </a:r>
            <a:r>
              <a:rPr lang="ru-RU" sz="2000" baseline="30000" dirty="0">
                <a:effectLst/>
                <a:latin typeface="Times New Roman" panose="02020603050405020304" pitchFamily="18" charset="0"/>
                <a:ea typeface="Times New Roman" panose="02020603050405020304" pitchFamily="18" charset="0"/>
              </a:rPr>
              <a:t>5</a:t>
            </a:r>
            <a:r>
              <a:rPr lang="ru-RU" sz="2000" dirty="0">
                <a:effectLst/>
                <a:latin typeface="Times New Roman" panose="02020603050405020304" pitchFamily="18" charset="0"/>
                <a:ea typeface="Times New Roman" panose="02020603050405020304" pitchFamily="18" charset="0"/>
              </a:rPr>
              <a:t>). </a:t>
            </a:r>
            <a:r>
              <a:rPr lang="en-US" sz="2000" dirty="0">
                <a:effectLst/>
                <a:latin typeface="Times New Roman" panose="02020603050405020304" pitchFamily="18" charset="0"/>
                <a:ea typeface="Times New Roman" panose="02020603050405020304" pitchFamily="18" charset="0"/>
              </a:rPr>
              <a:t>Second line contains one real number – the Oy coordinate of the border between the forest and field </a:t>
            </a:r>
            <a:r>
              <a:rPr lang="ru-RU" sz="2000" i="1" dirty="0">
                <a:effectLst/>
                <a:latin typeface="Times New Roman" panose="02020603050405020304" pitchFamily="18" charset="0"/>
                <a:ea typeface="Times New Roman" panose="02020603050405020304" pitchFamily="18" charset="0"/>
              </a:rPr>
              <a:t>a</a:t>
            </a:r>
            <a:r>
              <a:rPr lang="ru-RU" sz="2000" dirty="0">
                <a:effectLst/>
                <a:latin typeface="Times New Roman" panose="02020603050405020304" pitchFamily="18" charset="0"/>
                <a:ea typeface="Times New Roman" panose="02020603050405020304" pitchFamily="18" charset="0"/>
              </a:rPr>
              <a:t> (0 ≤ </a:t>
            </a:r>
            <a:r>
              <a:rPr lang="ru-RU" sz="2000" i="1" dirty="0">
                <a:effectLst/>
                <a:latin typeface="Times New Roman" panose="02020603050405020304" pitchFamily="18" charset="0"/>
                <a:ea typeface="Times New Roman" panose="02020603050405020304" pitchFamily="18" charset="0"/>
              </a:rPr>
              <a:t>a</a:t>
            </a:r>
            <a:r>
              <a:rPr lang="ru-RU" sz="2000" dirty="0">
                <a:effectLst/>
                <a:latin typeface="Times New Roman" panose="02020603050405020304" pitchFamily="18" charset="0"/>
                <a:ea typeface="Times New Roman" panose="02020603050405020304" pitchFamily="18" charset="0"/>
              </a:rPr>
              <a:t> ≤ 1).</a:t>
            </a:r>
          </a:p>
          <a:p>
            <a:pPr algn="just"/>
            <a:r>
              <a:rPr lang="ru-RU" sz="2000" dirty="0">
                <a:effectLst/>
                <a:latin typeface="Times New Roman" panose="02020603050405020304" pitchFamily="18" charset="0"/>
                <a:ea typeface="Times New Roman" panose="02020603050405020304" pitchFamily="18" charset="0"/>
              </a:rPr>
              <a:t> </a:t>
            </a:r>
          </a:p>
          <a:p>
            <a:pPr algn="just"/>
            <a:r>
              <a:rPr lang="en-US" sz="2000" b="1" dirty="0">
                <a:effectLst/>
                <a:latin typeface="Times New Roman" panose="02020603050405020304" pitchFamily="18" charset="0"/>
                <a:ea typeface="Times New Roman" panose="02020603050405020304" pitchFamily="18" charset="0"/>
              </a:rPr>
              <a:t>Output</a:t>
            </a:r>
            <a:r>
              <a:rPr lang="ru-RU" sz="2000" b="1" dirty="0">
                <a:effectLst/>
                <a:latin typeface="Times New Roman" panose="02020603050405020304" pitchFamily="18" charset="0"/>
                <a:ea typeface="Times New Roman" panose="02020603050405020304" pitchFamily="18" charset="0"/>
              </a:rPr>
              <a:t>.</a:t>
            </a:r>
            <a:r>
              <a:rPr lang="en-US" sz="2000" dirty="0">
                <a:effectLst/>
                <a:latin typeface="Times New Roman" panose="02020603050405020304" pitchFamily="18" charset="0"/>
                <a:ea typeface="Times New Roman" panose="02020603050405020304" pitchFamily="18" charset="0"/>
              </a:rPr>
              <a:t> Print one real number with accuracy of no less than 8 digits after the decimal point – the Ox coordinate of the point at which the sanitary inspection will enter the forest.</a:t>
            </a:r>
            <a:endParaRPr lang="ru-RU" sz="2000" dirty="0">
              <a:effectLst/>
              <a:latin typeface="Times New Roman" panose="02020603050405020304" pitchFamily="18" charset="0"/>
              <a:ea typeface="Times New Roman" panose="02020603050405020304" pitchFamily="18" charset="0"/>
            </a:endParaRPr>
          </a:p>
        </p:txBody>
      </p:sp>
      <p:sp>
        <p:nvSpPr>
          <p:cNvPr id="7" name="Подзаголовок 2">
            <a:extLst>
              <a:ext uri="{FF2B5EF4-FFF2-40B4-BE49-F238E27FC236}">
                <a16:creationId xmlns:a16="http://schemas.microsoft.com/office/drawing/2014/main" id="{A94A0581-36B3-418C-B326-07E385936496}"/>
              </a:ext>
            </a:extLst>
          </p:cNvPr>
          <p:cNvSpPr txBox="1">
            <a:spLocks/>
          </p:cNvSpPr>
          <p:nvPr/>
        </p:nvSpPr>
        <p:spPr>
          <a:xfrm>
            <a:off x="1053735" y="4708995"/>
            <a:ext cx="2842660" cy="1086662"/>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input</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effectLst/>
                <a:latin typeface="Courier New" panose="02070309020205020404" pitchFamily="49" charset="0"/>
                <a:ea typeface="Times New Roman" panose="02020603050405020304" pitchFamily="18" charset="0"/>
              </a:rPr>
              <a:t>5 3</a:t>
            </a:r>
          </a:p>
          <a:p>
            <a:pPr algn="just">
              <a:lnSpc>
                <a:spcPct val="100000"/>
              </a:lnSpc>
              <a:spcBef>
                <a:spcPts val="0"/>
              </a:spcBef>
              <a:tabLst>
                <a:tab pos="581660" algn="l"/>
                <a:tab pos="1163320" algn="l"/>
                <a:tab pos="1744980" algn="l"/>
                <a:tab pos="2326640" algn="l"/>
                <a:tab pos="2908300" algn="l"/>
                <a:tab pos="3489960" algn="l"/>
                <a:tab pos="4071620" algn="l"/>
                <a:tab pos="4653280" algn="l"/>
                <a:tab pos="5234940" algn="l"/>
                <a:tab pos="5816600" algn="l"/>
                <a:tab pos="6398260" algn="l"/>
                <a:tab pos="6979920" algn="l"/>
                <a:tab pos="7561580" algn="l"/>
                <a:tab pos="8143240" algn="l"/>
                <a:tab pos="8724900" algn="l"/>
                <a:tab pos="9306560" algn="l"/>
              </a:tabLst>
            </a:pPr>
            <a:r>
              <a:rPr lang="en-US" sz="2000" dirty="0">
                <a:solidFill>
                  <a:srgbClr val="222222"/>
                </a:solidFill>
                <a:latin typeface="Courier New" panose="02070309020205020404" pitchFamily="49" charset="0"/>
                <a:ea typeface="Times New Roman" panose="02020603050405020304" pitchFamily="18" charset="0"/>
              </a:rPr>
              <a:t>0.4</a:t>
            </a:r>
            <a:endParaRPr lang="ru-RU" dirty="0">
              <a:effectLst/>
              <a:latin typeface="Times New Roman" panose="02020603050405020304" pitchFamily="18" charset="0"/>
              <a:ea typeface="Times New Roman" panose="02020603050405020304" pitchFamily="18" charset="0"/>
            </a:endParaRPr>
          </a:p>
        </p:txBody>
      </p:sp>
      <p:sp>
        <p:nvSpPr>
          <p:cNvPr id="8" name="Подзаголовок 2">
            <a:extLst>
              <a:ext uri="{FF2B5EF4-FFF2-40B4-BE49-F238E27FC236}">
                <a16:creationId xmlns:a16="http://schemas.microsoft.com/office/drawing/2014/main" id="{2AFB93BD-AFE5-4D96-AF5B-926B12715B49}"/>
              </a:ext>
            </a:extLst>
          </p:cNvPr>
          <p:cNvSpPr txBox="1">
            <a:spLocks/>
          </p:cNvSpPr>
          <p:nvPr/>
        </p:nvSpPr>
        <p:spPr>
          <a:xfrm>
            <a:off x="4127401" y="4708995"/>
            <a:ext cx="2199604" cy="882667"/>
          </a:xfrm>
          <a:prstGeom prst="rect">
            <a:avLst/>
          </a:prstGeom>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just">
              <a:lnSpc>
                <a:spcPct val="100000"/>
              </a:lnSpc>
              <a:spcBef>
                <a:spcPts val="0"/>
              </a:spcBef>
            </a:pPr>
            <a:r>
              <a:rPr lang="en-US" sz="2000" b="1" dirty="0">
                <a:latin typeface="Times New Roman CYR" panose="02020603050405020304" pitchFamily="18" charset="0"/>
                <a:ea typeface="Times New Roman" panose="02020603050405020304" pitchFamily="18" charset="0"/>
                <a:cs typeface="Times New Roman" panose="02020603050405020304" pitchFamily="18" charset="0"/>
              </a:rPr>
              <a:t>Sample output</a:t>
            </a:r>
          </a:p>
          <a:p>
            <a:pPr algn="just">
              <a:lnSpc>
                <a:spcPct val="100000"/>
              </a:lnSpc>
              <a:spcBef>
                <a:spcPts val="0"/>
              </a:spcBef>
            </a:pPr>
            <a:r>
              <a:rPr lang="ru-RU" sz="2000" dirty="0">
                <a:effectLst/>
                <a:latin typeface="Courier New" panose="02070309020205020404" pitchFamily="49" charset="0"/>
                <a:ea typeface="Times New Roman" panose="02020603050405020304" pitchFamily="18" charset="0"/>
              </a:rPr>
              <a:t>0.783310604</a:t>
            </a:r>
            <a:endParaRPr lang="ru-RU" dirty="0">
              <a:latin typeface="Times New Roman" panose="02020603050405020304" pitchFamily="18" charset="0"/>
              <a:ea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22349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2">
            <a:lumMod val="90000"/>
          </a:schemeClr>
        </a:solidFill>
        <a:effectLst/>
      </p:bgPr>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4BB10C3-8DAF-4C05-A5A2-86055BE15093}"/>
              </a:ext>
            </a:extLst>
          </p:cNvPr>
          <p:cNvSpPr>
            <a:spLocks noGrp="1"/>
          </p:cNvSpPr>
          <p:nvPr>
            <p:ph type="ctrTitle"/>
          </p:nvPr>
        </p:nvSpPr>
        <p:spPr>
          <a:xfrm>
            <a:off x="1524000" y="111712"/>
            <a:ext cx="9144000" cy="678570"/>
          </a:xfrm>
        </p:spPr>
        <p:txBody>
          <a:bodyPr>
            <a:normAutofit/>
          </a:bodyPr>
          <a:lstStyle/>
          <a:p>
            <a:r>
              <a:rPr lang="en-US" sz="2400" b="1" dirty="0">
                <a:solidFill>
                  <a:srgbClr val="0000FF"/>
                </a:solidFill>
                <a:effectLst/>
                <a:latin typeface="Times New Roman" panose="02020603050405020304" pitchFamily="18" charset="0"/>
                <a:ea typeface="Times New Roman" panose="02020603050405020304" pitchFamily="18" charset="0"/>
              </a:rPr>
              <a:t>E-OLYMP </a:t>
            </a:r>
            <a:r>
              <a:rPr lang="en-US" sz="2400" b="1" u="sng" dirty="0">
                <a:solidFill>
                  <a:srgbClr val="0000FF"/>
                </a:solidFill>
                <a:effectLst/>
                <a:latin typeface="Times New Roman" panose="02020603050405020304" pitchFamily="18" charset="0"/>
                <a:ea typeface="Times New Roman" panose="02020603050405020304" pitchFamily="18" charset="0"/>
                <a:hlinkClick r:id="rId3"/>
              </a:rPr>
              <a:t>4419. Dense forest</a:t>
            </a:r>
            <a:endParaRPr lang="ru-RU" sz="7200" b="1"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4DF0DB00-0D1B-490E-A819-E787B7DF53E1}"/>
              </a:ext>
            </a:extLst>
          </p:cNvPr>
          <p:cNvSpPr>
            <a:spLocks noGrp="1"/>
          </p:cNvSpPr>
          <p:nvPr>
            <p:ph type="subTitle" idx="1"/>
          </p:nvPr>
        </p:nvSpPr>
        <p:spPr>
          <a:xfrm>
            <a:off x="1053735" y="1062343"/>
            <a:ext cx="10679461" cy="1392100"/>
          </a:xfrm>
        </p:spPr>
        <p:txBody>
          <a:bodyPr>
            <a:noAutofit/>
          </a:bodyPr>
          <a:lstStyle/>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To prevent the appearance of sanitary inspection in the camp, the LKSH administration dug the only road connecting the “Berendevy polyany” with Sudislavl, so now it is impossible to travel along it. However, the difficulties did not stop the inspection, for it remains only one possibility – to reach the camp on foot. As you know, Sudislavl is in the field, and “Berendevy polyany” are in the forest.</a:t>
            </a:r>
          </a:p>
          <a:p>
            <a:pPr algn="just">
              <a:lnSpc>
                <a:spcPct val="100000"/>
              </a:lnSpc>
              <a:spcBef>
                <a:spcPts val="0"/>
              </a:spcBef>
            </a:pPr>
            <a:r>
              <a:rPr lang="en-US" sz="2000" dirty="0">
                <a:effectLst/>
                <a:latin typeface="Times New Roman" panose="02020603050405020304" pitchFamily="18" charset="0"/>
                <a:ea typeface="Times New Roman" panose="02020603050405020304" pitchFamily="18" charset="0"/>
              </a:rPr>
              <a:t> </a:t>
            </a:r>
          </a:p>
        </p:txBody>
      </p:sp>
      <p:graphicFrame>
        <p:nvGraphicFramePr>
          <p:cNvPr id="5" name="Объект 4">
            <a:extLst>
              <a:ext uri="{FF2B5EF4-FFF2-40B4-BE49-F238E27FC236}">
                <a16:creationId xmlns:a16="http://schemas.microsoft.com/office/drawing/2014/main" id="{8A3DA62F-8E91-446A-87CE-13E1AFF2C30C}"/>
              </a:ext>
            </a:extLst>
          </p:cNvPr>
          <p:cNvGraphicFramePr>
            <a:graphicFrameLocks noChangeAspect="1"/>
          </p:cNvGraphicFramePr>
          <p:nvPr/>
        </p:nvGraphicFramePr>
        <p:xfrm>
          <a:off x="7880680" y="2266564"/>
          <a:ext cx="4222857" cy="3859300"/>
        </p:xfrm>
        <a:graphic>
          <a:graphicData uri="http://schemas.openxmlformats.org/presentationml/2006/ole">
            <mc:AlternateContent xmlns:mc="http://schemas.openxmlformats.org/markup-compatibility/2006">
              <mc:Choice xmlns:v="urn:schemas-microsoft-com:vml" Requires="v">
                <p:oleObj spid="_x0000_s124936" name="Visio" r:id="rId4" imgW="2350706" imgH="2147803" progId="Visio.Drawing.11">
                  <p:embed/>
                </p:oleObj>
              </mc:Choice>
              <mc:Fallback>
                <p:oleObj name="Visio" r:id="rId4" imgW="2350706" imgH="2147803" progId="Visio.Drawing.11">
                  <p:embed/>
                  <p:pic>
                    <p:nvPicPr>
                      <p:cNvPr id="5" name="Объект 4">
                        <a:extLst>
                          <a:ext uri="{FF2B5EF4-FFF2-40B4-BE49-F238E27FC236}">
                            <a16:creationId xmlns:a16="http://schemas.microsoft.com/office/drawing/2014/main" id="{8A3DA62F-8E91-446A-87CE-13E1AFF2C30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7880680" y="2266564"/>
                        <a:ext cx="4222857" cy="3859300"/>
                      </a:xfrm>
                      <a:prstGeom prst="rect">
                        <a:avLst/>
                      </a:prstGeom>
                      <a:noFill/>
                    </p:spPr>
                  </p:pic>
                </p:oleObj>
              </mc:Fallback>
            </mc:AlternateContent>
          </a:graphicData>
        </a:graphic>
      </p:graphicFrame>
      <p:sp>
        <p:nvSpPr>
          <p:cNvPr id="6" name="TextBox 5">
            <a:extLst>
              <a:ext uri="{FF2B5EF4-FFF2-40B4-BE49-F238E27FC236}">
                <a16:creationId xmlns:a16="http://schemas.microsoft.com/office/drawing/2014/main" id="{C891B8E1-FAE9-40FB-85E9-8EA2D4A4FA58}"/>
              </a:ext>
            </a:extLst>
          </p:cNvPr>
          <p:cNvSpPr txBox="1"/>
          <p:nvPr/>
        </p:nvSpPr>
        <p:spPr>
          <a:xfrm>
            <a:off x="1135780" y="2454443"/>
            <a:ext cx="7488455" cy="707886"/>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Let the point A of intersection of the border field / forest have coordinates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i="1" dirty="0">
                <a:solidFill>
                  <a:srgbClr val="7030A0"/>
                </a:solidFill>
                <a:effectLst/>
                <a:latin typeface="Times New Roman" panose="02020603050405020304" pitchFamily="18" charset="0"/>
                <a:ea typeface="Times New Roman" panose="02020603050405020304" pitchFamily="18" charset="0"/>
              </a:rPr>
              <a:t>a</a:t>
            </a:r>
            <a:r>
              <a:rPr lang="en-US" sz="2000" b="1" dirty="0">
                <a:solidFill>
                  <a:srgbClr val="7030A0"/>
                </a:solidFill>
                <a:effectLst/>
                <a:latin typeface="Times New Roman" panose="02020603050405020304" pitchFamily="18" charset="0"/>
                <a:ea typeface="Times New Roman" panose="02020603050405020304" pitchFamily="18" charset="0"/>
              </a:rPr>
              <a:t>). The distance from Sudislavl to point A equals to </a:t>
            </a:r>
            <a:endParaRPr lang="en-US" sz="2400" b="1" dirty="0">
              <a:solidFill>
                <a:srgbClr val="7030A0"/>
              </a:solidFill>
              <a:effectLst/>
              <a:latin typeface="Times New Roman" panose="02020603050405020304" pitchFamily="18" charset="0"/>
              <a:ea typeface="Times New Roman" panose="02020603050405020304" pitchFamily="18" charset="0"/>
            </a:endParaRPr>
          </a:p>
        </p:txBody>
      </p:sp>
      <p:sp>
        <p:nvSpPr>
          <p:cNvPr id="4" name="Rectangle 2">
            <a:extLst>
              <a:ext uri="{FF2B5EF4-FFF2-40B4-BE49-F238E27FC236}">
                <a16:creationId xmlns:a16="http://schemas.microsoft.com/office/drawing/2014/main" id="{31BCC731-A05A-439A-BF00-08A116E2EB58}"/>
              </a:ext>
            </a:extLst>
          </p:cNvPr>
          <p:cNvSpPr>
            <a:spLocks noChangeArrowheads="1"/>
          </p:cNvSpPr>
          <p:nvPr/>
        </p:nvSpPr>
        <p:spPr bwMode="auto">
          <a:xfrm>
            <a:off x="3397718" y="3178758"/>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ru-RU"/>
          </a:p>
        </p:txBody>
      </p:sp>
      <p:graphicFrame>
        <p:nvGraphicFramePr>
          <p:cNvPr id="9" name="Объект 8">
            <a:extLst>
              <a:ext uri="{FF2B5EF4-FFF2-40B4-BE49-F238E27FC236}">
                <a16:creationId xmlns:a16="http://schemas.microsoft.com/office/drawing/2014/main" id="{C28DDFB3-049B-4780-A680-2A93FE4DCE0E}"/>
              </a:ext>
            </a:extLst>
          </p:cNvPr>
          <p:cNvGraphicFramePr>
            <a:graphicFrameLocks noChangeAspect="1"/>
          </p:cNvGraphicFramePr>
          <p:nvPr>
            <p:extLst>
              <p:ext uri="{D42A27DB-BD31-4B8C-83A1-F6EECF244321}">
                <p14:modId xmlns:p14="http://schemas.microsoft.com/office/powerpoint/2010/main" val="3110878576"/>
              </p:ext>
            </p:extLst>
          </p:nvPr>
        </p:nvGraphicFramePr>
        <p:xfrm>
          <a:off x="3590224" y="3195188"/>
          <a:ext cx="2335578" cy="500481"/>
        </p:xfrm>
        <a:graphic>
          <a:graphicData uri="http://schemas.openxmlformats.org/presentationml/2006/ole">
            <mc:AlternateContent xmlns:mc="http://schemas.openxmlformats.org/markup-compatibility/2006">
              <mc:Choice xmlns:v="urn:schemas-microsoft-com:vml" Requires="v">
                <p:oleObj spid="_x0000_s124937" name="Формула" r:id="rId6" imgW="1600200" imgH="342900" progId="Equation.3">
                  <p:embed/>
                </p:oleObj>
              </mc:Choice>
              <mc:Fallback>
                <p:oleObj name="Формула" r:id="rId6" imgW="1600200" imgH="342900" progId="Equation.3">
                  <p:embed/>
                  <p:pic>
                    <p:nvPicPr>
                      <p:cNvPr id="0" name="Object 1"/>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3590224" y="3195188"/>
                        <a:ext cx="2335578" cy="500481"/>
                      </a:xfrm>
                      <a:prstGeom prst="rect">
                        <a:avLst/>
                      </a:prstGeom>
                      <a:noFill/>
                    </p:spPr>
                  </p:pic>
                </p:oleObj>
              </mc:Fallback>
            </mc:AlternateContent>
          </a:graphicData>
        </a:graphic>
      </p:graphicFrame>
      <p:sp>
        <p:nvSpPr>
          <p:cNvPr id="11" name="TextBox 10">
            <a:extLst>
              <a:ext uri="{FF2B5EF4-FFF2-40B4-BE49-F238E27FC236}">
                <a16:creationId xmlns:a16="http://schemas.microsoft.com/office/drawing/2014/main" id="{F7F39F98-E7DD-47E3-A364-2729044A7CD3}"/>
              </a:ext>
            </a:extLst>
          </p:cNvPr>
          <p:cNvSpPr txBox="1"/>
          <p:nvPr/>
        </p:nvSpPr>
        <p:spPr>
          <a:xfrm>
            <a:off x="1135780" y="3679242"/>
            <a:ext cx="6097604" cy="400110"/>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The distance from point A to Berendeyev Polyany is </a:t>
            </a:r>
            <a:endParaRPr lang="en-US" sz="2000" b="1" dirty="0">
              <a:solidFill>
                <a:srgbClr val="7030A0"/>
              </a:solidFill>
            </a:endParaRPr>
          </a:p>
        </p:txBody>
      </p:sp>
      <p:graphicFrame>
        <p:nvGraphicFramePr>
          <p:cNvPr id="13" name="Объект 12">
            <a:extLst>
              <a:ext uri="{FF2B5EF4-FFF2-40B4-BE49-F238E27FC236}">
                <a16:creationId xmlns:a16="http://schemas.microsoft.com/office/drawing/2014/main" id="{906F8C99-DE43-4F42-A502-C1E355027961}"/>
              </a:ext>
            </a:extLst>
          </p:cNvPr>
          <p:cNvGraphicFramePr>
            <a:graphicFrameLocks noChangeAspect="1"/>
          </p:cNvGraphicFramePr>
          <p:nvPr>
            <p:extLst>
              <p:ext uri="{D42A27DB-BD31-4B8C-83A1-F6EECF244321}">
                <p14:modId xmlns:p14="http://schemas.microsoft.com/office/powerpoint/2010/main" val="3151577952"/>
              </p:ext>
            </p:extLst>
          </p:nvPr>
        </p:nvGraphicFramePr>
        <p:xfrm>
          <a:off x="3590224" y="4090953"/>
          <a:ext cx="2414582" cy="517410"/>
        </p:xfrm>
        <a:graphic>
          <a:graphicData uri="http://schemas.openxmlformats.org/presentationml/2006/ole">
            <mc:AlternateContent xmlns:mc="http://schemas.openxmlformats.org/markup-compatibility/2006">
              <mc:Choice xmlns:v="urn:schemas-microsoft-com:vml" Requires="v">
                <p:oleObj spid="_x0000_s124938" name="Формула" r:id="rId8" imgW="1600200" imgH="342900" progId="Equation.3">
                  <p:embed/>
                </p:oleObj>
              </mc:Choice>
              <mc:Fallback>
                <p:oleObj name="Формула" r:id="rId8" imgW="1600200" imgH="342900" progId="Equation.3">
                  <p:embed/>
                  <p:pic>
                    <p:nvPicPr>
                      <p:cNvPr id="0" name="Object 3"/>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590224" y="4090953"/>
                        <a:ext cx="2414582" cy="517410"/>
                      </a:xfrm>
                      <a:prstGeom prst="rect">
                        <a:avLst/>
                      </a:prstGeom>
                      <a:noFill/>
                    </p:spPr>
                  </p:pic>
                </p:oleObj>
              </mc:Fallback>
            </mc:AlternateContent>
          </a:graphicData>
        </a:graphic>
      </p:graphicFrame>
      <p:sp>
        <p:nvSpPr>
          <p:cNvPr id="15" name="TextBox 14">
            <a:extLst>
              <a:ext uri="{FF2B5EF4-FFF2-40B4-BE49-F238E27FC236}">
                <a16:creationId xmlns:a16="http://schemas.microsoft.com/office/drawing/2014/main" id="{76A1F528-2ACE-4623-BE4C-F1AA1E22ED20}"/>
              </a:ext>
            </a:extLst>
          </p:cNvPr>
          <p:cNvSpPr txBox="1"/>
          <p:nvPr/>
        </p:nvSpPr>
        <p:spPr>
          <a:xfrm>
            <a:off x="1024858" y="4642800"/>
            <a:ext cx="6521347" cy="400110"/>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The travel time from Sudislavl to Berendeyev Polyany is</a:t>
            </a:r>
            <a:endParaRPr lang="en-US" sz="2000" b="1" dirty="0">
              <a:solidFill>
                <a:srgbClr val="7030A0"/>
              </a:solidFill>
            </a:endParaRPr>
          </a:p>
        </p:txBody>
      </p:sp>
      <p:pic>
        <p:nvPicPr>
          <p:cNvPr id="17" name="Рисунок 16">
            <a:extLst>
              <a:ext uri="{FF2B5EF4-FFF2-40B4-BE49-F238E27FC236}">
                <a16:creationId xmlns:a16="http://schemas.microsoft.com/office/drawing/2014/main" id="{84567638-D6A6-4316-8B2E-AD5E889E5655}"/>
              </a:ext>
            </a:extLst>
          </p:cNvPr>
          <p:cNvPicPr>
            <a:picLocks noChangeAspect="1"/>
          </p:cNvPicPr>
          <p:nvPr/>
        </p:nvPicPr>
        <p:blipFill>
          <a:blip r:embed="rId10"/>
          <a:stretch>
            <a:fillRect/>
          </a:stretch>
        </p:blipFill>
        <p:spPr>
          <a:xfrm>
            <a:off x="1739216" y="5078147"/>
            <a:ext cx="6037593" cy="838367"/>
          </a:xfrm>
          <a:prstGeom prst="rect">
            <a:avLst/>
          </a:prstGeom>
        </p:spPr>
      </p:pic>
      <p:sp>
        <p:nvSpPr>
          <p:cNvPr id="19" name="TextBox 18">
            <a:extLst>
              <a:ext uri="{FF2B5EF4-FFF2-40B4-BE49-F238E27FC236}">
                <a16:creationId xmlns:a16="http://schemas.microsoft.com/office/drawing/2014/main" id="{373FDBE2-6F85-4BAF-A68F-536E5E76BA7E}"/>
              </a:ext>
            </a:extLst>
          </p:cNvPr>
          <p:cNvSpPr txBox="1"/>
          <p:nvPr/>
        </p:nvSpPr>
        <p:spPr>
          <a:xfrm>
            <a:off x="1053735" y="5984396"/>
            <a:ext cx="8725532" cy="707886"/>
          </a:xfrm>
          <a:prstGeom prst="rect">
            <a:avLst/>
          </a:prstGeom>
          <a:noFill/>
        </p:spPr>
        <p:txBody>
          <a:bodyPr wrap="square">
            <a:spAutoFit/>
          </a:bodyPr>
          <a:lstStyle/>
          <a:p>
            <a:pPr algn="just"/>
            <a:r>
              <a:rPr lang="en-US" sz="2000" b="1" dirty="0">
                <a:solidFill>
                  <a:srgbClr val="7030A0"/>
                </a:solidFill>
                <a:effectLst/>
                <a:latin typeface="Times New Roman" panose="02020603050405020304" pitchFamily="18" charset="0"/>
                <a:ea typeface="Times New Roman" panose="02020603050405020304" pitchFamily="18" charset="0"/>
              </a:rPr>
              <a:t>It remains to find the minimum of the function g(</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on the interval </a:t>
            </a:r>
            <a:r>
              <a:rPr lang="en-US" sz="2000" b="1" i="1" dirty="0">
                <a:solidFill>
                  <a:srgbClr val="7030A0"/>
                </a:solidFill>
                <a:effectLst/>
                <a:latin typeface="Times New Roman" panose="02020603050405020304" pitchFamily="18" charset="0"/>
                <a:ea typeface="Times New Roman" panose="02020603050405020304" pitchFamily="18" charset="0"/>
              </a:rPr>
              <a:t>x</a:t>
            </a:r>
            <a:r>
              <a:rPr lang="en-US" sz="2000" b="1" dirty="0">
                <a:solidFill>
                  <a:srgbClr val="7030A0"/>
                </a:solidFill>
                <a:effectLst/>
                <a:latin typeface="Times New Roman" panose="02020603050405020304" pitchFamily="18" charset="0"/>
                <a:ea typeface="Times New Roman" panose="02020603050405020304" pitchFamily="18" charset="0"/>
              </a:rPr>
              <a:t> </a:t>
            </a:r>
            <a:r>
              <a:rPr lang="en-US" sz="2000" b="1" dirty="0">
                <a:solidFill>
                  <a:srgbClr val="7030A0"/>
                </a:solidFill>
                <a:effectLst/>
                <a:latin typeface="Symbol" panose="05050102010706020507" pitchFamily="18" charset="2"/>
                <a:ea typeface="Times New Roman" panose="02020603050405020304" pitchFamily="18" charset="0"/>
                <a:cs typeface="Symbol" panose="05050102010706020507" pitchFamily="18" charset="2"/>
              </a:rPr>
              <a:t>Î</a:t>
            </a:r>
            <a:r>
              <a:rPr lang="en-US" sz="2000" b="1" dirty="0">
                <a:solidFill>
                  <a:srgbClr val="7030A0"/>
                </a:solidFill>
                <a:effectLst/>
                <a:latin typeface="Times New Roman" panose="02020603050405020304" pitchFamily="18" charset="0"/>
                <a:ea typeface="Times New Roman" panose="02020603050405020304" pitchFamily="18" charset="0"/>
              </a:rPr>
              <a:t> [0; 1]. </a:t>
            </a:r>
          </a:p>
          <a:p>
            <a:pPr algn="just"/>
            <a:r>
              <a:rPr lang="en-US" sz="2000" b="1" dirty="0">
                <a:solidFill>
                  <a:srgbClr val="7030A0"/>
                </a:solidFill>
                <a:effectLst/>
                <a:latin typeface="Times New Roman" panose="02020603050405020304" pitchFamily="18" charset="0"/>
                <a:ea typeface="Times New Roman" panose="02020603050405020304" pitchFamily="18" charset="0"/>
              </a:rPr>
              <a:t>This can be done with ternary search.</a:t>
            </a:r>
            <a:endParaRPr lang="en-US" b="1" dirty="0">
              <a:solidFill>
                <a:srgbClr val="7030A0"/>
              </a:solidFill>
              <a:effectLst/>
              <a:latin typeface="Times New Roman" panose="02020603050405020304" pitchFamily="18" charset="0"/>
              <a:ea typeface="Times New Roman" panose="02020603050405020304" pitchFamily="18" charset="0"/>
            </a:endParaRPr>
          </a:p>
        </p:txBody>
      </p:sp>
    </p:spTree>
    <p:extLst>
      <p:ext uri="{BB962C8B-B14F-4D97-AF65-F5344CB8AC3E}">
        <p14:creationId xmlns:p14="http://schemas.microsoft.com/office/powerpoint/2010/main" val="3770420587"/>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3228</TotalTime>
  <Words>1490</Words>
  <Application>Microsoft Office PowerPoint</Application>
  <PresentationFormat>Широкоэкранный</PresentationFormat>
  <Paragraphs>103</Paragraphs>
  <Slides>8</Slides>
  <Notes>0</Notes>
  <HiddenSlides>0</HiddenSlides>
  <MMClips>0</MMClips>
  <ScaleCrop>false</ScaleCrop>
  <HeadingPairs>
    <vt:vector size="8" baseType="variant">
      <vt:variant>
        <vt:lpstr>Использованные шрифты</vt:lpstr>
      </vt:variant>
      <vt:variant>
        <vt:i4>7</vt:i4>
      </vt:variant>
      <vt:variant>
        <vt:lpstr>Тема</vt:lpstr>
      </vt:variant>
      <vt:variant>
        <vt:i4>1</vt:i4>
      </vt:variant>
      <vt:variant>
        <vt:lpstr>Внедренные серверы OLE</vt:lpstr>
      </vt:variant>
      <vt:variant>
        <vt:i4>3</vt:i4>
      </vt:variant>
      <vt:variant>
        <vt:lpstr>Заголовки слайдов</vt:lpstr>
      </vt:variant>
      <vt:variant>
        <vt:i4>8</vt:i4>
      </vt:variant>
    </vt:vector>
  </HeadingPairs>
  <TitlesOfParts>
    <vt:vector size="19" baseType="lpstr">
      <vt:lpstr>Arial</vt:lpstr>
      <vt:lpstr>Calibri</vt:lpstr>
      <vt:lpstr>Calibri Light</vt:lpstr>
      <vt:lpstr>Courier New</vt:lpstr>
      <vt:lpstr>Symbol</vt:lpstr>
      <vt:lpstr>Times New Roman</vt:lpstr>
      <vt:lpstr>Times New Roman CYR</vt:lpstr>
      <vt:lpstr>Тема Office</vt:lpstr>
      <vt:lpstr>Visio</vt:lpstr>
      <vt:lpstr>Формула</vt:lpstr>
      <vt:lpstr>Документ Microsoft Office Visio</vt:lpstr>
      <vt:lpstr>Ternary search</vt:lpstr>
      <vt:lpstr>E-OLYMP 10169. Ternary search</vt:lpstr>
      <vt:lpstr>E-OLYMP 10169. Ternary search</vt:lpstr>
      <vt:lpstr>E-OLYMP 10866. Ternary search in array</vt:lpstr>
      <vt:lpstr>E-OLYMP 10866. Ternary search in array</vt:lpstr>
      <vt:lpstr>E-OLYMP 4419. Dense forest</vt:lpstr>
      <vt:lpstr>E-OLYMP 4419. Dense forest</vt:lpstr>
      <vt:lpstr>E-OLYMP 4419. Dense forest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dc:title>
  <dc:creator>Mykhailo Medvediev</dc:creator>
  <cp:lastModifiedBy>Mykhailo Medvediev</cp:lastModifiedBy>
  <cp:revision>102</cp:revision>
  <dcterms:created xsi:type="dcterms:W3CDTF">2021-09-06T11:36:46Z</dcterms:created>
  <dcterms:modified xsi:type="dcterms:W3CDTF">2021-10-27T07:59:17Z</dcterms:modified>
</cp:coreProperties>
</file>